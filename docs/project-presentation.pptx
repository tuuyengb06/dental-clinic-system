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vi-V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A7C713-C1F2-ABB4-1F3E-83070A235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FCF5296D-6572-3AD0-D294-0519F829D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0D61E88-0583-FD0E-826C-092CFA03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4BC5692-429E-CCDB-A8F5-3AC69953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D60A1F5-EF19-E7A9-80C7-8F41EEB6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32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1210BC-7160-73E9-3881-82D99F80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F9BC7CF-F4AE-29F7-3534-38C491F27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5645FE2-6A85-4BC0-A715-04E40740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7471A71-B296-80AB-F29B-3D6BAD4F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22872DD-D104-B2E3-9C17-041394A8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3776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7DA5CD-0030-C7AD-42E6-4EE76CD5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09B0800-2FCC-9954-4FC8-DBA00FEF4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446FA2-DFE1-E407-66AC-CB829A46D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A73D923-61E9-4A0C-7BBA-A056437C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712EB3D-2C8D-DB0B-117C-A9B10BA7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054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0213E3-1BA8-9709-1EDF-2B042258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863D497-85F6-FFF5-EFF7-3D57302D1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AFDED034-474B-345D-F274-A9751C5A0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CEB530FE-C3E7-3495-07EF-0A35E69A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5BDBFFA-90D9-63FB-4521-4BCEC68B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9096DBC-BDD8-44ED-18CC-57DD72D8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789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E2A85A4-C0D1-1B2A-0B60-C049E50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CD9EA2C-C24C-3112-6C06-45F3346F8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786022A-CF97-07AB-A145-C55F1B5A2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EB58E978-C46E-7F80-975A-F1B7FFCC9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EF4AC524-7458-2221-A709-4A3B25D52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85ADDC31-D475-0B5B-D266-5515D411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6907D94D-0A58-B7AE-1FA9-281FA23B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83577D2-921B-CACC-9C46-2589150B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747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9868E8-5CC4-A26C-3000-68425317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3D07AFBF-82EC-91DB-2ECD-69C123D1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F633F15-2F42-9AD7-E9C4-88ACC48DE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E52811B0-1BE8-A27C-1EE2-AD562300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434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D8238681-AAB6-6BE9-7F89-242090C3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9E1D3D22-A6E6-D35B-ED9F-902E3F09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4BD4F6-DEFA-F615-3C71-7B6143C8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438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7664BC-A52A-6F26-E075-EA8024FE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ED7930F-CB58-32D3-48AE-5EF4AD9C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C6F118A8-C985-622B-0287-8D1CFD7B5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A28CC18-D747-5639-01DE-9E1CB057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8EF0766-65F8-47D6-0537-A60F69C6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AC5FC1A-946E-86E9-4E10-5B724BE1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573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0EDB953-83F0-7F4B-FE38-83BB0952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EEEB799C-3FC1-90FA-E62D-77E548A14C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C690B3-FCEE-313C-D6DB-597AC05A2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FD354C2-847A-3FFB-DEF9-E1E63496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4CB9219-F528-A19C-57E9-5A653D39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F3D6BCA-8E8F-7F28-0206-BC049A2C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63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9D4FE63-427C-624F-AC07-832E9A20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E23D139-9A93-5491-E401-8A06A4886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F0F2D4B-264B-762F-EEFF-46B6F228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A3CDEFE-8E7F-2F4D-71EB-574112FC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F6E6F90-1F3A-DA73-3E8D-2A7A9531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0328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6F3133B9-2B5D-407D-4ABA-DBB2F628D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BB2DAA2A-8791-9B47-99A6-5B40ECB2C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BCF1CE6-212E-9A30-6E04-B01819D1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3903377-7B91-7DAC-C40F-B78EF818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E09A3E1-9A61-D47E-7D37-43C6226F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57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6AB787A-31D3-C71E-81F3-5B49F6BD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9B221F5-F42E-D638-FAA5-C76D93FC2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718E4DE-C5CB-1600-DE55-1C7FE5138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A3C22-A09D-46D6-8583-2EECF8DDC3D3}" type="datetimeFigureOut">
              <a:rPr lang="vi-VN" smtClean="0"/>
              <a:t>18/10/2026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44C33CE-E94D-4BD5-0D7B-4EF1E257E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159DEA6-2CBA-9399-B2D3-432995D3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7C82E-B2F4-43B9-B7CF-06EA92A9BB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172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7A7E9BDC-7D17-6938-5B08-4F5FBBB0C6D3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: Góc Tròn 2">
            <a:extLst>
              <a:ext uri="{FF2B5EF4-FFF2-40B4-BE49-F238E27FC236}">
                <a16:creationId xmlns:a16="http://schemas.microsoft.com/office/drawing/2014/main" id="{ED3F428B-76CB-6416-91A7-3806C4594BAE}"/>
              </a:ext>
            </a:extLst>
          </p:cNvPr>
          <p:cNvSpPr/>
          <p:nvPr/>
        </p:nvSpPr>
        <p:spPr>
          <a:xfrm>
            <a:off x="609600" y="546100"/>
            <a:ext cx="22860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8CF2202D-C635-76F7-4775-3ECE28089425}"/>
              </a:ext>
            </a:extLst>
          </p:cNvPr>
          <p:cNvSpPr txBox="1"/>
          <p:nvPr/>
        </p:nvSpPr>
        <p:spPr>
          <a:xfrm>
            <a:off x="685800" y="584200"/>
            <a:ext cx="2133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TỔNG QUAN DỰ ÁN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A688F41A-58CE-B07B-790C-6620181FFD30}"/>
              </a:ext>
            </a:extLst>
          </p:cNvPr>
          <p:cNvSpPr txBox="1"/>
          <p:nvPr/>
        </p:nvSpPr>
        <p:spPr>
          <a:xfrm>
            <a:off x="609600" y="1282700"/>
            <a:ext cx="450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3300" b="1">
                <a:solidFill>
                  <a:srgbClr val="153F3A"/>
                </a:solidFill>
                <a:latin typeface="Aptos" panose="020B0004020202020204" pitchFamily="34" charset="0"/>
              </a:rPr>
              <a:t>Quản lý nha khoa</a:t>
            </a:r>
          </a:p>
          <a:p>
            <a:pPr>
              <a:spcAft>
                <a:spcPts val="400"/>
              </a:spcAft>
            </a:pPr>
            <a:r>
              <a:rPr lang="vi-VN" sz="3300" b="1">
                <a:solidFill>
                  <a:srgbClr val="153F3A"/>
                </a:solidFill>
                <a:latin typeface="Aptos" panose="020B0004020202020204" pitchFamily="34" charset="0"/>
              </a:rPr>
              <a:t>liền mạch, rõ ràng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27B0155-3DC4-D687-A0AD-CE4CA9F4E1E5}"/>
              </a:ext>
            </a:extLst>
          </p:cNvPr>
          <p:cNvSpPr txBox="1"/>
          <p:nvPr/>
        </p:nvSpPr>
        <p:spPr>
          <a:xfrm>
            <a:off x="635000" y="2819400"/>
            <a:ext cx="431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700" b="1">
                <a:solidFill>
                  <a:srgbClr val="17685D"/>
                </a:solidFill>
                <a:latin typeface="Aptos" panose="020B0004020202020204" pitchFamily="34" charset="0"/>
              </a:rPr>
              <a:t>Dental Management System (DMS)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6E76D7F-1794-50D3-F603-9758DEE6069D}"/>
              </a:ext>
            </a:extLst>
          </p:cNvPr>
          <p:cNvSpPr txBox="1"/>
          <p:nvPr/>
        </p:nvSpPr>
        <p:spPr>
          <a:xfrm>
            <a:off x="635000" y="3416300"/>
            <a:ext cx="4191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>
                <a:solidFill>
                  <a:srgbClr val="657875"/>
                </a:solidFill>
                <a:latin typeface="Aptos" panose="020B0004020202020204" pitchFamily="34" charset="0"/>
              </a:rPr>
              <a:t>Kết nối lịch hẹn, khám bệnh, hóa đơn và tư vấn thông tin.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F81FED54-B4A9-A766-45D0-EE7608AAD4F6}"/>
              </a:ext>
            </a:extLst>
          </p:cNvPr>
          <p:cNvSpPr/>
          <p:nvPr/>
        </p:nvSpPr>
        <p:spPr>
          <a:xfrm>
            <a:off x="609600" y="4851400"/>
            <a:ext cx="3073400" cy="279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9A4EEEB6-6B10-A502-C88D-A415C814C3F9}"/>
              </a:ext>
            </a:extLst>
          </p:cNvPr>
          <p:cNvSpPr txBox="1"/>
          <p:nvPr/>
        </p:nvSpPr>
        <p:spPr>
          <a:xfrm>
            <a:off x="685800" y="4889500"/>
            <a:ext cx="2921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NGHIỆP VỤ + AI TÙY CHỌN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9AA9DD76-09E5-B7C0-D56E-EC4154A88C7A}"/>
              </a:ext>
            </a:extLst>
          </p:cNvPr>
          <p:cNvSpPr/>
          <p:nvPr/>
        </p:nvSpPr>
        <p:spPr>
          <a:xfrm>
            <a:off x="5308600" y="1270000"/>
            <a:ext cx="6273800" cy="3962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5A819AD8-DD15-722F-BD24-4DCD5F3835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400" y="1320800"/>
            <a:ext cx="6172200" cy="3860800"/>
          </a:xfrm>
          <a:prstGeom prst="rect">
            <a:avLst/>
          </a:prstGeom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1B17751-38F4-82C5-DE89-484AF5172FBB}"/>
              </a:ext>
            </a:extLst>
          </p:cNvPr>
          <p:cNvSpPr txBox="1"/>
          <p:nvPr/>
        </p:nvSpPr>
        <p:spPr>
          <a:xfrm>
            <a:off x="5384800" y="5334000"/>
            <a:ext cx="6057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Giao diện thật · dữ liệu demo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A150AB7A-D27A-608D-AA75-6215242B5C4B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5DEAD169-D06F-66B6-9A7C-3F573C7A90C4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251C473-EF2F-64A1-C1AC-7C4097DB71A4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296385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FF3D464-AE94-6600-D045-83912F509E6C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01 / BỐI CẢNH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257CF96C-56E9-1994-3A9E-7B60AB6449EC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Từ thao tác rời rạc tới quy trình phối hợp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ADF74A20-5872-0344-AA20-4D64190A7A0A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Dự án số hóa vận hành phòng khám và tạo dữ liệu nhất quán giữa các vai trò.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CD291FE-59B6-F962-E267-56993A80B07C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350369D0-C309-5DF9-00A8-A8EDDFFF8C79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0B2193C-BBA6-4050-3826-AF9CBD2DD9E7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02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0C2DFD6D-F5EB-1D73-C125-87A9F844647A}"/>
              </a:ext>
            </a:extLst>
          </p:cNvPr>
          <p:cNvSpPr/>
          <p:nvPr/>
        </p:nvSpPr>
        <p:spPr>
          <a:xfrm>
            <a:off x="584200" y="1917700"/>
            <a:ext cx="3429000" cy="1422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A544BFB8-C18D-CA05-17D1-BE8F0FA5BA62}"/>
              </a:ext>
            </a:extLst>
          </p:cNvPr>
          <p:cNvSpPr/>
          <p:nvPr/>
        </p:nvSpPr>
        <p:spPr>
          <a:xfrm>
            <a:off x="584200" y="1917700"/>
            <a:ext cx="63500" cy="1422400"/>
          </a:xfrm>
          <a:prstGeom prst="rect">
            <a:avLst/>
          </a:prstGeom>
          <a:solidFill>
            <a:srgbClr val="CF75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6CF11054-2C27-D91E-4D2B-B79A7F6DC7D4}"/>
              </a:ext>
            </a:extLst>
          </p:cNvPr>
          <p:cNvSpPr txBox="1"/>
          <p:nvPr/>
        </p:nvSpPr>
        <p:spPr>
          <a:xfrm>
            <a:off x="774700" y="2057400"/>
            <a:ext cx="308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Thách thức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5876401-AB3A-BA26-810A-E7C8BEC53CDD}"/>
              </a:ext>
            </a:extLst>
          </p:cNvPr>
          <p:cNvSpPr txBox="1"/>
          <p:nvPr/>
        </p:nvSpPr>
        <p:spPr>
          <a:xfrm>
            <a:off x="774700" y="2451100"/>
            <a:ext cx="308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Lịch, thông tin khám và thu phí cần phối hợp giữa lễ tân, bác sĩ và quản trị.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F7D3E7D4-215E-DAEB-9590-C32CFEAAA742}"/>
              </a:ext>
            </a:extLst>
          </p:cNvPr>
          <p:cNvSpPr/>
          <p:nvPr/>
        </p:nvSpPr>
        <p:spPr>
          <a:xfrm>
            <a:off x="4381500" y="1917700"/>
            <a:ext cx="3429000" cy="1422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A9EA7B6C-6B04-C2B8-572A-39BD3C5A4EB7}"/>
              </a:ext>
            </a:extLst>
          </p:cNvPr>
          <p:cNvSpPr/>
          <p:nvPr/>
        </p:nvSpPr>
        <p:spPr>
          <a:xfrm>
            <a:off x="4381500" y="1917700"/>
            <a:ext cx="63500" cy="14224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E2FA6C47-2426-86A6-F6BB-7982A0FB1921}"/>
              </a:ext>
            </a:extLst>
          </p:cNvPr>
          <p:cNvSpPr txBox="1"/>
          <p:nvPr/>
        </p:nvSpPr>
        <p:spPr>
          <a:xfrm>
            <a:off x="4572000" y="2057400"/>
            <a:ext cx="308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Giải pháp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5055863B-2AD9-30E0-439E-F896D2A7D085}"/>
              </a:ext>
            </a:extLst>
          </p:cNvPr>
          <p:cNvSpPr txBox="1"/>
          <p:nvPr/>
        </p:nvSpPr>
        <p:spPr>
          <a:xfrm>
            <a:off x="4572000" y="2451100"/>
            <a:ext cx="308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Quản lý bệnh nhân, lịch, EMR, dịch vụ, hóa đơn, thanh toán và thống kê.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5600EB0E-7777-3222-46A2-FE976C176AE6}"/>
              </a:ext>
            </a:extLst>
          </p:cNvPr>
          <p:cNvSpPr/>
          <p:nvPr/>
        </p:nvSpPr>
        <p:spPr>
          <a:xfrm>
            <a:off x="8178800" y="1917700"/>
            <a:ext cx="3429000" cy="1422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5C3C3BA8-6C45-4429-1F1E-179C954C9F17}"/>
              </a:ext>
            </a:extLst>
          </p:cNvPr>
          <p:cNvSpPr/>
          <p:nvPr/>
        </p:nvSpPr>
        <p:spPr>
          <a:xfrm>
            <a:off x="8178800" y="1917700"/>
            <a:ext cx="63500" cy="14224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8F143530-1550-0AF4-084B-2E66E1D7CB2D}"/>
              </a:ext>
            </a:extLst>
          </p:cNvPr>
          <p:cNvSpPr txBox="1"/>
          <p:nvPr/>
        </p:nvSpPr>
        <p:spPr>
          <a:xfrm>
            <a:off x="8369300" y="2057400"/>
            <a:ext cx="308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Người dùng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236C5D1E-4F25-D654-0EBB-2FAAF104BF60}"/>
              </a:ext>
            </a:extLst>
          </p:cNvPr>
          <p:cNvSpPr txBox="1"/>
          <p:nvPr/>
        </p:nvSpPr>
        <p:spPr>
          <a:xfrm>
            <a:off x="8369300" y="2451100"/>
            <a:ext cx="308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Quản trị, lễ tân và bác sĩ; quyền thao tác khác nhau theo vai trò.</a:t>
            </a: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ECA439DB-0405-0A8A-04E5-5F674EF5BB13}"/>
              </a:ext>
            </a:extLst>
          </p:cNvPr>
          <p:cNvSpPr txBox="1"/>
          <p:nvPr/>
        </p:nvSpPr>
        <p:spPr>
          <a:xfrm>
            <a:off x="647700" y="3733800"/>
            <a:ext cx="5143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000" b="1">
                <a:solidFill>
                  <a:srgbClr val="17685D"/>
                </a:solidFill>
                <a:latin typeface="Aptos" panose="020B0004020202020204" pitchFamily="34" charset="0"/>
              </a:rPr>
              <a:t>PHẠM VI CHỨC NĂNG</a:t>
            </a: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38C46DD8-2A63-3A88-0456-4ABB78129CCB}"/>
              </a:ext>
            </a:extLst>
          </p:cNvPr>
          <p:cNvSpPr txBox="1"/>
          <p:nvPr/>
        </p:nvSpPr>
        <p:spPr>
          <a:xfrm>
            <a:off x="673100" y="4165600"/>
            <a:ext cx="4953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>
                <a:solidFill>
                  <a:srgbClr val="153F3A"/>
                </a:solidFill>
                <a:latin typeface="Aptos" panose="020B0004020202020204" pitchFamily="34" charset="0"/>
              </a:rPr>
              <a:t>• Bệnh nhân và lịch hẹn</a:t>
            </a:r>
          </a:p>
          <a:p>
            <a:pPr>
              <a:spcAft>
                <a:spcPts val="400"/>
              </a:spcAft>
            </a:pPr>
            <a:r>
              <a:rPr lang="vi-VN" sz="1400">
                <a:solidFill>
                  <a:srgbClr val="153F3A"/>
                </a:solidFill>
                <a:latin typeface="Aptos" panose="020B0004020202020204" pitchFamily="34" charset="0"/>
              </a:rPr>
              <a:t>• EMR và dịch vụ chỉ định</a:t>
            </a:r>
          </a:p>
          <a:p>
            <a:pPr>
              <a:spcAft>
                <a:spcPts val="400"/>
              </a:spcAft>
            </a:pPr>
            <a:r>
              <a:rPr lang="vi-VN" sz="1400">
                <a:solidFill>
                  <a:srgbClr val="153F3A"/>
                </a:solidFill>
                <a:latin typeface="Aptos" panose="020B0004020202020204" pitchFamily="34" charset="0"/>
              </a:rPr>
              <a:t>• Hóa đơn, tiền mặt, QR đối soát</a:t>
            </a:r>
          </a:p>
          <a:p>
            <a:pPr>
              <a:spcAft>
                <a:spcPts val="400"/>
              </a:spcAft>
            </a:pPr>
            <a:r>
              <a:rPr lang="vi-VN" sz="1400">
                <a:solidFill>
                  <a:srgbClr val="153F3A"/>
                </a:solidFill>
                <a:latin typeface="Aptos" panose="020B0004020202020204" pitchFamily="34" charset="0"/>
              </a:rPr>
              <a:t>• Chatbot tra giá / khung giờ</a:t>
            </a:r>
          </a:p>
          <a:p>
            <a:pPr>
              <a:spcAft>
                <a:spcPts val="400"/>
              </a:spcAft>
            </a:pPr>
            <a:r>
              <a:rPr lang="vi-VN" sz="1400">
                <a:solidFill>
                  <a:srgbClr val="153F3A"/>
                </a:solidFill>
                <a:latin typeface="Aptos" panose="020B0004020202020204" pitchFamily="34" charset="0"/>
              </a:rPr>
              <a:t>• Dashboard doanh thu / lượt khám</a:t>
            </a:r>
          </a:p>
        </p:txBody>
      </p:sp>
      <p:sp>
        <p:nvSpPr>
          <p:cNvPr id="22" name="Hình chữ nhật: Góc Tròn 21">
            <a:extLst>
              <a:ext uri="{FF2B5EF4-FFF2-40B4-BE49-F238E27FC236}">
                <a16:creationId xmlns:a16="http://schemas.microsoft.com/office/drawing/2014/main" id="{0DA1E964-FA5F-A1A9-78F3-1941B3D17F6C}"/>
              </a:ext>
            </a:extLst>
          </p:cNvPr>
          <p:cNvSpPr/>
          <p:nvPr/>
        </p:nvSpPr>
        <p:spPr>
          <a:xfrm>
            <a:off x="6223000" y="3848100"/>
            <a:ext cx="5359400" cy="18415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728E3250-0C7B-6D48-63BA-652DBAD18A38}"/>
              </a:ext>
            </a:extLst>
          </p:cNvPr>
          <p:cNvSpPr txBox="1"/>
          <p:nvPr/>
        </p:nvSpPr>
        <p:spPr>
          <a:xfrm>
            <a:off x="6515100" y="4102100"/>
            <a:ext cx="4749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500" b="1">
                <a:solidFill>
                  <a:srgbClr val="153F3A"/>
                </a:solidFill>
                <a:latin typeface="Aptos" panose="020B0004020202020204" pitchFamily="34" charset="0"/>
              </a:rPr>
              <a:t>Hiện trạng và tích hợp tùy chọn</a:t>
            </a: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9D5012B3-337F-3100-4DBC-9422F32A86FA}"/>
              </a:ext>
            </a:extLst>
          </p:cNvPr>
          <p:cNvSpPr txBox="1"/>
          <p:nvPr/>
        </p:nvSpPr>
        <p:spPr>
          <a:xfrm>
            <a:off x="6515100" y="4533900"/>
            <a:ext cx="4699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300">
                <a:solidFill>
                  <a:srgbClr val="657875"/>
                </a:solidFill>
                <a:latin typeface="Aptos" panose="020B0004020202020204" pitchFamily="34" charset="0"/>
              </a:rPr>
              <a:t>Chatbot tra cứu theo quy tắc. Tóm tắt EMR và nhắc tái khám đã có trong source; cần consent, cấu hình Gemini/Twilio và lịch gửi.</a:t>
            </a:r>
          </a:p>
        </p:txBody>
      </p:sp>
    </p:spTree>
    <p:extLst>
      <p:ext uri="{BB962C8B-B14F-4D97-AF65-F5344CB8AC3E}">
        <p14:creationId xmlns:p14="http://schemas.microsoft.com/office/powerpoint/2010/main" val="3632125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8244CA0-D5F7-7CE8-3F93-5F95A53A9A39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02 / QUY TRÌNH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1BFF9BB0-FE99-9EB4-D86D-D02E1D1946E2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Một hành trình dữ liệu, giá trị ở mỗi bước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35359C5-578F-2C3D-8F12-3248D9034F4A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Các bước nối từ tiếp nhận tới thống kê, theo đúng quyền được cấp.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BE64B8AD-8827-E516-7B7B-38DB94BB79D2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3CC8CF4-FCC1-0DA7-C42F-BFDC4C948D6C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8B3889A-062F-1B6B-8A95-4C1BEB76829D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03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516F297C-2009-C864-8C7E-D6F416DE5697}"/>
              </a:ext>
            </a:extLst>
          </p:cNvPr>
          <p:cNvSpPr/>
          <p:nvPr/>
        </p:nvSpPr>
        <p:spPr>
          <a:xfrm>
            <a:off x="660400" y="2247900"/>
            <a:ext cx="21590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E1A95ABC-ED99-A375-2F1F-E5FDC922F34C}"/>
              </a:ext>
            </a:extLst>
          </p:cNvPr>
          <p:cNvSpPr/>
          <p:nvPr/>
        </p:nvSpPr>
        <p:spPr>
          <a:xfrm>
            <a:off x="863600" y="2463800"/>
            <a:ext cx="17272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7FE796DB-13CF-04E9-E240-C3C3B0E155EE}"/>
              </a:ext>
            </a:extLst>
          </p:cNvPr>
          <p:cNvSpPr txBox="1"/>
          <p:nvPr/>
        </p:nvSpPr>
        <p:spPr>
          <a:xfrm>
            <a:off x="939800" y="2501900"/>
            <a:ext cx="1574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LỄ TÂN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E532CBB6-123B-2366-EADA-1E464CFE394B}"/>
              </a:ext>
            </a:extLst>
          </p:cNvPr>
          <p:cNvSpPr txBox="1"/>
          <p:nvPr/>
        </p:nvSpPr>
        <p:spPr>
          <a:xfrm>
            <a:off x="863600" y="3009900"/>
            <a:ext cx="17653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Tra hồ sơ, xem ca làm, đặt lịch hẹn.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7AA2EF4D-A9E6-82B4-618D-5EAF565C24AD}"/>
              </a:ext>
            </a:extLst>
          </p:cNvPr>
          <p:cNvSpPr/>
          <p:nvPr/>
        </p:nvSpPr>
        <p:spPr>
          <a:xfrm>
            <a:off x="2857500" y="3276600"/>
            <a:ext cx="6858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D0FAEC8A-5BB4-3229-3A3C-33EC889301A1}"/>
              </a:ext>
            </a:extLst>
          </p:cNvPr>
          <p:cNvSpPr/>
          <p:nvPr/>
        </p:nvSpPr>
        <p:spPr>
          <a:xfrm>
            <a:off x="3556000" y="2247900"/>
            <a:ext cx="21590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1C67D886-03CD-748D-4E4C-AFE8583FFDDD}"/>
              </a:ext>
            </a:extLst>
          </p:cNvPr>
          <p:cNvSpPr/>
          <p:nvPr/>
        </p:nvSpPr>
        <p:spPr>
          <a:xfrm>
            <a:off x="3759200" y="2463800"/>
            <a:ext cx="17272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57B97442-4C6B-2E72-7B26-7FC58A67EAE5}"/>
              </a:ext>
            </a:extLst>
          </p:cNvPr>
          <p:cNvSpPr txBox="1"/>
          <p:nvPr/>
        </p:nvSpPr>
        <p:spPr>
          <a:xfrm>
            <a:off x="3835400" y="2501900"/>
            <a:ext cx="1574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BÁC SĨ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F16DFA7C-0192-9D75-ABFF-306495A074EE}"/>
              </a:ext>
            </a:extLst>
          </p:cNvPr>
          <p:cNvSpPr txBox="1"/>
          <p:nvPr/>
        </p:nvSpPr>
        <p:spPr>
          <a:xfrm>
            <a:off x="3759200" y="3009900"/>
            <a:ext cx="17653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Khám, cập nhật EMR, chọn dịch vụ chỉ định.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972201A7-497A-DEB8-5B17-70CBFE59838B}"/>
              </a:ext>
            </a:extLst>
          </p:cNvPr>
          <p:cNvSpPr/>
          <p:nvPr/>
        </p:nvSpPr>
        <p:spPr>
          <a:xfrm>
            <a:off x="5753100" y="3276600"/>
            <a:ext cx="6858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ình chữ nhật: Góc Tròn 17">
            <a:extLst>
              <a:ext uri="{FF2B5EF4-FFF2-40B4-BE49-F238E27FC236}">
                <a16:creationId xmlns:a16="http://schemas.microsoft.com/office/drawing/2014/main" id="{032915D6-A3F4-2EDC-63CC-6B1358B85D78}"/>
              </a:ext>
            </a:extLst>
          </p:cNvPr>
          <p:cNvSpPr/>
          <p:nvPr/>
        </p:nvSpPr>
        <p:spPr>
          <a:xfrm>
            <a:off x="6451600" y="2247900"/>
            <a:ext cx="21590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AEBA5B49-F20C-48B4-AB06-54FE825B8CED}"/>
              </a:ext>
            </a:extLst>
          </p:cNvPr>
          <p:cNvSpPr/>
          <p:nvPr/>
        </p:nvSpPr>
        <p:spPr>
          <a:xfrm>
            <a:off x="6654800" y="2463800"/>
            <a:ext cx="17272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1E589F57-C4E1-0AC5-A4D4-C3DFBB80B387}"/>
              </a:ext>
            </a:extLst>
          </p:cNvPr>
          <p:cNvSpPr txBox="1"/>
          <p:nvPr/>
        </p:nvSpPr>
        <p:spPr>
          <a:xfrm>
            <a:off x="6731000" y="2501900"/>
            <a:ext cx="1574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LỄ TÂN</a:t>
            </a: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F2939DE5-CCB9-7BA6-7CE5-2B91D5533755}"/>
              </a:ext>
            </a:extLst>
          </p:cNvPr>
          <p:cNvSpPr txBox="1"/>
          <p:nvPr/>
        </p:nvSpPr>
        <p:spPr>
          <a:xfrm>
            <a:off x="6654800" y="3009900"/>
            <a:ext cx="17653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Tạo hóa đơn, nhận tiền hoặc đối soát QR.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5AC1E15E-6669-73DE-DAA5-639A63EA9A86}"/>
              </a:ext>
            </a:extLst>
          </p:cNvPr>
          <p:cNvSpPr/>
          <p:nvPr/>
        </p:nvSpPr>
        <p:spPr>
          <a:xfrm>
            <a:off x="8648700" y="3276600"/>
            <a:ext cx="6858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E0873CDF-D2B1-AFC5-2615-30A5BAA5F20B}"/>
              </a:ext>
            </a:extLst>
          </p:cNvPr>
          <p:cNvSpPr/>
          <p:nvPr/>
        </p:nvSpPr>
        <p:spPr>
          <a:xfrm>
            <a:off x="9347200" y="2247900"/>
            <a:ext cx="21590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Hình chữ nhật: Góc Tròn 23">
            <a:extLst>
              <a:ext uri="{FF2B5EF4-FFF2-40B4-BE49-F238E27FC236}">
                <a16:creationId xmlns:a16="http://schemas.microsoft.com/office/drawing/2014/main" id="{F12986C4-96B4-4DFE-6621-B1C836B6AFBC}"/>
              </a:ext>
            </a:extLst>
          </p:cNvPr>
          <p:cNvSpPr/>
          <p:nvPr/>
        </p:nvSpPr>
        <p:spPr>
          <a:xfrm>
            <a:off x="9550400" y="2463800"/>
            <a:ext cx="17272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40ED7439-87DE-3A51-4A53-03051E92714D}"/>
              </a:ext>
            </a:extLst>
          </p:cNvPr>
          <p:cNvSpPr txBox="1"/>
          <p:nvPr/>
        </p:nvSpPr>
        <p:spPr>
          <a:xfrm>
            <a:off x="9626600" y="2501900"/>
            <a:ext cx="1574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QUẢN TRỊ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58F98B56-C135-3549-44E6-19D4208ABEAD}"/>
              </a:ext>
            </a:extLst>
          </p:cNvPr>
          <p:cNvSpPr txBox="1"/>
          <p:nvPr/>
        </p:nvSpPr>
        <p:spPr>
          <a:xfrm>
            <a:off x="9550400" y="3009900"/>
            <a:ext cx="17653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Xem doanh thu và lượt khám theo thời gian.</a:t>
            </a:r>
          </a:p>
        </p:txBody>
      </p:sp>
      <p:sp>
        <p:nvSpPr>
          <p:cNvPr id="27" name="Hình chữ nhật: Góc Tròn 26">
            <a:extLst>
              <a:ext uri="{FF2B5EF4-FFF2-40B4-BE49-F238E27FC236}">
                <a16:creationId xmlns:a16="http://schemas.microsoft.com/office/drawing/2014/main" id="{AF23C604-1C65-0B5D-504B-237CD0263CCC}"/>
              </a:ext>
            </a:extLst>
          </p:cNvPr>
          <p:cNvSpPr/>
          <p:nvPr/>
        </p:nvSpPr>
        <p:spPr>
          <a:xfrm>
            <a:off x="863600" y="5016500"/>
            <a:ext cx="10464800" cy="876300"/>
          </a:xfrm>
          <a:prstGeom prst="roundRect">
            <a:avLst/>
          </a:prstGeom>
          <a:solidFill>
            <a:srgbClr val="102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C0B8FCA0-8042-0DF4-398E-A830A403DF72}"/>
              </a:ext>
            </a:extLst>
          </p:cNvPr>
          <p:cNvSpPr txBox="1"/>
          <p:nvPr/>
        </p:nvSpPr>
        <p:spPr>
          <a:xfrm>
            <a:off x="1092200" y="5308600"/>
            <a:ext cx="10007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700" b="1">
                <a:solidFill>
                  <a:srgbClr val="FFFFFF"/>
                </a:solidFill>
                <a:latin typeface="Aptos" panose="020B0004020202020204" pitchFamily="34" charset="0"/>
              </a:rPr>
              <a:t>Bệnh nhân → lịch → EMR → hóa đơn / giao dịch → dashboard</a:t>
            </a:r>
          </a:p>
        </p:txBody>
      </p:sp>
    </p:spTree>
    <p:extLst>
      <p:ext uri="{BB962C8B-B14F-4D97-AF65-F5344CB8AC3E}">
        <p14:creationId xmlns:p14="http://schemas.microsoft.com/office/powerpoint/2010/main" val="335972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390DD3D-9524-1EFF-9AA8-D27583A44290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03 / KIẾN TRÚC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D9820D2F-8653-865F-F6D2-8E1BD7DF52AD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Web, API, dữ liệu theo module nghiệp vụ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73D6185-40E0-9632-CD78-21CAC7BB109B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Tóm lược cấu trúc frontend và backend trong repository.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81C17CE-17C3-A79E-5ED8-6451DB017080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4DB6B301-F13F-817F-9A17-2D5576C18A7F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EE29240-6A5C-C476-C04F-80D7260A81D5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04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7D716F6E-45D2-D585-25FF-B909240D992D}"/>
              </a:ext>
            </a:extLst>
          </p:cNvPr>
          <p:cNvSpPr/>
          <p:nvPr/>
        </p:nvSpPr>
        <p:spPr>
          <a:xfrm>
            <a:off x="635000" y="2019300"/>
            <a:ext cx="2413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3714D84-51C7-000E-9F67-4DFADBF75406}"/>
              </a:ext>
            </a:extLst>
          </p:cNvPr>
          <p:cNvSpPr txBox="1"/>
          <p:nvPr/>
        </p:nvSpPr>
        <p:spPr>
          <a:xfrm>
            <a:off x="825500" y="2273300"/>
            <a:ext cx="2032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000" b="1">
                <a:solidFill>
                  <a:srgbClr val="17685D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B7EB787-2EE4-CBC7-5A12-CA87CCD3AB50}"/>
              </a:ext>
            </a:extLst>
          </p:cNvPr>
          <p:cNvSpPr txBox="1"/>
          <p:nvPr/>
        </p:nvSpPr>
        <p:spPr>
          <a:xfrm>
            <a:off x="825500" y="2743200"/>
            <a:ext cx="2032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600" b="1">
                <a:solidFill>
                  <a:srgbClr val="153F3A"/>
                </a:solidFill>
                <a:latin typeface="Aptos" panose="020B0004020202020204" pitchFamily="34" charset="0"/>
              </a:rPr>
              <a:t>React UI</a:t>
            </a:r>
          </a:p>
          <a:p>
            <a:pPr algn="ctr">
              <a:spcAft>
                <a:spcPts val="400"/>
              </a:spcAft>
            </a:pPr>
            <a:r>
              <a:rPr lang="vi-VN" sz="1600" b="1">
                <a:solidFill>
                  <a:srgbClr val="153F3A"/>
                </a:solidFill>
                <a:latin typeface="Aptos" panose="020B0004020202020204" pitchFamily="34" charset="0"/>
              </a:rPr>
              <a:t>Vite · trình duyệt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A538FD32-F1FC-9786-6FD0-A38E2B5F3E3F}"/>
              </a:ext>
            </a:extLst>
          </p:cNvPr>
          <p:cNvSpPr/>
          <p:nvPr/>
        </p:nvSpPr>
        <p:spPr>
          <a:xfrm>
            <a:off x="3619500" y="2019300"/>
            <a:ext cx="4610100" cy="16510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8F037C5B-0AB6-A12B-FA07-69A0B240A57E}"/>
              </a:ext>
            </a:extLst>
          </p:cNvPr>
          <p:cNvSpPr txBox="1"/>
          <p:nvPr/>
        </p:nvSpPr>
        <p:spPr>
          <a:xfrm>
            <a:off x="3810000" y="2273300"/>
            <a:ext cx="42164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000" b="1">
                <a:solidFill>
                  <a:srgbClr val="17685D"/>
                </a:solidFill>
                <a:latin typeface="Aptos" panose="020B0004020202020204" pitchFamily="34" charset="0"/>
              </a:rPr>
              <a:t>DJANGO REST API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B1E37B54-8841-D340-9357-CFC7A14FF261}"/>
              </a:ext>
            </a:extLst>
          </p:cNvPr>
          <p:cNvSpPr txBox="1"/>
          <p:nvPr/>
        </p:nvSpPr>
        <p:spPr>
          <a:xfrm>
            <a:off x="3810000" y="2730500"/>
            <a:ext cx="42164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300" b="1">
                <a:solidFill>
                  <a:srgbClr val="153F3A"/>
                </a:solidFill>
                <a:latin typeface="Aptos" panose="020B0004020202020204" pitchFamily="34" charset="0"/>
              </a:rPr>
              <a:t>authentication · clinic</a:t>
            </a:r>
          </a:p>
          <a:p>
            <a:pPr algn="ctr">
              <a:spcAft>
                <a:spcPts val="400"/>
              </a:spcAft>
            </a:pPr>
            <a:r>
              <a:rPr lang="en-US" sz="1300" b="1">
                <a:solidFill>
                  <a:srgbClr val="153F3A"/>
                </a:solidFill>
                <a:latin typeface="Aptos" panose="020B0004020202020204" pitchFamily="34" charset="0"/>
              </a:rPr>
              <a:t>appointments · chatbot/dashboard</a:t>
            </a:r>
            <a:endParaRPr lang="vi-VN" sz="1300" b="1">
              <a:solidFill>
                <a:srgbClr val="153F3A"/>
              </a:solidFill>
              <a:latin typeface="Aptos" panose="020B0004020202020204" pitchFamily="34" charset="0"/>
            </a:endParaRPr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DBBF36DD-D8F7-ED7E-EAC1-7B4970B348AF}"/>
              </a:ext>
            </a:extLst>
          </p:cNvPr>
          <p:cNvSpPr/>
          <p:nvPr/>
        </p:nvSpPr>
        <p:spPr>
          <a:xfrm>
            <a:off x="8813800" y="2019300"/>
            <a:ext cx="27432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CEB009C8-1A96-427A-F4A2-EC8328C16AE8}"/>
              </a:ext>
            </a:extLst>
          </p:cNvPr>
          <p:cNvSpPr txBox="1"/>
          <p:nvPr/>
        </p:nvSpPr>
        <p:spPr>
          <a:xfrm>
            <a:off x="8991600" y="2273300"/>
            <a:ext cx="2374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000" b="1">
                <a:solidFill>
                  <a:srgbClr val="17685D"/>
                </a:solidFill>
                <a:latin typeface="Aptos" panose="020B0004020202020204" pitchFamily="34" charset="0"/>
              </a:rPr>
              <a:t>CƠ SỞ DỮ LIỆU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0D35C39A-1E5B-76C2-967D-8800CF079180}"/>
              </a:ext>
            </a:extLst>
          </p:cNvPr>
          <p:cNvSpPr txBox="1"/>
          <p:nvPr/>
        </p:nvSpPr>
        <p:spPr>
          <a:xfrm>
            <a:off x="8991600" y="2743200"/>
            <a:ext cx="2374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300" b="1">
                <a:solidFill>
                  <a:srgbClr val="153F3A"/>
                </a:solidFill>
                <a:latin typeface="Aptos" panose="020B0004020202020204" pitchFamily="34" charset="0"/>
              </a:rPr>
              <a:t>SQLite mặc định</a:t>
            </a:r>
          </a:p>
          <a:p>
            <a:pPr algn="ctr">
              <a:spcAft>
                <a:spcPts val="400"/>
              </a:spcAft>
            </a:pPr>
            <a:r>
              <a:rPr lang="vi-VN" sz="1300" b="1">
                <a:solidFill>
                  <a:srgbClr val="153F3A"/>
                </a:solidFill>
                <a:latin typeface="Aptos" panose="020B0004020202020204" pitchFamily="34" charset="0"/>
              </a:rPr>
              <a:t>SQL Server tùy chọn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3FB3F9B3-B206-A2C3-DB08-115B83F4DA0C}"/>
              </a:ext>
            </a:extLst>
          </p:cNvPr>
          <p:cNvSpPr/>
          <p:nvPr/>
        </p:nvSpPr>
        <p:spPr>
          <a:xfrm>
            <a:off x="3048000" y="2819400"/>
            <a:ext cx="5715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4CB3F7CF-E76D-EF92-7227-5FAB2F065AB4}"/>
              </a:ext>
            </a:extLst>
          </p:cNvPr>
          <p:cNvSpPr/>
          <p:nvPr/>
        </p:nvSpPr>
        <p:spPr>
          <a:xfrm>
            <a:off x="8229600" y="2819400"/>
            <a:ext cx="5842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ình chữ nhật: Góc Tròn 18">
            <a:extLst>
              <a:ext uri="{FF2B5EF4-FFF2-40B4-BE49-F238E27FC236}">
                <a16:creationId xmlns:a16="http://schemas.microsoft.com/office/drawing/2014/main" id="{48B5BB92-F02B-04C4-7745-CDFD4A35BF50}"/>
              </a:ext>
            </a:extLst>
          </p:cNvPr>
          <p:cNvSpPr/>
          <p:nvPr/>
        </p:nvSpPr>
        <p:spPr>
          <a:xfrm>
            <a:off x="635000" y="4013200"/>
            <a:ext cx="3327400" cy="1473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629B4117-BDE4-6D21-DEE3-D9F40F463976}"/>
              </a:ext>
            </a:extLst>
          </p:cNvPr>
          <p:cNvSpPr/>
          <p:nvPr/>
        </p:nvSpPr>
        <p:spPr>
          <a:xfrm>
            <a:off x="635000" y="4013200"/>
            <a:ext cx="63500" cy="14732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9AAB1676-F653-2BCF-CDBA-E7D8D1D388CF}"/>
              </a:ext>
            </a:extLst>
          </p:cNvPr>
          <p:cNvSpPr txBox="1"/>
          <p:nvPr/>
        </p:nvSpPr>
        <p:spPr>
          <a:xfrm>
            <a:off x="825500" y="4152900"/>
            <a:ext cx="2984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QR</a:t>
            </a: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7F6FFB5-1A16-5BB0-C565-A2B1E9DA6549}"/>
              </a:ext>
            </a:extLst>
          </p:cNvPr>
          <p:cNvSpPr txBox="1"/>
          <p:nvPr/>
        </p:nvSpPr>
        <p:spPr>
          <a:xfrm>
            <a:off x="825500" y="4546600"/>
            <a:ext cx="2984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VietQR tạo ảnh; không có webhook hay xác minh ngân hàng tự động.</a:t>
            </a:r>
          </a:p>
        </p:txBody>
      </p:sp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B5FA6A7C-B724-0CC4-3B3C-931BB25165E6}"/>
              </a:ext>
            </a:extLst>
          </p:cNvPr>
          <p:cNvSpPr/>
          <p:nvPr/>
        </p:nvSpPr>
        <p:spPr>
          <a:xfrm>
            <a:off x="4432300" y="4013200"/>
            <a:ext cx="3327400" cy="1473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9C436879-3D9C-D482-596F-115BCDE9F727}"/>
              </a:ext>
            </a:extLst>
          </p:cNvPr>
          <p:cNvSpPr/>
          <p:nvPr/>
        </p:nvSpPr>
        <p:spPr>
          <a:xfrm>
            <a:off x="4432300" y="4013200"/>
            <a:ext cx="63500" cy="14732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079D4953-E533-D213-3E2D-80477663392A}"/>
              </a:ext>
            </a:extLst>
          </p:cNvPr>
          <p:cNvSpPr txBox="1"/>
          <p:nvPr/>
        </p:nvSpPr>
        <p:spPr>
          <a:xfrm>
            <a:off x="4622800" y="4152900"/>
            <a:ext cx="2984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Chatbot hiện hành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2BF199A5-A54C-6B40-6415-0239F5890A1F}"/>
              </a:ext>
            </a:extLst>
          </p:cNvPr>
          <p:cNvSpPr txBox="1"/>
          <p:nvPr/>
        </p:nvSpPr>
        <p:spPr>
          <a:xfrm>
            <a:off x="4622800" y="4546600"/>
            <a:ext cx="2984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Quy tắc + truy vấn dịch vụ/lịch trong cơ sở dữ liệu.</a:t>
            </a:r>
          </a:p>
        </p:txBody>
      </p:sp>
      <p:sp>
        <p:nvSpPr>
          <p:cNvPr id="27" name="Hình chữ nhật: Góc Tròn 26">
            <a:extLst>
              <a:ext uri="{FF2B5EF4-FFF2-40B4-BE49-F238E27FC236}">
                <a16:creationId xmlns:a16="http://schemas.microsoft.com/office/drawing/2014/main" id="{82F93438-EC9C-B87D-EC49-4ECC641CA5BB}"/>
              </a:ext>
            </a:extLst>
          </p:cNvPr>
          <p:cNvSpPr/>
          <p:nvPr/>
        </p:nvSpPr>
        <p:spPr>
          <a:xfrm>
            <a:off x="8229600" y="4013200"/>
            <a:ext cx="3327400" cy="1473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29727C1E-90E0-5223-2B71-127C78ADA073}"/>
              </a:ext>
            </a:extLst>
          </p:cNvPr>
          <p:cNvSpPr/>
          <p:nvPr/>
        </p:nvSpPr>
        <p:spPr>
          <a:xfrm>
            <a:off x="8229600" y="4013200"/>
            <a:ext cx="63500" cy="1473200"/>
          </a:xfrm>
          <a:prstGeom prst="rect">
            <a:avLst/>
          </a:prstGeom>
          <a:solidFill>
            <a:srgbClr val="CF75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430D044D-9178-5A1B-5358-99A133EEA636}"/>
              </a:ext>
            </a:extLst>
          </p:cNvPr>
          <p:cNvSpPr txBox="1"/>
          <p:nvPr/>
        </p:nvSpPr>
        <p:spPr>
          <a:xfrm>
            <a:off x="8420100" y="4152900"/>
            <a:ext cx="2984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AI / SMS tùy chọn</a:t>
            </a: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B6DB73E0-46BE-327D-EBAD-2B37AA8D21FF}"/>
              </a:ext>
            </a:extLst>
          </p:cNvPr>
          <p:cNvSpPr txBox="1"/>
          <p:nvPr/>
        </p:nvSpPr>
        <p:spPr>
          <a:xfrm>
            <a:off x="8420100" y="4546600"/>
            <a:ext cx="2984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Gemini tạo bản nháp EMR/lời nhắc chung; Twilio gửi SMS. Cần consent, credentials và Task Scheduler.</a:t>
            </a:r>
          </a:p>
        </p:txBody>
      </p:sp>
    </p:spTree>
    <p:extLst>
      <p:ext uri="{BB962C8B-B14F-4D97-AF65-F5344CB8AC3E}">
        <p14:creationId xmlns:p14="http://schemas.microsoft.com/office/powerpoint/2010/main" val="159689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42CDD61-1561-14F5-15F4-05F9ED174049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04 / THIẾT KẾ DỮ LIỆU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6CBA7C4-7E20-0958-F7BE-314AEDC3E27D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200" b="1">
                <a:solidFill>
                  <a:srgbClr val="153F3A"/>
                </a:solidFill>
                <a:latin typeface="Aptos" panose="020B0004020202020204" pitchFamily="34" charset="0"/>
              </a:rPr>
              <a:t>Các thực thể chính nối thành chuỗi nghiệp vụ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FE61CE6-0A5C-740F-E122-E32A10249043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Sơ đồ rút gọn theo model hiện hành; các trường chỉ liệt kê để minh họa.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6E865FA-28F5-C901-050E-D5A72509B9D1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0EE38E1-41D3-E19D-797E-6C97956757B3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64DEE08-C593-FBCF-3D5F-023ABDD89DAE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05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E8123765-C7DB-23BD-45D6-FEAAFA309D55}"/>
              </a:ext>
            </a:extLst>
          </p:cNvPr>
          <p:cNvSpPr/>
          <p:nvPr/>
        </p:nvSpPr>
        <p:spPr>
          <a:xfrm>
            <a:off x="635000" y="2336800"/>
            <a:ext cx="2159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7F8B8B17-46BE-7EC2-6CB7-A89430DF80DF}"/>
              </a:ext>
            </a:extLst>
          </p:cNvPr>
          <p:cNvSpPr/>
          <p:nvPr/>
        </p:nvSpPr>
        <p:spPr>
          <a:xfrm>
            <a:off x="635000" y="2336800"/>
            <a:ext cx="63500" cy="12700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EDED6F5-BD7D-D8E4-C46A-5B5838B20977}"/>
              </a:ext>
            </a:extLst>
          </p:cNvPr>
          <p:cNvSpPr txBox="1"/>
          <p:nvPr/>
        </p:nvSpPr>
        <p:spPr>
          <a:xfrm>
            <a:off x="825500" y="24765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PATIENT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1E7768C-4614-2892-328B-746B5871636F}"/>
              </a:ext>
            </a:extLst>
          </p:cNvPr>
          <p:cNvSpPr txBox="1"/>
          <p:nvPr/>
        </p:nvSpPr>
        <p:spPr>
          <a:xfrm>
            <a:off x="825500" y="28702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code · name · phone · AI/SMS consent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FF3F7CA4-7E64-CC3F-C670-BB8F26CEF595}"/>
              </a:ext>
            </a:extLst>
          </p:cNvPr>
          <p:cNvSpPr/>
          <p:nvPr/>
        </p:nvSpPr>
        <p:spPr>
          <a:xfrm>
            <a:off x="3556000" y="2336800"/>
            <a:ext cx="2159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8F30FD6-C60A-692E-F9AC-25CEC8386F53}"/>
              </a:ext>
            </a:extLst>
          </p:cNvPr>
          <p:cNvSpPr/>
          <p:nvPr/>
        </p:nvSpPr>
        <p:spPr>
          <a:xfrm>
            <a:off x="3556000" y="2336800"/>
            <a:ext cx="63500" cy="12700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DD1504E2-20EC-1E96-FB39-3E473355825E}"/>
              </a:ext>
            </a:extLst>
          </p:cNvPr>
          <p:cNvSpPr txBox="1"/>
          <p:nvPr/>
        </p:nvSpPr>
        <p:spPr>
          <a:xfrm>
            <a:off x="3746500" y="24765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APPOINTMENT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E639B04A-4D1A-764C-13D3-01F5174678FE}"/>
              </a:ext>
            </a:extLst>
          </p:cNvPr>
          <p:cNvSpPr txBox="1"/>
          <p:nvPr/>
        </p:nvSpPr>
        <p:spPr>
          <a:xfrm>
            <a:off x="3746500" y="28702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patient · doctor · service · time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4A92FA6A-A2FB-94BA-0EC5-59589E3D4AC7}"/>
              </a:ext>
            </a:extLst>
          </p:cNvPr>
          <p:cNvSpPr/>
          <p:nvPr/>
        </p:nvSpPr>
        <p:spPr>
          <a:xfrm>
            <a:off x="6477000" y="2336800"/>
            <a:ext cx="2159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C81C8A2F-AF9A-6F39-C509-4A0D0A9E291A}"/>
              </a:ext>
            </a:extLst>
          </p:cNvPr>
          <p:cNvSpPr/>
          <p:nvPr/>
        </p:nvSpPr>
        <p:spPr>
          <a:xfrm>
            <a:off x="6477000" y="2336800"/>
            <a:ext cx="63500" cy="12700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F66E0DA1-8357-4366-37AA-092CBECFF175}"/>
              </a:ext>
            </a:extLst>
          </p:cNvPr>
          <p:cNvSpPr txBox="1"/>
          <p:nvPr/>
        </p:nvSpPr>
        <p:spPr>
          <a:xfrm>
            <a:off x="6667500" y="24765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MEDICAL RECORD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2ED9F9E9-7DAD-8947-C9CD-F5398D90FC9E}"/>
              </a:ext>
            </a:extLst>
          </p:cNvPr>
          <p:cNvSpPr txBox="1"/>
          <p:nvPr/>
        </p:nvSpPr>
        <p:spPr>
          <a:xfrm>
            <a:off x="6667500" y="28702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57875"/>
                </a:solidFill>
                <a:latin typeface="Aptos" panose="020B0004020202020204" pitchFamily="34" charset="0"/>
              </a:rPr>
              <a:t>appointment · diagnosis · plan · follow-up date</a:t>
            </a:r>
            <a:endParaRPr lang="vi-VN" sz="1100">
              <a:solidFill>
                <a:srgbClr val="657875"/>
              </a:solidFill>
              <a:latin typeface="Aptos" panose="020B0004020202020204" pitchFamily="34" charset="0"/>
            </a:endParaRP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D68DA2BA-6FBB-E98B-555B-5BF8C3F156D2}"/>
              </a:ext>
            </a:extLst>
          </p:cNvPr>
          <p:cNvSpPr/>
          <p:nvPr/>
        </p:nvSpPr>
        <p:spPr>
          <a:xfrm>
            <a:off x="9398000" y="2336800"/>
            <a:ext cx="2159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35CC81F8-4D01-7037-73E8-7E7E73B78E64}"/>
              </a:ext>
            </a:extLst>
          </p:cNvPr>
          <p:cNvSpPr/>
          <p:nvPr/>
        </p:nvSpPr>
        <p:spPr>
          <a:xfrm>
            <a:off x="9398000" y="2336800"/>
            <a:ext cx="63500" cy="1270000"/>
          </a:xfrm>
          <a:prstGeom prst="rect">
            <a:avLst/>
          </a:prstGeom>
          <a:solidFill>
            <a:srgbClr val="CF75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1DFFCE52-D12A-DD37-297F-A2240F20F2AC}"/>
              </a:ext>
            </a:extLst>
          </p:cNvPr>
          <p:cNvSpPr txBox="1"/>
          <p:nvPr/>
        </p:nvSpPr>
        <p:spPr>
          <a:xfrm>
            <a:off x="9588500" y="24765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INVOICE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F1A34639-385E-05A8-D497-40725F462BEC}"/>
              </a:ext>
            </a:extLst>
          </p:cNvPr>
          <p:cNvSpPr txBox="1"/>
          <p:nvPr/>
        </p:nvSpPr>
        <p:spPr>
          <a:xfrm>
            <a:off x="9588500" y="2870200"/>
            <a:ext cx="1816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57875"/>
                </a:solidFill>
                <a:latin typeface="Aptos" panose="020B0004020202020204" pitchFamily="34" charset="0"/>
              </a:rPr>
              <a:t>patient · medical_record · total/status</a:t>
            </a:r>
            <a:endParaRPr lang="vi-VN" sz="1100">
              <a:solidFill>
                <a:srgbClr val="657875"/>
              </a:solidFill>
              <a:latin typeface="Aptos" panose="020B0004020202020204" pitchFamily="34" charset="0"/>
            </a:endParaRP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D60BE673-BF0D-4E09-CAF6-7E6A9413B450}"/>
              </a:ext>
            </a:extLst>
          </p:cNvPr>
          <p:cNvSpPr/>
          <p:nvPr/>
        </p:nvSpPr>
        <p:spPr>
          <a:xfrm>
            <a:off x="2794000" y="2946400"/>
            <a:ext cx="7620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9B878C6C-C958-5DC0-6353-8B6F58EFC772}"/>
              </a:ext>
            </a:extLst>
          </p:cNvPr>
          <p:cNvSpPr/>
          <p:nvPr/>
        </p:nvSpPr>
        <p:spPr>
          <a:xfrm>
            <a:off x="5715000" y="2946400"/>
            <a:ext cx="7620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16544E18-3A61-A0BF-14C2-70257AACE8FA}"/>
              </a:ext>
            </a:extLst>
          </p:cNvPr>
          <p:cNvSpPr/>
          <p:nvPr/>
        </p:nvSpPr>
        <p:spPr>
          <a:xfrm>
            <a:off x="8636000" y="2946400"/>
            <a:ext cx="7620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46F4123E-4461-230C-4564-8380FE132B61}"/>
              </a:ext>
            </a:extLst>
          </p:cNvPr>
          <p:cNvSpPr txBox="1"/>
          <p:nvPr/>
        </p:nvSpPr>
        <p:spPr>
          <a:xfrm>
            <a:off x="2832100" y="2628900"/>
            <a:ext cx="685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1:N</a:t>
            </a: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46A0C73F-41D4-AEE8-E4E1-4BE15D9B036F}"/>
              </a:ext>
            </a:extLst>
          </p:cNvPr>
          <p:cNvSpPr txBox="1"/>
          <p:nvPr/>
        </p:nvSpPr>
        <p:spPr>
          <a:xfrm>
            <a:off x="5753100" y="2628900"/>
            <a:ext cx="685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1:0..1</a:t>
            </a: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70864A8E-74F5-A088-E6A4-8CF3D69CAE82}"/>
              </a:ext>
            </a:extLst>
          </p:cNvPr>
          <p:cNvSpPr txBox="1"/>
          <p:nvPr/>
        </p:nvSpPr>
        <p:spPr>
          <a:xfrm>
            <a:off x="8674100" y="2628900"/>
            <a:ext cx="685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800" b="1">
                <a:solidFill>
                  <a:srgbClr val="17685D"/>
                </a:solidFill>
                <a:latin typeface="Aptos" panose="020B0004020202020204" pitchFamily="34" charset="0"/>
              </a:rPr>
              <a:t>0..1:0..1</a:t>
            </a:r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E5AE7FDA-93A0-BA87-2E20-D87B0FA108E8}"/>
              </a:ext>
            </a:extLst>
          </p:cNvPr>
          <p:cNvSpPr/>
          <p:nvPr/>
        </p:nvSpPr>
        <p:spPr>
          <a:xfrm>
            <a:off x="10477500" y="3606800"/>
            <a:ext cx="38100" cy="3810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EEAD37E4-A53E-63CD-89A4-7C1949977E8A}"/>
              </a:ext>
            </a:extLst>
          </p:cNvPr>
          <p:cNvSpPr/>
          <p:nvPr/>
        </p:nvSpPr>
        <p:spPr>
          <a:xfrm>
            <a:off x="6019800" y="3987800"/>
            <a:ext cx="4470400" cy="381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2" name="Hình chữ nhật 31">
            <a:extLst>
              <a:ext uri="{FF2B5EF4-FFF2-40B4-BE49-F238E27FC236}">
                <a16:creationId xmlns:a16="http://schemas.microsoft.com/office/drawing/2014/main" id="{CD74DCE6-A3C6-2141-4B2C-EE471E4B9079}"/>
              </a:ext>
            </a:extLst>
          </p:cNvPr>
          <p:cNvSpPr/>
          <p:nvPr/>
        </p:nvSpPr>
        <p:spPr>
          <a:xfrm>
            <a:off x="6019800" y="3987800"/>
            <a:ext cx="38100" cy="3302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5CF8BE62-0151-B80E-5C05-F1A64BEAE9A5}"/>
              </a:ext>
            </a:extLst>
          </p:cNvPr>
          <p:cNvSpPr/>
          <p:nvPr/>
        </p:nvSpPr>
        <p:spPr>
          <a:xfrm>
            <a:off x="10464800" y="3987800"/>
            <a:ext cx="38100" cy="3302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Hình chữ nhật: Góc Tròn 33">
            <a:extLst>
              <a:ext uri="{FF2B5EF4-FFF2-40B4-BE49-F238E27FC236}">
                <a16:creationId xmlns:a16="http://schemas.microsoft.com/office/drawing/2014/main" id="{97A3BD84-9F72-540C-6150-C957BE7F4DA6}"/>
              </a:ext>
            </a:extLst>
          </p:cNvPr>
          <p:cNvSpPr/>
          <p:nvPr/>
        </p:nvSpPr>
        <p:spPr>
          <a:xfrm>
            <a:off x="4889500" y="4318000"/>
            <a:ext cx="2286000" cy="1117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153A8615-FA52-62CF-10E6-3C22775380A2}"/>
              </a:ext>
            </a:extLst>
          </p:cNvPr>
          <p:cNvSpPr/>
          <p:nvPr/>
        </p:nvSpPr>
        <p:spPr>
          <a:xfrm>
            <a:off x="4889500" y="4318000"/>
            <a:ext cx="63500" cy="11176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6370EAC9-E346-0326-36DB-F1B95A830C4D}"/>
              </a:ext>
            </a:extLst>
          </p:cNvPr>
          <p:cNvSpPr txBox="1"/>
          <p:nvPr/>
        </p:nvSpPr>
        <p:spPr>
          <a:xfrm>
            <a:off x="5080000" y="4457700"/>
            <a:ext cx="1943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INVOICE ITEM</a:t>
            </a:r>
          </a:p>
        </p:txBody>
      </p:sp>
      <p:sp>
        <p:nvSpPr>
          <p:cNvPr id="37" name="Hộp Văn bản 36">
            <a:extLst>
              <a:ext uri="{FF2B5EF4-FFF2-40B4-BE49-F238E27FC236}">
                <a16:creationId xmlns:a16="http://schemas.microsoft.com/office/drawing/2014/main" id="{4DCF873D-A11A-54BD-5ACC-B8C99A9441DC}"/>
              </a:ext>
            </a:extLst>
          </p:cNvPr>
          <p:cNvSpPr txBox="1"/>
          <p:nvPr/>
        </p:nvSpPr>
        <p:spPr>
          <a:xfrm>
            <a:off x="5080000" y="4851400"/>
            <a:ext cx="1943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57875"/>
                </a:solidFill>
                <a:latin typeface="Aptos" panose="020B0004020202020204" pitchFamily="34" charset="0"/>
              </a:rPr>
              <a:t>service · quantity · unit_price · amount</a:t>
            </a:r>
            <a:endParaRPr lang="vi-VN" sz="1100">
              <a:solidFill>
                <a:srgbClr val="657875"/>
              </a:solidFill>
              <a:latin typeface="Aptos" panose="020B0004020202020204" pitchFamily="34" charset="0"/>
            </a:endParaRPr>
          </a:p>
        </p:txBody>
      </p:sp>
      <p:sp>
        <p:nvSpPr>
          <p:cNvPr id="38" name="Hình chữ nhật: Góc Tròn 37">
            <a:extLst>
              <a:ext uri="{FF2B5EF4-FFF2-40B4-BE49-F238E27FC236}">
                <a16:creationId xmlns:a16="http://schemas.microsoft.com/office/drawing/2014/main" id="{DF9EDA4A-89B6-28C3-9622-F4DA729C7440}"/>
              </a:ext>
            </a:extLst>
          </p:cNvPr>
          <p:cNvSpPr/>
          <p:nvPr/>
        </p:nvSpPr>
        <p:spPr>
          <a:xfrm>
            <a:off x="9334500" y="4318000"/>
            <a:ext cx="2286000" cy="1117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9" name="Hình chữ nhật 38">
            <a:extLst>
              <a:ext uri="{FF2B5EF4-FFF2-40B4-BE49-F238E27FC236}">
                <a16:creationId xmlns:a16="http://schemas.microsoft.com/office/drawing/2014/main" id="{35DB23E4-05D6-544B-7D81-5505F7E9E22B}"/>
              </a:ext>
            </a:extLst>
          </p:cNvPr>
          <p:cNvSpPr/>
          <p:nvPr/>
        </p:nvSpPr>
        <p:spPr>
          <a:xfrm>
            <a:off x="9334500" y="4318000"/>
            <a:ext cx="63500" cy="1117600"/>
          </a:xfrm>
          <a:prstGeom prst="rect">
            <a:avLst/>
          </a:prstGeom>
          <a:solidFill>
            <a:srgbClr val="CF75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4D5EE588-B24D-CB3A-52A3-3F508BB275BB}"/>
              </a:ext>
            </a:extLst>
          </p:cNvPr>
          <p:cNvSpPr txBox="1"/>
          <p:nvPr/>
        </p:nvSpPr>
        <p:spPr>
          <a:xfrm>
            <a:off x="9525000" y="4457700"/>
            <a:ext cx="1943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PAYMENT</a:t>
            </a:r>
          </a:p>
        </p:txBody>
      </p:sp>
      <p:sp>
        <p:nvSpPr>
          <p:cNvPr id="41" name="Hộp Văn bản 40">
            <a:extLst>
              <a:ext uri="{FF2B5EF4-FFF2-40B4-BE49-F238E27FC236}">
                <a16:creationId xmlns:a16="http://schemas.microsoft.com/office/drawing/2014/main" id="{F7251CAD-8BD6-19BA-4062-E8121384B5DC}"/>
              </a:ext>
            </a:extLst>
          </p:cNvPr>
          <p:cNvSpPr txBox="1"/>
          <p:nvPr/>
        </p:nvSpPr>
        <p:spPr>
          <a:xfrm>
            <a:off x="9525000" y="4851400"/>
            <a:ext cx="1943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invoice · amount · method · status</a:t>
            </a:r>
          </a:p>
        </p:txBody>
      </p:sp>
      <p:sp>
        <p:nvSpPr>
          <p:cNvPr id="42" name="Hộp Văn bản 41">
            <a:extLst>
              <a:ext uri="{FF2B5EF4-FFF2-40B4-BE49-F238E27FC236}">
                <a16:creationId xmlns:a16="http://schemas.microsoft.com/office/drawing/2014/main" id="{67C2B4F5-7162-98AC-8AA6-E2A30E092C33}"/>
              </a:ext>
            </a:extLst>
          </p:cNvPr>
          <p:cNvSpPr txBox="1"/>
          <p:nvPr/>
        </p:nvSpPr>
        <p:spPr>
          <a:xfrm>
            <a:off x="6032500" y="4064000"/>
            <a:ext cx="69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1:N</a:t>
            </a:r>
          </a:p>
        </p:txBody>
      </p:sp>
      <p:sp>
        <p:nvSpPr>
          <p:cNvPr id="43" name="Hộp Văn bản 42">
            <a:extLst>
              <a:ext uri="{FF2B5EF4-FFF2-40B4-BE49-F238E27FC236}">
                <a16:creationId xmlns:a16="http://schemas.microsoft.com/office/drawing/2014/main" id="{86F642BB-94FB-50F9-C62E-4837B0E6EA2F}"/>
              </a:ext>
            </a:extLst>
          </p:cNvPr>
          <p:cNvSpPr txBox="1"/>
          <p:nvPr/>
        </p:nvSpPr>
        <p:spPr>
          <a:xfrm>
            <a:off x="10477500" y="4064000"/>
            <a:ext cx="69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1:N</a:t>
            </a:r>
          </a:p>
        </p:txBody>
      </p:sp>
      <p:sp>
        <p:nvSpPr>
          <p:cNvPr id="44" name="Hình chữ nhật: Góc Tròn 43">
            <a:extLst>
              <a:ext uri="{FF2B5EF4-FFF2-40B4-BE49-F238E27FC236}">
                <a16:creationId xmlns:a16="http://schemas.microsoft.com/office/drawing/2014/main" id="{86802F37-F520-A0E7-CE22-7757B1CD7FD5}"/>
              </a:ext>
            </a:extLst>
          </p:cNvPr>
          <p:cNvSpPr/>
          <p:nvPr/>
        </p:nvSpPr>
        <p:spPr>
          <a:xfrm>
            <a:off x="609600" y="4686300"/>
            <a:ext cx="38100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Hộp Văn bản 44">
            <a:extLst>
              <a:ext uri="{FF2B5EF4-FFF2-40B4-BE49-F238E27FC236}">
                <a16:creationId xmlns:a16="http://schemas.microsoft.com/office/drawing/2014/main" id="{5B0FC989-8981-A524-F95C-C410048A2374}"/>
              </a:ext>
            </a:extLst>
          </p:cNvPr>
          <p:cNvSpPr txBox="1"/>
          <p:nvPr/>
        </p:nvSpPr>
        <p:spPr>
          <a:xfrm>
            <a:off x="685800" y="4724400"/>
            <a:ext cx="3657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EMR ↔ dịch vụ / răng: quan hệ nhiều-nhiều</a:t>
            </a:r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EFF31BDA-3FFA-60D0-7D02-EA8D6B81615B}"/>
              </a:ext>
            </a:extLst>
          </p:cNvPr>
          <p:cNvSpPr txBox="1"/>
          <p:nvPr/>
        </p:nvSpPr>
        <p:spPr>
          <a:xfrm>
            <a:off x="609600" y="5143500"/>
            <a:ext cx="381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000">
                <a:solidFill>
                  <a:srgbClr val="657875"/>
                </a:solidFill>
                <a:latin typeface="Aptos" panose="020B0004020202020204" pitchFamily="34" charset="0"/>
              </a:rPr>
              <a:t>FollowUpReminder theo dõi trạng thái gửi duy nhất theo EMR/ngày.</a:t>
            </a:r>
          </a:p>
        </p:txBody>
      </p:sp>
    </p:spTree>
    <p:extLst>
      <p:ext uri="{BB962C8B-B14F-4D97-AF65-F5344CB8AC3E}">
        <p14:creationId xmlns:p14="http://schemas.microsoft.com/office/powerpoint/2010/main" val="191394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B8CD58E-D166-66D6-5A0C-BC44A2F87364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05 / ĐẶT LỊCH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95C89DEA-19D3-E571-4405-5F1C4EC69F1D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Kiểm tra lịch trước khi xác nhận đặt hẹn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A622D1CB-4D86-7652-CCFF-4057D6CD378F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API kiểm tra ca làm, thời lượng dịch vụ và lịch bị trùng.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FE883DC-1CBC-E216-1F94-9933525CCDF8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0272629-83B1-CFD4-1A86-2A9B34BB8037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ECE41A68-9B02-C175-9424-5A194B27F62F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06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8B1607A4-AE91-B143-82A2-6CA506978A5C}"/>
              </a:ext>
            </a:extLst>
          </p:cNvPr>
          <p:cNvSpPr/>
          <p:nvPr/>
        </p:nvSpPr>
        <p:spPr>
          <a:xfrm>
            <a:off x="495300" y="1739900"/>
            <a:ext cx="7188200" cy="4533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BB6719F6-8158-960B-D857-B51E620BFF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790700"/>
            <a:ext cx="7086600" cy="4432300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6D22C7E-FCE3-6D9D-E195-0ECE679D1333}"/>
              </a:ext>
            </a:extLst>
          </p:cNvPr>
          <p:cNvSpPr txBox="1"/>
          <p:nvPr/>
        </p:nvSpPr>
        <p:spPr>
          <a:xfrm>
            <a:off x="596900" y="6273800"/>
            <a:ext cx="6959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Giao diện thật · dữ liệu demo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B02A91D5-0B97-A5EC-D74D-664E1C5FFDF1}"/>
              </a:ext>
            </a:extLst>
          </p:cNvPr>
          <p:cNvSpPr/>
          <p:nvPr/>
        </p:nvSpPr>
        <p:spPr>
          <a:xfrm>
            <a:off x="8077200" y="19431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3E5989AB-6057-6EE2-A741-89981EBA0415}"/>
              </a:ext>
            </a:extLst>
          </p:cNvPr>
          <p:cNvSpPr/>
          <p:nvPr/>
        </p:nvSpPr>
        <p:spPr>
          <a:xfrm>
            <a:off x="8077200" y="1943100"/>
            <a:ext cx="63500" cy="11303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6326C086-F65D-9B32-ED94-1AF9195A1890}"/>
              </a:ext>
            </a:extLst>
          </p:cNvPr>
          <p:cNvSpPr txBox="1"/>
          <p:nvPr/>
        </p:nvSpPr>
        <p:spPr>
          <a:xfrm>
            <a:off x="8267700" y="20828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Nhập thông tin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B4C229B-7D0D-DE25-1411-3BF5205B3CB2}"/>
              </a:ext>
            </a:extLst>
          </p:cNvPr>
          <p:cNvSpPr txBox="1"/>
          <p:nvPr/>
        </p:nvSpPr>
        <p:spPr>
          <a:xfrm>
            <a:off x="8267700" y="24765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Bệnh nhân, bác sĩ, dịch vụ, ngày, giờ và lý do khám.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FED8309F-5CC0-95A6-9560-7671FFFFB030}"/>
              </a:ext>
            </a:extLst>
          </p:cNvPr>
          <p:cNvSpPr/>
          <p:nvPr/>
        </p:nvSpPr>
        <p:spPr>
          <a:xfrm>
            <a:off x="8077200" y="33147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021093CA-C90A-B540-CF53-85C8D400B89A}"/>
              </a:ext>
            </a:extLst>
          </p:cNvPr>
          <p:cNvSpPr/>
          <p:nvPr/>
        </p:nvSpPr>
        <p:spPr>
          <a:xfrm>
            <a:off x="8077200" y="3314700"/>
            <a:ext cx="63500" cy="11303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4179157A-816B-D370-DB1C-487909D23717}"/>
              </a:ext>
            </a:extLst>
          </p:cNvPr>
          <p:cNvSpPr txBox="1"/>
          <p:nvPr/>
        </p:nvSpPr>
        <p:spPr>
          <a:xfrm>
            <a:off x="8267700" y="34544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Kiểm tra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F8DA9DEE-968D-F709-49EF-7DA52BDAF554}"/>
              </a:ext>
            </a:extLst>
          </p:cNvPr>
          <p:cNvSpPr txBox="1"/>
          <p:nvPr/>
        </p:nvSpPr>
        <p:spPr>
          <a:xfrm>
            <a:off x="8267700" y="38481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Đúng ca làm, đủ thời lượng, không xung đột lịch.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31625AD4-E2DF-C7CA-65A9-26C041AA3C58}"/>
              </a:ext>
            </a:extLst>
          </p:cNvPr>
          <p:cNvSpPr/>
          <p:nvPr/>
        </p:nvSpPr>
        <p:spPr>
          <a:xfrm>
            <a:off x="8077200" y="46863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00571A1F-3B04-9BC8-542B-E1C5CBFDE054}"/>
              </a:ext>
            </a:extLst>
          </p:cNvPr>
          <p:cNvSpPr/>
          <p:nvPr/>
        </p:nvSpPr>
        <p:spPr>
          <a:xfrm>
            <a:off x="8077200" y="4686300"/>
            <a:ext cx="63500" cy="11303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BDBC9DB2-7C88-CEFE-BD0B-7489DFF6B337}"/>
              </a:ext>
            </a:extLst>
          </p:cNvPr>
          <p:cNvSpPr txBox="1"/>
          <p:nvPr/>
        </p:nvSpPr>
        <p:spPr>
          <a:xfrm>
            <a:off x="8267700" y="48260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Kết quả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9AD06C9-059A-7998-3F12-9D13B08AAC9F}"/>
              </a:ext>
            </a:extLst>
          </p:cNvPr>
          <p:cNvSpPr txBox="1"/>
          <p:nvPr/>
        </p:nvSpPr>
        <p:spPr>
          <a:xfrm>
            <a:off x="8267700" y="52197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Chỉ báo thành công khi API tạo lịch.</a:t>
            </a:r>
          </a:p>
        </p:txBody>
      </p:sp>
    </p:spTree>
    <p:extLst>
      <p:ext uri="{BB962C8B-B14F-4D97-AF65-F5344CB8AC3E}">
        <p14:creationId xmlns:p14="http://schemas.microsoft.com/office/powerpoint/2010/main" val="425571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6AFC26D7-6BB0-95DA-E533-219849167B52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06 / KHÁM BỆNH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9E5648B1-C74A-FD02-97F5-B54839B002CF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200" b="1">
                <a:solidFill>
                  <a:srgbClr val="153F3A"/>
                </a:solidFill>
                <a:latin typeface="Aptos" panose="020B0004020202020204" pitchFamily="34" charset="0"/>
              </a:rPr>
              <a:t>Hồ sơ bệnh án điện tử (EMR) gắn với lịch hẹn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80432033-11A1-7A46-D6D3-073AADF1841B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Bác sĩ ghi nhận nội dung khám và dịch vụ được chỉ định.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EA3E1BC-C227-4127-20FF-5CC9AB7E163C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F3FC5BE-6046-095B-0179-A5BAD75B7C08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832CECA-99D2-3742-AF6A-43044118A41B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07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744E19E0-B04F-9DFA-A6F1-9937145926AD}"/>
              </a:ext>
            </a:extLst>
          </p:cNvPr>
          <p:cNvSpPr/>
          <p:nvPr/>
        </p:nvSpPr>
        <p:spPr>
          <a:xfrm>
            <a:off x="495300" y="1739900"/>
            <a:ext cx="7188200" cy="4533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01D6B6C-0060-D6E7-5AAE-2B06165583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790700"/>
            <a:ext cx="7086600" cy="4432300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8017C93-8BFD-4B0C-128D-D1D81E0D3324}"/>
              </a:ext>
            </a:extLst>
          </p:cNvPr>
          <p:cNvSpPr txBox="1"/>
          <p:nvPr/>
        </p:nvSpPr>
        <p:spPr>
          <a:xfrm>
            <a:off x="596900" y="6273800"/>
            <a:ext cx="6959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Giao diện EMR thật · hồ sơ demo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F54CE83E-0B79-63B1-4305-F0C809CD11E3}"/>
              </a:ext>
            </a:extLst>
          </p:cNvPr>
          <p:cNvSpPr/>
          <p:nvPr/>
        </p:nvSpPr>
        <p:spPr>
          <a:xfrm>
            <a:off x="8077200" y="19431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80A70D68-F344-93DA-3536-786CAE481EDF}"/>
              </a:ext>
            </a:extLst>
          </p:cNvPr>
          <p:cNvSpPr/>
          <p:nvPr/>
        </p:nvSpPr>
        <p:spPr>
          <a:xfrm>
            <a:off x="8077200" y="1943100"/>
            <a:ext cx="63500" cy="11303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824008CD-5A9D-019F-625D-F364BB59CD2A}"/>
              </a:ext>
            </a:extLst>
          </p:cNvPr>
          <p:cNvSpPr txBox="1"/>
          <p:nvPr/>
        </p:nvSpPr>
        <p:spPr>
          <a:xfrm>
            <a:off x="8267700" y="20828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Liên kết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687E063-3464-1E38-0E25-81F90080461A}"/>
              </a:ext>
            </a:extLst>
          </p:cNvPr>
          <p:cNvSpPr txBox="1"/>
          <p:nvPr/>
        </p:nvSpPr>
        <p:spPr>
          <a:xfrm>
            <a:off x="8267700" y="24765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Mỗi EMR gắn một-một với lịch hẹn.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EF6D4C2F-D058-4D9A-CA9B-2D0F6396E08C}"/>
              </a:ext>
            </a:extLst>
          </p:cNvPr>
          <p:cNvSpPr/>
          <p:nvPr/>
        </p:nvSpPr>
        <p:spPr>
          <a:xfrm>
            <a:off x="8077200" y="33147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5A94E60E-45B1-84E5-9973-35CB9B82AB4B}"/>
              </a:ext>
            </a:extLst>
          </p:cNvPr>
          <p:cNvSpPr/>
          <p:nvPr/>
        </p:nvSpPr>
        <p:spPr>
          <a:xfrm>
            <a:off x="8077200" y="3314700"/>
            <a:ext cx="63500" cy="11303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BA6C0864-FA6E-11C4-1EF6-D518D7FEA2FB}"/>
              </a:ext>
            </a:extLst>
          </p:cNvPr>
          <p:cNvSpPr txBox="1"/>
          <p:nvPr/>
        </p:nvSpPr>
        <p:spPr>
          <a:xfrm>
            <a:off x="8267700" y="34544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Ghi nhận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482E049F-6A5F-DFD7-AA09-86EECFD8CAD5}"/>
              </a:ext>
            </a:extLst>
          </p:cNvPr>
          <p:cNvSpPr txBox="1"/>
          <p:nvPr/>
        </p:nvSpPr>
        <p:spPr>
          <a:xfrm>
            <a:off x="8267700" y="38481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Chẩn đoán, hướng điều trị, răng và dịch vụ.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86BACB81-086A-431B-A992-3B9B9D6EDB27}"/>
              </a:ext>
            </a:extLst>
          </p:cNvPr>
          <p:cNvSpPr/>
          <p:nvPr/>
        </p:nvSpPr>
        <p:spPr>
          <a:xfrm>
            <a:off x="8077200" y="4686300"/>
            <a:ext cx="3479800" cy="11303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ình chữ nhật: Góc Tròn 20">
            <a:extLst>
              <a:ext uri="{FF2B5EF4-FFF2-40B4-BE49-F238E27FC236}">
                <a16:creationId xmlns:a16="http://schemas.microsoft.com/office/drawing/2014/main" id="{E035064E-4C18-8D25-17F1-465E8355AFB5}"/>
              </a:ext>
            </a:extLst>
          </p:cNvPr>
          <p:cNvSpPr/>
          <p:nvPr/>
        </p:nvSpPr>
        <p:spPr>
          <a:xfrm>
            <a:off x="8255000" y="4851400"/>
            <a:ext cx="2603500" cy="279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5EF508-50CB-F493-BBF2-6A9D239649A9}"/>
              </a:ext>
            </a:extLst>
          </p:cNvPr>
          <p:cNvSpPr txBox="1"/>
          <p:nvPr/>
        </p:nvSpPr>
        <p:spPr>
          <a:xfrm>
            <a:off x="8331200" y="4889500"/>
            <a:ext cx="2451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AI SUMMARY · TÙY CHỌN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5845B78F-368B-E8B7-DFF4-0E3226F5A11B}"/>
              </a:ext>
            </a:extLst>
          </p:cNvPr>
          <p:cNvSpPr txBox="1"/>
          <p:nvPr/>
        </p:nvSpPr>
        <p:spPr>
          <a:xfrm>
            <a:off x="8255000" y="5270500"/>
            <a:ext cx="3111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Cần consent + Gemini key; bác sĩ rà soát bản nháp.</a:t>
            </a:r>
          </a:p>
        </p:txBody>
      </p:sp>
    </p:spTree>
    <p:extLst>
      <p:ext uri="{BB962C8B-B14F-4D97-AF65-F5344CB8AC3E}">
        <p14:creationId xmlns:p14="http://schemas.microsoft.com/office/powerpoint/2010/main" val="279546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3B5298B-D216-056F-3B41-9E6B10E97D19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07 / THANH TOÁN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8C326E4B-C3AF-AC21-5E52-361F739344E7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200" b="1">
                <a:solidFill>
                  <a:srgbClr val="153F3A"/>
                </a:solidFill>
                <a:latin typeface="Aptos" panose="020B0004020202020204" pitchFamily="34" charset="0"/>
              </a:rPr>
              <a:t>Tính tiền từ dịch vụ, lưu trạng thái giao dịch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91C70C7-193C-DB53-F8D7-DE613D70ED30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Hóa đơn giữ đơn giá tại thời điểm phát hành; giao dịch có phương thức và trạng thái.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A4EBF72-3D64-2362-AD13-A45F323F582E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36037CFF-9F05-B7D3-E63B-CD20F31F8484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5B1A4C7-3109-8356-404B-F006E8CA1258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08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57DDEB02-48FA-EA7D-4473-C19EC149C27E}"/>
              </a:ext>
            </a:extLst>
          </p:cNvPr>
          <p:cNvSpPr/>
          <p:nvPr/>
        </p:nvSpPr>
        <p:spPr>
          <a:xfrm>
            <a:off x="495300" y="1739900"/>
            <a:ext cx="7188200" cy="4533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EBA9092-C722-F30C-E28E-5EEEA8C26B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790700"/>
            <a:ext cx="7086600" cy="4432300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C2FECBAC-A64F-647F-9FDD-2EC98A7A977B}"/>
              </a:ext>
            </a:extLst>
          </p:cNvPr>
          <p:cNvSpPr txBox="1"/>
          <p:nvPr/>
        </p:nvSpPr>
        <p:spPr>
          <a:xfrm>
            <a:off x="596900" y="6273800"/>
            <a:ext cx="6959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Hộp thoại thật · hóa đơn demo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97403E1C-A778-939B-F636-68BF64F61266}"/>
              </a:ext>
            </a:extLst>
          </p:cNvPr>
          <p:cNvSpPr/>
          <p:nvPr/>
        </p:nvSpPr>
        <p:spPr>
          <a:xfrm>
            <a:off x="8077200" y="19431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D9FCCD1-3473-0098-59ED-856EFDC9DEF0}"/>
              </a:ext>
            </a:extLst>
          </p:cNvPr>
          <p:cNvSpPr/>
          <p:nvPr/>
        </p:nvSpPr>
        <p:spPr>
          <a:xfrm>
            <a:off x="8077200" y="1943100"/>
            <a:ext cx="63500" cy="11303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5E37DA90-6B8D-87EE-4F99-84E357F1B6B1}"/>
              </a:ext>
            </a:extLst>
          </p:cNvPr>
          <p:cNvSpPr txBox="1"/>
          <p:nvPr/>
        </p:nvSpPr>
        <p:spPr>
          <a:xfrm>
            <a:off x="8267700" y="20828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Tiền mặt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67CFB4BB-EBAD-ED6F-A2D3-7E505E30497A}"/>
              </a:ext>
            </a:extLst>
          </p:cNvPr>
          <p:cNvSpPr txBox="1"/>
          <p:nvPr/>
        </p:nvSpPr>
        <p:spPr>
          <a:xfrm>
            <a:off x="8267700" y="24765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Xác nhận đủ số dư; ghi giao dịch COMPLETED.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92185ECC-3A7E-A928-98CF-049A29FC4741}"/>
              </a:ext>
            </a:extLst>
          </p:cNvPr>
          <p:cNvSpPr/>
          <p:nvPr/>
        </p:nvSpPr>
        <p:spPr>
          <a:xfrm>
            <a:off x="8077200" y="33147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F746949E-1B7D-C755-2C05-3A1F869E582C}"/>
              </a:ext>
            </a:extLst>
          </p:cNvPr>
          <p:cNvSpPr/>
          <p:nvPr/>
        </p:nvSpPr>
        <p:spPr>
          <a:xfrm>
            <a:off x="8077200" y="3314700"/>
            <a:ext cx="63500" cy="11303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33B9E50D-D442-E909-C641-B7041A723CF7}"/>
              </a:ext>
            </a:extLst>
          </p:cNvPr>
          <p:cNvSpPr txBox="1"/>
          <p:nvPr/>
        </p:nvSpPr>
        <p:spPr>
          <a:xfrm>
            <a:off x="8267700" y="34544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QR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96168028-8062-415F-355E-953F0D397B1A}"/>
              </a:ext>
            </a:extLst>
          </p:cNvPr>
          <p:cNvSpPr txBox="1"/>
          <p:nvPr/>
        </p:nvSpPr>
        <p:spPr>
          <a:xfrm>
            <a:off x="8267700" y="38481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Tạo QR chỉ tạo giao dịch PENDING, chưa đồng nghĩa đã nhận tiền.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29F60DF5-B8A4-3E64-8FB5-74D3AC571AA4}"/>
              </a:ext>
            </a:extLst>
          </p:cNvPr>
          <p:cNvSpPr/>
          <p:nvPr/>
        </p:nvSpPr>
        <p:spPr>
          <a:xfrm>
            <a:off x="8077200" y="4686300"/>
            <a:ext cx="3479800" cy="11303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DD030190-AB64-DD45-9683-2DA4EAAB20E2}"/>
              </a:ext>
            </a:extLst>
          </p:cNvPr>
          <p:cNvSpPr/>
          <p:nvPr/>
        </p:nvSpPr>
        <p:spPr>
          <a:xfrm>
            <a:off x="8077200" y="4686300"/>
            <a:ext cx="63500" cy="1130300"/>
          </a:xfrm>
          <a:prstGeom prst="rect">
            <a:avLst/>
          </a:prstGeom>
          <a:solidFill>
            <a:srgbClr val="CF75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11B7CF4B-A141-483B-F094-7D49DC257FEB}"/>
              </a:ext>
            </a:extLst>
          </p:cNvPr>
          <p:cNvSpPr txBox="1"/>
          <p:nvPr/>
        </p:nvSpPr>
        <p:spPr>
          <a:xfrm>
            <a:off x="8267700" y="48260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Đối soát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E936B43-972F-419B-E674-9BC49A456C4E}"/>
              </a:ext>
            </a:extLst>
          </p:cNvPr>
          <p:cNvSpPr txBox="1"/>
          <p:nvPr/>
        </p:nvSpPr>
        <p:spPr>
          <a:xfrm>
            <a:off x="8267700" y="5219700"/>
            <a:ext cx="31369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Nhân viên khớp tiền + mã tham chiếu, lưu người xác minh.</a:t>
            </a:r>
          </a:p>
        </p:txBody>
      </p:sp>
    </p:spTree>
    <p:extLst>
      <p:ext uri="{BB962C8B-B14F-4D97-AF65-F5344CB8AC3E}">
        <p14:creationId xmlns:p14="http://schemas.microsoft.com/office/powerpoint/2010/main" val="15825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1D398F9-5B55-9881-B7B8-A6227201C356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08 / CHATBOT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FE5BACF7-F7F1-2BA1-AAC4-60A75792CA4F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200" b="1">
                <a:solidFill>
                  <a:srgbClr val="153F3A"/>
                </a:solidFill>
                <a:latin typeface="Aptos" panose="020B0004020202020204" pitchFamily="34" charset="0"/>
              </a:rPr>
              <a:t>Tra cứu theo dữ liệu; không tự bịa câu trả lời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626A0551-D848-DCFB-BB24-7A5C779B214F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Ví dụ thật: giá dịch vụ lấy từ danh mục đang hoạt động.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747FF3B4-8B74-F442-BDD6-098A6D345A18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DDE3107A-950E-5DF4-2F27-79DF88D43401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CC84395-7A9E-F086-CE39-49FE089E0666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09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D7559A00-39BD-3810-F2ED-A6A844E217C3}"/>
              </a:ext>
            </a:extLst>
          </p:cNvPr>
          <p:cNvSpPr/>
          <p:nvPr/>
        </p:nvSpPr>
        <p:spPr>
          <a:xfrm>
            <a:off x="495300" y="1739900"/>
            <a:ext cx="7188200" cy="4533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ABF20624-EDD5-094C-1472-A0DA9D50F0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790700"/>
            <a:ext cx="7086600" cy="4432300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8FFD51C-612F-8D94-FFE7-B975F3DA9079}"/>
              </a:ext>
            </a:extLst>
          </p:cNvPr>
          <p:cNvSpPr txBox="1"/>
          <p:nvPr/>
        </p:nvSpPr>
        <p:spPr>
          <a:xfrm>
            <a:off x="596900" y="6273800"/>
            <a:ext cx="6959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Chatbot với dữ liệu demo · ảnh thật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C2F6C308-60C9-83F9-3642-76CEF8554767}"/>
              </a:ext>
            </a:extLst>
          </p:cNvPr>
          <p:cNvSpPr/>
          <p:nvPr/>
        </p:nvSpPr>
        <p:spPr>
          <a:xfrm>
            <a:off x="8077200" y="1943100"/>
            <a:ext cx="3479800" cy="3860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86728072-987E-343A-CC47-7FF236941891}"/>
              </a:ext>
            </a:extLst>
          </p:cNvPr>
          <p:cNvSpPr/>
          <p:nvPr/>
        </p:nvSpPr>
        <p:spPr>
          <a:xfrm>
            <a:off x="8280400" y="2159000"/>
            <a:ext cx="29845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590291E-CEAC-8DBE-67B5-9485828898AD}"/>
              </a:ext>
            </a:extLst>
          </p:cNvPr>
          <p:cNvSpPr txBox="1"/>
          <p:nvPr/>
        </p:nvSpPr>
        <p:spPr>
          <a:xfrm>
            <a:off x="8356600" y="2197100"/>
            <a:ext cx="2832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THEO QUY TẮC · KHÔNG GỌI LLM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3972250-9357-2FCB-6135-056A38C70693}"/>
              </a:ext>
            </a:extLst>
          </p:cNvPr>
          <p:cNvSpPr txBox="1"/>
          <p:nvPr/>
        </p:nvSpPr>
        <p:spPr>
          <a:xfrm>
            <a:off x="8293100" y="2679700"/>
            <a:ext cx="3022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HỖ TRỢ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• Tra giá dịch vụ hoạt động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• Gợi ý giờ theo lịch hiện có</a:t>
            </a:r>
          </a:p>
          <a:p>
            <a:pPr>
              <a:spcAft>
                <a:spcPts val="400"/>
              </a:spcAft>
            </a:pPr>
            <a:endParaRPr lang="vi-VN" sz="1200">
              <a:solidFill>
                <a:srgbClr val="153F3A"/>
              </a:solidFill>
              <a:latin typeface="Aptos" panose="020B0004020202020204" pitchFamily="34" charset="0"/>
            </a:endParaRP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GIỚI HẠN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• Không chẩn đoán / xem EMR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• Không đặt hoặc giữ lịch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• Câu hỏi khác → liên hệ lễ tân</a:t>
            </a:r>
          </a:p>
        </p:txBody>
      </p:sp>
    </p:spTree>
    <p:extLst>
      <p:ext uri="{BB962C8B-B14F-4D97-AF65-F5344CB8AC3E}">
        <p14:creationId xmlns:p14="http://schemas.microsoft.com/office/powerpoint/2010/main" val="155590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C425909-B05B-9988-FDBC-E304DA1C0471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09 / AI TÙY CHỌN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4E143326-DFDE-FE0B-23A5-E49F8B5EBC44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Hai luồng đã có trong source, cần cấu hình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61C2FF05-7CA8-120E-FFF0-7EB4A39391C4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Gemini/Twilio chưa hoạt động nếu thiếu consent, credentials và lịch Task Scheduler.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D66734EF-1B19-8B70-6377-2001150A0DF6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EEB0DFA6-D5C6-457A-70B9-3DA1627ABD1A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A1899BD-7517-6FC2-F166-22AA057D51E4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10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EEC38C16-4FBB-4598-14C8-C6DED21ACEBE}"/>
              </a:ext>
            </a:extLst>
          </p:cNvPr>
          <p:cNvSpPr/>
          <p:nvPr/>
        </p:nvSpPr>
        <p:spPr>
          <a:xfrm>
            <a:off x="596900" y="1917700"/>
            <a:ext cx="5321300" cy="374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B06ECCD7-BBBE-8E3E-9AD8-2159AE7DC860}"/>
              </a:ext>
            </a:extLst>
          </p:cNvPr>
          <p:cNvSpPr/>
          <p:nvPr/>
        </p:nvSpPr>
        <p:spPr>
          <a:xfrm>
            <a:off x="838200" y="2133600"/>
            <a:ext cx="23622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4F95D0E1-6836-7150-C8BE-E69E6E5CE931}"/>
              </a:ext>
            </a:extLst>
          </p:cNvPr>
          <p:cNvSpPr txBox="1"/>
          <p:nvPr/>
        </p:nvSpPr>
        <p:spPr>
          <a:xfrm>
            <a:off x="914400" y="2171700"/>
            <a:ext cx="2209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TÓM TẮT EMR · GEMINI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BB40C271-033E-DCC0-B4F7-504C82CCA202}"/>
              </a:ext>
            </a:extLst>
          </p:cNvPr>
          <p:cNvSpPr txBox="1"/>
          <p:nvPr/>
        </p:nvSpPr>
        <p:spPr>
          <a:xfrm>
            <a:off x="889000" y="2679700"/>
            <a:ext cx="4737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Bác sĩ chọn hồ sơ + đã có consent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API kiểm tra role / quyền hồ sơ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Lọc định danh theo mẫu → Gemini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Trả bản nháp cho bác sĩ rà soát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Không tự lưu vào bệnh án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5E4D8CC3-6042-2007-3006-2BD49436004A}"/>
              </a:ext>
            </a:extLst>
          </p:cNvPr>
          <p:cNvSpPr/>
          <p:nvPr/>
        </p:nvSpPr>
        <p:spPr>
          <a:xfrm>
            <a:off x="6261100" y="1917700"/>
            <a:ext cx="5321300" cy="374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9990BB37-B9F9-BF54-975B-77D6E0EAA246}"/>
              </a:ext>
            </a:extLst>
          </p:cNvPr>
          <p:cNvSpPr/>
          <p:nvPr/>
        </p:nvSpPr>
        <p:spPr>
          <a:xfrm>
            <a:off x="6489700" y="2133600"/>
            <a:ext cx="2667000" cy="2794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976B052-BF8F-BC4D-2572-A1178086DEF9}"/>
              </a:ext>
            </a:extLst>
          </p:cNvPr>
          <p:cNvSpPr txBox="1"/>
          <p:nvPr/>
        </p:nvSpPr>
        <p:spPr>
          <a:xfrm>
            <a:off x="6565900" y="2171700"/>
            <a:ext cx="25146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TÁI KHÁM · GEMINI + TWILIO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8ED3CB72-BAE1-5CE2-794D-3BDFCB39F780}"/>
              </a:ext>
            </a:extLst>
          </p:cNvPr>
          <p:cNvSpPr txBox="1"/>
          <p:nvPr/>
        </p:nvSpPr>
        <p:spPr>
          <a:xfrm>
            <a:off x="6553200" y="2679700"/>
            <a:ext cx="4737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Ngày tái khám + SMS consent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Lễ tân xem preview, chưa gửi tin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Task Scheduler gọi lệnh hằng ngày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Gemini + Twilio gửi lời mời chung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↓</a:t>
            </a:r>
          </a:p>
          <a:p>
            <a:pPr>
              <a:spcAft>
                <a:spcPts val="400"/>
              </a:spcAft>
            </a:pPr>
            <a:r>
              <a:rPr lang="vi-VN" sz="1200">
                <a:solidFill>
                  <a:srgbClr val="153F3A"/>
                </a:solidFill>
                <a:latin typeface="Aptos" panose="020B0004020202020204" pitchFamily="34" charset="0"/>
              </a:rPr>
              <a:t>Không gửi bệnh án; UNKNOWN không retry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68211423-35F2-D96E-CE80-8943517D5F57}"/>
              </a:ext>
            </a:extLst>
          </p:cNvPr>
          <p:cNvSpPr/>
          <p:nvPr/>
        </p:nvSpPr>
        <p:spPr>
          <a:xfrm>
            <a:off x="4152900" y="5867400"/>
            <a:ext cx="3886200" cy="279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F332CD71-EEE0-3783-2A49-B6F20364ADDF}"/>
              </a:ext>
            </a:extLst>
          </p:cNvPr>
          <p:cNvSpPr txBox="1"/>
          <p:nvPr/>
        </p:nvSpPr>
        <p:spPr>
          <a:xfrm>
            <a:off x="4229100" y="5905500"/>
            <a:ext cx="37338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900" b="1">
                <a:solidFill>
                  <a:srgbClr val="CF755F"/>
                </a:solidFill>
                <a:latin typeface="Aptos" panose="020B0004020202020204" pitchFamily="34" charset="0"/>
              </a:rPr>
              <a:t>TÙY CHỌN · CẦN API KEYS + TASK SCHEDULER</a:t>
            </a:r>
            <a:endParaRPr lang="vi-VN" sz="900" b="1">
              <a:solidFill>
                <a:srgbClr val="CF75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0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A31BE93-F404-D5FB-3F31-A589AC78AFD1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10 / AN TOÀN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28889F1F-7382-126A-0CA6-5723358E7A04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AI hỗ trợ hành chính, không thay bác sĩ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612AF83-06BC-2413-F71A-0A76C899FEA4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Biện pháp đang có và các điều kiện bắt buộc trước khi kích hoạt tích hợp.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5842E227-6AF8-BD67-3149-D19F8EA49E47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65C33FC-B954-2CB9-35F8-B87308E80ED4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E756025-BF77-8DEC-FBE1-C02C7D89351D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11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DCA98CE5-F1B7-40E6-DF2D-9ED63C714A12}"/>
              </a:ext>
            </a:extLst>
          </p:cNvPr>
          <p:cNvSpPr/>
          <p:nvPr/>
        </p:nvSpPr>
        <p:spPr>
          <a:xfrm>
            <a:off x="609600" y="1917700"/>
            <a:ext cx="5283200" cy="3860800"/>
          </a:xfrm>
          <a:prstGeom prst="roundRect">
            <a:avLst/>
          </a:prstGeom>
          <a:solidFill>
            <a:srgbClr val="E7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E787C974-0684-975E-48F4-28C0589D5075}"/>
              </a:ext>
            </a:extLst>
          </p:cNvPr>
          <p:cNvSpPr txBox="1"/>
          <p:nvPr/>
        </p:nvSpPr>
        <p:spPr>
          <a:xfrm>
            <a:off x="876300" y="2184400"/>
            <a:ext cx="4699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7685D"/>
                </a:solidFill>
                <a:latin typeface="Aptos" panose="020B0004020202020204" pitchFamily="34" charset="0"/>
              </a:rPr>
              <a:t>ĐANG CÓ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3B06F857-011A-7C8D-975A-490F883C3DFF}"/>
              </a:ext>
            </a:extLst>
          </p:cNvPr>
          <p:cNvSpPr txBox="1"/>
          <p:nvPr/>
        </p:nvSpPr>
        <p:spPr>
          <a:xfrm>
            <a:off x="876300" y="2692400"/>
            <a:ext cx="4699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Role + quyền hồ sơ; consent bắt buộc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Lọc định danh theo mẫu trước Gemini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Summary chỉ là bản nháp, không tự lưu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SMS chỉ là lời mời chung + ngày hẹn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Theo dõi trạng thái; UNKNOWN không retry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AE08899C-9905-4134-DA8C-FD31CFE3BE85}"/>
              </a:ext>
            </a:extLst>
          </p:cNvPr>
          <p:cNvSpPr/>
          <p:nvPr/>
        </p:nvSpPr>
        <p:spPr>
          <a:xfrm>
            <a:off x="6299200" y="1917700"/>
            <a:ext cx="5283200" cy="3860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382854EF-6DFF-36D3-CBF3-23FE0B7F190B}"/>
              </a:ext>
            </a:extLst>
          </p:cNvPr>
          <p:cNvSpPr txBox="1"/>
          <p:nvPr/>
        </p:nvSpPr>
        <p:spPr>
          <a:xfrm>
            <a:off x="6578600" y="2184400"/>
            <a:ext cx="4699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CF755F"/>
                </a:solidFill>
                <a:latin typeface="Aptos" panose="020B0004020202020204" pitchFamily="34" charset="0"/>
              </a:rPr>
              <a:t>TRƯỚC KHI KÍCH HOẠT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BB44045-9B75-93B4-5A3B-DF050224055D}"/>
              </a:ext>
            </a:extLst>
          </p:cNvPr>
          <p:cNvSpPr txBox="1"/>
          <p:nvPr/>
        </p:nvSpPr>
        <p:spPr>
          <a:xfrm>
            <a:off x="6578600" y="2692400"/>
            <a:ext cx="4699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Phê duyệt xử lý dữ liệu sức khỏe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Cấu hình key Gemini / Twilio an toàn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Chạy dry-run và xác minh số gửi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Xác nhận tuyến SMS + chi phí Twilio</a:t>
            </a:r>
          </a:p>
          <a:p>
            <a:pPr>
              <a:spcAft>
                <a:spcPts val="400"/>
              </a:spcAft>
            </a:pPr>
            <a:r>
              <a:rPr lang="vi-VN" sz="1300">
                <a:solidFill>
                  <a:srgbClr val="153F3A"/>
                </a:solidFill>
                <a:latin typeface="Aptos" panose="020B0004020202020204" pitchFamily="34" charset="0"/>
              </a:rPr>
              <a:t>• Tự cấu hình Task Scheduler; không bật sẵn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5B1EF957-07F1-CD5D-A2D4-4AC74B92EB6C}"/>
              </a:ext>
            </a:extLst>
          </p:cNvPr>
          <p:cNvSpPr txBox="1"/>
          <p:nvPr/>
        </p:nvSpPr>
        <p:spPr>
          <a:xfrm>
            <a:off x="660400" y="5981700"/>
            <a:ext cx="108331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000" b="1">
                <a:solidFill>
                  <a:srgbClr val="17685D"/>
                </a:solidFill>
                <a:latin typeface="Aptos" panose="020B0004020202020204" pitchFamily="34" charset="0"/>
              </a:rPr>
              <a:t>Không chẩn đoán hay quyết định điều trị bằng AI; bác sĩ chịu trách nhiệm chuyên môn.</a:t>
            </a:r>
          </a:p>
        </p:txBody>
      </p:sp>
    </p:spTree>
    <p:extLst>
      <p:ext uri="{BB962C8B-B14F-4D97-AF65-F5344CB8AC3E}">
        <p14:creationId xmlns:p14="http://schemas.microsoft.com/office/powerpoint/2010/main" val="1182723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43B247C-A811-4EDB-3EC1-E0422D63358B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11 / DEMO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16F32776-3E72-94C8-A7E6-5DF4B310BF89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500" b="1">
                <a:solidFill>
                  <a:srgbClr val="153F3A"/>
                </a:solidFill>
                <a:latin typeface="Aptos" panose="020B0004020202020204" pitchFamily="34" charset="0"/>
              </a:rPr>
              <a:t>Một tình huống xuyên suốt hệ thống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E6C7E14A-1FCC-0E9A-9D48-07A95960213A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Kịch bản gợi ý 3 phút; dùng dữ liệu demo, không cần giao dịch ngân hàng thật.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AAD0FE2C-724D-B50D-7571-75EB24A913ED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DD5D125-97DE-2BA8-8EF3-34E327BDC515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64626F8C-6010-E02C-0DDE-FFA0FF04554E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12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09779635-AB6E-6F34-9801-6ED4F1DA8687}"/>
              </a:ext>
            </a:extLst>
          </p:cNvPr>
          <p:cNvSpPr/>
          <p:nvPr/>
        </p:nvSpPr>
        <p:spPr>
          <a:xfrm>
            <a:off x="596900" y="2197100"/>
            <a:ext cx="2527300" cy="2120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8F2B050-DFC1-80A5-4EA8-09F6164C5CC1}"/>
              </a:ext>
            </a:extLst>
          </p:cNvPr>
          <p:cNvSpPr txBox="1"/>
          <p:nvPr/>
        </p:nvSpPr>
        <p:spPr>
          <a:xfrm>
            <a:off x="812800" y="2425700"/>
            <a:ext cx="69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100" b="1">
                <a:solidFill>
                  <a:srgbClr val="D4A64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0855ED46-E092-FE64-5DC2-0A7AB920B7E1}"/>
              </a:ext>
            </a:extLst>
          </p:cNvPr>
          <p:cNvSpPr txBox="1"/>
          <p:nvPr/>
        </p:nvSpPr>
        <p:spPr>
          <a:xfrm>
            <a:off x="812800" y="29464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 b="1">
                <a:solidFill>
                  <a:srgbClr val="17685D"/>
                </a:solidFill>
                <a:latin typeface="Aptos" panose="020B0004020202020204" pitchFamily="34" charset="0"/>
              </a:rPr>
              <a:t>ĐẶT HẸN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A01B7489-63A1-AE8F-67DD-88E8F702A2DF}"/>
              </a:ext>
            </a:extLst>
          </p:cNvPr>
          <p:cNvSpPr txBox="1"/>
          <p:nvPr/>
        </p:nvSpPr>
        <p:spPr>
          <a:xfrm>
            <a:off x="812800" y="33909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Chọn bệnh nhân, dịch vụ, bác sĩ và giờ hợp lệ.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F18E2108-8170-14F4-D722-09E0BBF6A273}"/>
              </a:ext>
            </a:extLst>
          </p:cNvPr>
          <p:cNvSpPr/>
          <p:nvPr/>
        </p:nvSpPr>
        <p:spPr>
          <a:xfrm>
            <a:off x="3492500" y="2197100"/>
            <a:ext cx="2527300" cy="2120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A4E3C5DE-CABC-818A-B42F-D79EFCEB3FB0}"/>
              </a:ext>
            </a:extLst>
          </p:cNvPr>
          <p:cNvSpPr txBox="1"/>
          <p:nvPr/>
        </p:nvSpPr>
        <p:spPr>
          <a:xfrm>
            <a:off x="3708400" y="2425700"/>
            <a:ext cx="69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100" b="1">
                <a:solidFill>
                  <a:srgbClr val="D4A64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2133E37A-1D25-9DDA-40AE-803403595247}"/>
              </a:ext>
            </a:extLst>
          </p:cNvPr>
          <p:cNvSpPr txBox="1"/>
          <p:nvPr/>
        </p:nvSpPr>
        <p:spPr>
          <a:xfrm>
            <a:off x="3708400" y="29464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 b="1">
                <a:solidFill>
                  <a:srgbClr val="17685D"/>
                </a:solidFill>
                <a:latin typeface="Aptos" panose="020B0004020202020204" pitchFamily="34" charset="0"/>
              </a:rPr>
              <a:t>GHI EMR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37ED7754-8742-BB02-A75C-0187D592F825}"/>
              </a:ext>
            </a:extLst>
          </p:cNvPr>
          <p:cNvSpPr txBox="1"/>
          <p:nvPr/>
        </p:nvSpPr>
        <p:spPr>
          <a:xfrm>
            <a:off x="3708400" y="33909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Bác sĩ lưu ghi nhận khám và dịch vụ chỉ định.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25BAD39E-5C28-295B-325D-E6EF7C838666}"/>
              </a:ext>
            </a:extLst>
          </p:cNvPr>
          <p:cNvSpPr/>
          <p:nvPr/>
        </p:nvSpPr>
        <p:spPr>
          <a:xfrm>
            <a:off x="6388100" y="2197100"/>
            <a:ext cx="2527300" cy="2120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180FFB5B-4020-F698-28B9-26336032734A}"/>
              </a:ext>
            </a:extLst>
          </p:cNvPr>
          <p:cNvSpPr txBox="1"/>
          <p:nvPr/>
        </p:nvSpPr>
        <p:spPr>
          <a:xfrm>
            <a:off x="6604000" y="2425700"/>
            <a:ext cx="69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100" b="1">
                <a:solidFill>
                  <a:srgbClr val="D4A64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247DE8BB-2840-C219-3D6E-CB0A9E02DCD5}"/>
              </a:ext>
            </a:extLst>
          </p:cNvPr>
          <p:cNvSpPr txBox="1"/>
          <p:nvPr/>
        </p:nvSpPr>
        <p:spPr>
          <a:xfrm>
            <a:off x="6604000" y="29464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 b="1">
                <a:solidFill>
                  <a:srgbClr val="17685D"/>
                </a:solidFill>
                <a:latin typeface="Aptos" panose="020B0004020202020204" pitchFamily="34" charset="0"/>
              </a:rPr>
              <a:t>THANH TOÁN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1856EA62-DB3F-474C-98AB-A2F21F1A82AC}"/>
              </a:ext>
            </a:extLst>
          </p:cNvPr>
          <p:cNvSpPr txBox="1"/>
          <p:nvPr/>
        </p:nvSpPr>
        <p:spPr>
          <a:xfrm>
            <a:off x="6604000" y="33909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Mở hóa đơn; minh họa hộp thoại tiền mặt.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FC23AFB6-36A1-A6AD-1F22-0776430CE59D}"/>
              </a:ext>
            </a:extLst>
          </p:cNvPr>
          <p:cNvSpPr/>
          <p:nvPr/>
        </p:nvSpPr>
        <p:spPr>
          <a:xfrm>
            <a:off x="9283700" y="2197100"/>
            <a:ext cx="2527300" cy="2120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FC7525D6-A001-D632-AE1C-B02A77EA06C6}"/>
              </a:ext>
            </a:extLst>
          </p:cNvPr>
          <p:cNvSpPr txBox="1"/>
          <p:nvPr/>
        </p:nvSpPr>
        <p:spPr>
          <a:xfrm>
            <a:off x="9499600" y="2425700"/>
            <a:ext cx="698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100" b="1">
                <a:solidFill>
                  <a:srgbClr val="D4A64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C226750E-D30F-C483-28E3-11C7CDCC51ED}"/>
              </a:ext>
            </a:extLst>
          </p:cNvPr>
          <p:cNvSpPr txBox="1"/>
          <p:nvPr/>
        </p:nvSpPr>
        <p:spPr>
          <a:xfrm>
            <a:off x="9499600" y="29464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 b="1">
                <a:solidFill>
                  <a:srgbClr val="17685D"/>
                </a:solidFill>
                <a:latin typeface="Aptos" panose="020B0004020202020204" pitchFamily="34" charset="0"/>
              </a:rPr>
              <a:t>CHATBOT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E14B8F11-63A9-E6D2-DEC8-97A94F459FF8}"/>
              </a:ext>
            </a:extLst>
          </p:cNvPr>
          <p:cNvSpPr txBox="1"/>
          <p:nvPr/>
        </p:nvSpPr>
        <p:spPr>
          <a:xfrm>
            <a:off x="9499600" y="3390900"/>
            <a:ext cx="2108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Tra giá và nêu rõ giới hạn tư vấn.</a:t>
            </a: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A6DA3D3A-3AE1-6F13-F882-E8E8EEBD6CBB}"/>
              </a:ext>
            </a:extLst>
          </p:cNvPr>
          <p:cNvSpPr txBox="1"/>
          <p:nvPr/>
        </p:nvSpPr>
        <p:spPr>
          <a:xfrm>
            <a:off x="698500" y="4775200"/>
            <a:ext cx="107823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AI/SMS đã có trong source nhưng chưa cấu hình ở môi trường demo: không khẳng định đã gọi Gemini/Twilio. Trình bày đây là tích hợp tùy chọn, cần consent và cấu hình vận hành.</a:t>
            </a:r>
          </a:p>
        </p:txBody>
      </p:sp>
    </p:spTree>
    <p:extLst>
      <p:ext uri="{BB962C8B-B14F-4D97-AF65-F5344CB8AC3E}">
        <p14:creationId xmlns:p14="http://schemas.microsoft.com/office/powerpoint/2010/main" val="398519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6DB98D0-A589-7BC9-B63D-F62ACCEBCBCA}"/>
              </a:ext>
            </a:extLst>
          </p:cNvPr>
          <p:cNvSpPr txBox="1"/>
          <p:nvPr/>
        </p:nvSpPr>
        <p:spPr>
          <a:xfrm>
            <a:off x="533400" y="254000"/>
            <a:ext cx="10795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900" b="1">
                <a:solidFill>
                  <a:srgbClr val="17685D"/>
                </a:solidFill>
                <a:latin typeface="Aptos" panose="020B0004020202020204" pitchFamily="34" charset="0"/>
              </a:rPr>
              <a:t>12 / CHẠY THỬ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FD0A0470-057D-4F49-5FDD-F621CE570F04}"/>
              </a:ext>
            </a:extLst>
          </p:cNvPr>
          <p:cNvSpPr txBox="1"/>
          <p:nvPr/>
        </p:nvSpPr>
        <p:spPr>
          <a:xfrm>
            <a:off x="533400" y="571500"/>
            <a:ext cx="111252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2200" b="1">
                <a:solidFill>
                  <a:srgbClr val="153F3A"/>
                </a:solidFill>
                <a:latin typeface="Aptos" panose="020B0004020202020204" pitchFamily="34" charset="0"/>
              </a:rPr>
              <a:t>Kịch bản trình bày 10 phút — nhóm chốt người nói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A5D935A-EDFA-0269-45C3-A6F6F82B842B}"/>
              </a:ext>
            </a:extLst>
          </p:cNvPr>
          <p:cNvSpPr txBox="1"/>
          <p:nvPr/>
        </p:nvSpPr>
        <p:spPr>
          <a:xfrm>
            <a:off x="558800" y="1155700"/>
            <a:ext cx="109855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Phân vai gợi ý; thay bằng tên thành viên sau khi thống nhất.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5737F8FB-738D-CC59-52C3-8F9A7CE1FAF5}"/>
              </a:ext>
            </a:extLst>
          </p:cNvPr>
          <p:cNvSpPr/>
          <p:nvPr/>
        </p:nvSpPr>
        <p:spPr>
          <a:xfrm>
            <a:off x="533400" y="6489700"/>
            <a:ext cx="111252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6B78B97-01C9-F39C-EFBA-8746DB99F293}"/>
              </a:ext>
            </a:extLst>
          </p:cNvPr>
          <p:cNvSpPr txBox="1"/>
          <p:nvPr/>
        </p:nvSpPr>
        <p:spPr>
          <a:xfrm>
            <a:off x="546100" y="6565900"/>
            <a:ext cx="8890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800">
                <a:solidFill>
                  <a:srgbClr val="657875"/>
                </a:solidFill>
                <a:latin typeface="Aptos" panose="020B0004020202020204" pitchFamily="34" charset="0"/>
              </a:rPr>
              <a:t>DMS  •  Dental Management System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7730209-5740-0123-11DE-E6D561122FA2}"/>
              </a:ext>
            </a:extLst>
          </p:cNvPr>
          <p:cNvSpPr txBox="1"/>
          <p:nvPr/>
        </p:nvSpPr>
        <p:spPr>
          <a:xfrm>
            <a:off x="10883900" y="6553200"/>
            <a:ext cx="7747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vi-VN" sz="900">
                <a:solidFill>
                  <a:srgbClr val="657875"/>
                </a:solidFill>
                <a:latin typeface="Aptos" panose="020B0004020202020204" pitchFamily="34" charset="0"/>
              </a:rPr>
              <a:t>13 / 13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B5683B63-DC97-03E8-88AA-27B5A03D19B2}"/>
              </a:ext>
            </a:extLst>
          </p:cNvPr>
          <p:cNvSpPr/>
          <p:nvPr/>
        </p:nvSpPr>
        <p:spPr>
          <a:xfrm>
            <a:off x="622300" y="2006600"/>
            <a:ext cx="33909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A26AD84B-8ADB-89E1-E77C-3EE97A78FA99}"/>
              </a:ext>
            </a:extLst>
          </p:cNvPr>
          <p:cNvSpPr/>
          <p:nvPr/>
        </p:nvSpPr>
        <p:spPr>
          <a:xfrm>
            <a:off x="622300" y="2006600"/>
            <a:ext cx="63500" cy="2209800"/>
          </a:xfrm>
          <a:prstGeom prst="rect">
            <a:avLst/>
          </a:prstGeom>
          <a:solidFill>
            <a:srgbClr val="1768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FA40CA8F-2D3C-60A9-19E9-05C7768E1A36}"/>
              </a:ext>
            </a:extLst>
          </p:cNvPr>
          <p:cNvSpPr txBox="1"/>
          <p:nvPr/>
        </p:nvSpPr>
        <p:spPr>
          <a:xfrm>
            <a:off x="812800" y="2146300"/>
            <a:ext cx="304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153F3A"/>
                </a:solidFill>
                <a:latin typeface="Aptos" panose="020B0004020202020204" pitchFamily="34" charset="0"/>
              </a:rPr>
              <a:t>THÀNH VIÊN A · 3 PHÚT</a:t>
            </a:r>
            <a:endParaRPr lang="vi-VN" sz="1400" b="1">
              <a:solidFill>
                <a:srgbClr val="153F3A"/>
              </a:solidFill>
              <a:latin typeface="Aptos" panose="020B0004020202020204" pitchFamily="34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B832DC3-A4FC-DB4C-64F9-0DAD66405CA6}"/>
              </a:ext>
            </a:extLst>
          </p:cNvPr>
          <p:cNvSpPr txBox="1"/>
          <p:nvPr/>
        </p:nvSpPr>
        <p:spPr>
          <a:xfrm>
            <a:off x="812800" y="2540000"/>
            <a:ext cx="304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Bài toán, phạm vi, kiến trúc và dữ liệu (trang 1–5). Người trình bày: ________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35FBC664-0E30-4339-C94E-29F27662FFDF}"/>
              </a:ext>
            </a:extLst>
          </p:cNvPr>
          <p:cNvSpPr/>
          <p:nvPr/>
        </p:nvSpPr>
        <p:spPr>
          <a:xfrm>
            <a:off x="4394200" y="2006600"/>
            <a:ext cx="33909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BA055361-B5BA-A0AA-6D5F-98D62D678AFF}"/>
              </a:ext>
            </a:extLst>
          </p:cNvPr>
          <p:cNvSpPr/>
          <p:nvPr/>
        </p:nvSpPr>
        <p:spPr>
          <a:xfrm>
            <a:off x="4394200" y="2006600"/>
            <a:ext cx="63500" cy="2209800"/>
          </a:xfrm>
          <a:prstGeom prst="rect">
            <a:avLst/>
          </a:prstGeom>
          <a:solidFill>
            <a:srgbClr val="D4A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B87D3821-F0A9-C704-0911-CBB3E748B8FE}"/>
              </a:ext>
            </a:extLst>
          </p:cNvPr>
          <p:cNvSpPr txBox="1"/>
          <p:nvPr/>
        </p:nvSpPr>
        <p:spPr>
          <a:xfrm>
            <a:off x="4584700" y="2146300"/>
            <a:ext cx="304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THÀNH VIÊN B · 3 PHÚT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EAF9CD2B-A7D3-36D8-E6D2-34FE5FE49E0A}"/>
              </a:ext>
            </a:extLst>
          </p:cNvPr>
          <p:cNvSpPr txBox="1"/>
          <p:nvPr/>
        </p:nvSpPr>
        <p:spPr>
          <a:xfrm>
            <a:off x="4584700" y="2540000"/>
            <a:ext cx="304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Đặt lịch, khám, EMR; dẫn demo (trang 6–7, 12). Người trình bày: ________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24607244-B788-E0FF-18CB-D7707F726D96}"/>
              </a:ext>
            </a:extLst>
          </p:cNvPr>
          <p:cNvSpPr/>
          <p:nvPr/>
        </p:nvSpPr>
        <p:spPr>
          <a:xfrm>
            <a:off x="8166100" y="2006600"/>
            <a:ext cx="3390900" cy="220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7E8323AB-ADA9-F53A-536B-604B85A0ECAB}"/>
              </a:ext>
            </a:extLst>
          </p:cNvPr>
          <p:cNvSpPr/>
          <p:nvPr/>
        </p:nvSpPr>
        <p:spPr>
          <a:xfrm>
            <a:off x="8166100" y="2006600"/>
            <a:ext cx="63500" cy="2209800"/>
          </a:xfrm>
          <a:prstGeom prst="rect">
            <a:avLst/>
          </a:prstGeom>
          <a:solidFill>
            <a:srgbClr val="CF75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14982EFF-7609-C8EA-F261-14BBF57A242E}"/>
              </a:ext>
            </a:extLst>
          </p:cNvPr>
          <p:cNvSpPr txBox="1"/>
          <p:nvPr/>
        </p:nvSpPr>
        <p:spPr>
          <a:xfrm>
            <a:off x="8356600" y="2146300"/>
            <a:ext cx="304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400" b="1">
                <a:solidFill>
                  <a:srgbClr val="153F3A"/>
                </a:solidFill>
                <a:latin typeface="Aptos" panose="020B0004020202020204" pitchFamily="34" charset="0"/>
              </a:rPr>
              <a:t>THÀNH VIÊN C · 4 PHÚT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1CD943E3-3631-4A86-7814-FA57E0A8A285}"/>
              </a:ext>
            </a:extLst>
          </p:cNvPr>
          <p:cNvSpPr txBox="1"/>
          <p:nvPr/>
        </p:nvSpPr>
        <p:spPr>
          <a:xfrm>
            <a:off x="8356600" y="2540000"/>
            <a:ext cx="30480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vi-VN" sz="1100">
                <a:solidFill>
                  <a:srgbClr val="657875"/>
                </a:solidFill>
                <a:latin typeface="Aptos" panose="020B0004020202020204" pitchFamily="34" charset="0"/>
              </a:rPr>
              <a:t>Thanh toán, chatbot, an toàn AI (trang 8–11, 13). Người trình bày: ________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A8B6E960-A16D-098F-387C-29FF3AE7792E}"/>
              </a:ext>
            </a:extLst>
          </p:cNvPr>
          <p:cNvSpPr/>
          <p:nvPr/>
        </p:nvSpPr>
        <p:spPr>
          <a:xfrm>
            <a:off x="647700" y="4597400"/>
            <a:ext cx="10896600" cy="1193800"/>
          </a:xfrm>
          <a:prstGeom prst="roundRect">
            <a:avLst/>
          </a:prstGeom>
          <a:solidFill>
            <a:srgbClr val="102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3FC6CCE3-6967-30C2-EC7C-7C694E97F728}"/>
              </a:ext>
            </a:extLst>
          </p:cNvPr>
          <p:cNvSpPr txBox="1"/>
          <p:nvPr/>
        </p:nvSpPr>
        <p:spPr>
          <a:xfrm>
            <a:off x="939800" y="4876800"/>
            <a:ext cx="10312400" cy="21608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vi-VN" sz="1300">
                <a:solidFill>
                  <a:srgbClr val="FFFFFF"/>
                </a:solidFill>
                <a:latin typeface="Aptos" panose="020B0004020202020204" pitchFamily="34" charset="0"/>
              </a:rPr>
              <a:t>Tập dượt: 1 phút chuyển cảnh + 3 phút demo + 6 phút nội dung. Rà chính tả, thuật ngữ, hình ảnh, cỡ chữ và thời lượng.</a:t>
            </a:r>
          </a:p>
        </p:txBody>
      </p:sp>
    </p:spTree>
    <p:extLst>
      <p:ext uri="{BB962C8B-B14F-4D97-AF65-F5344CB8AC3E}">
        <p14:creationId xmlns:p14="http://schemas.microsoft.com/office/powerpoint/2010/main" val="331432625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1558</Words>
  <Application>Microsoft Office PowerPoint</Application>
  <PresentationFormat>Tùy chỉnh</PresentationFormat>
  <Paragraphs>211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Aptos</vt:lpstr>
      <vt:lpstr>Arial</vt:lpstr>
      <vt:lpstr>Times New Roman</vt:lpstr>
      <vt:lpstr>Chủ đề Office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Ngân Đỗ</dc:creator>
  <cp:lastModifiedBy>Ngân Đỗ</cp:lastModifiedBy>
  <cp:revision>1</cp:revision>
  <dcterms:created xsi:type="dcterms:W3CDTF">2026-10-18T03:07:35Z</dcterms:created>
  <dcterms:modified xsi:type="dcterms:W3CDTF">2026-10-18T03:07:35Z</dcterms:modified>
</cp:coreProperties>
</file>