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vi-VN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7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D001FDB-46BD-191D-0949-4A9D8F2CAA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21A968AF-0D25-2541-9C8B-C02765562A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vi-VN"/>
              <a:t>Bấm để chỉnh sửa kiểu tiêu đề phụ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FC2457FD-6C30-3D1F-0D9D-DCC2B0892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A0A315AD-95C3-0681-4702-DE25629DA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DF9D7B09-35F3-08DC-58BF-32D9F8C8D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6753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D9D4283-AF13-2AC6-AA3D-DF330FBAB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99D53FA4-79F9-D31B-3C38-740552758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DA1BB85E-A5F7-0E40-94A0-09A28CE32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F86CEAA0-2B84-ED40-0D41-DB1E26868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5AAA929E-3223-C465-C742-F9AFEC267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52074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47418DD-211B-8FC9-7039-636C8621C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CE5EAE09-1F95-D321-9712-D616FDBE9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05129345-BF79-5550-31A9-C2C2538F7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9C990D2B-B99C-49F5-9733-3C70D5813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03958576-5891-183A-59A5-1750EBE82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09729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67F3A90-BAF5-7C0A-0A49-E1E277D4A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1DC3C6D6-0966-2D3D-EBED-6A5FF8116A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7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316094C3-A8A7-2A69-230E-AC47EFB6D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7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C3B048AC-D3D9-111B-0816-C5D13A49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553B44EF-8914-89A5-884D-D0CD1D0A7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31BD9353-95FC-6359-C327-E212E033E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332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6C20588-04CF-C67D-2E95-80BE03CDD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7A206C37-B696-557F-3B61-3FE047F51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4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157121A1-0101-D248-091E-FAF4270472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6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21B56859-7205-2881-B62F-456B406867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4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29AF2355-BBF8-2B62-5BCE-08486E05DB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6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02E45D68-D369-1A14-CC78-158C53F34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E3F6AF7A-73DA-3ADC-C3ED-A34C5FAC3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227562EA-D8FF-5BCC-ECB7-189221BD8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99014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4C4C4EC-D9F4-7E6A-D076-C1768CC85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2E0048A7-508A-EAA6-55DA-CCD3072FD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6C05CD6C-9EDB-25CF-68E2-080864660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5F49CF0F-9B9D-180F-DDA7-3FBE82D0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4960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D12076FE-E3AC-B0F2-ADEB-E6597A5F5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7AAF4438-CEA0-4987-F9D0-D0C536DA8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847BADD-1BE9-7DB8-3E0D-B66DC613A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93919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8F47CC-ABA4-69AA-406A-91FE3D474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A5AF1DAA-BA0A-87AB-5300-38B277D7B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758B002D-0343-380B-1812-25163710C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7890C21F-C65D-CF35-C762-A7B9224E9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A0A54780-AC09-67CA-8A03-C1D85523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990D2C5C-A7E3-C7CB-FC69-CEFA2109E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6322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12A22-B2FC-56D3-A68B-23FBFAF30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1D18183C-AE42-40E0-C61F-AEE64583E18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vi-VN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5986BE6E-60BA-17B0-E44C-BA865F9A40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723F3659-3129-3426-8951-644373962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2E9F6D57-58CF-6B8E-94CA-45F4C22D4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119D9351-8387-A728-C314-AAFC64621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8435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304DB3A-16C2-04FD-0088-D895E362C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2E5C9E8B-066F-DE93-DA30-FF1A1881DC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45D3D5E5-6199-0AE9-D607-5A15BC59D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2C302B96-13EB-889A-135B-393724ABB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D5DF589F-79C8-0B3F-D0D1-906644923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78087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87E17429-5A9C-A43C-72CD-D6E77D9840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589C710B-4002-1CB1-DDE3-88E6BC431F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9B1A4A7C-2244-5FE0-3243-1BC85D602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76CE6E8D-8448-A749-05F9-4913131A6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8392E8FC-66D8-0F36-767F-004C2B5E4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09317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D4814B6A-87B3-6C37-7541-57852AB7C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5C965FFA-23AD-D90F-F0E1-52D776017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B900CFFE-2069-0429-96C0-ACD1BC05AB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967DC-81E8-40D5-81A8-0D625F75E3D3}" type="datetimeFigureOut">
              <a:rPr lang="vi-VN" smtClean="0"/>
              <a:t>18/10/2026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1696AAE4-8223-EC7F-6633-37263CA126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B1886786-CF9A-9872-4D0A-CFF34BE37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5F16BE-67EA-4F6D-86FE-98E4BE054E9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93266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FF4C59B5-91ED-8455-2E29-3D5CF79D1A91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: Góc Tròn 2">
            <a:extLst>
              <a:ext uri="{FF2B5EF4-FFF2-40B4-BE49-F238E27FC236}">
                <a16:creationId xmlns:a16="http://schemas.microsoft.com/office/drawing/2014/main" id="{F04D786C-9A60-ED28-0CAB-B5FAD19A09FA}"/>
              </a:ext>
            </a:extLst>
          </p:cNvPr>
          <p:cNvSpPr/>
          <p:nvPr/>
        </p:nvSpPr>
        <p:spPr>
          <a:xfrm>
            <a:off x="609600" y="546100"/>
            <a:ext cx="22860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84A85A82-3597-98E6-6528-0036DF302A2B}"/>
              </a:ext>
            </a:extLst>
          </p:cNvPr>
          <p:cNvSpPr txBox="1"/>
          <p:nvPr/>
        </p:nvSpPr>
        <p:spPr>
          <a:xfrm>
            <a:off x="685800" y="584200"/>
            <a:ext cx="2133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TỔNG QUAN DỰ ÁN</a:t>
            </a: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ED01BBEC-712C-D54F-7271-23ED26C7C764}"/>
              </a:ext>
            </a:extLst>
          </p:cNvPr>
          <p:cNvSpPr txBox="1"/>
          <p:nvPr/>
        </p:nvSpPr>
        <p:spPr>
          <a:xfrm>
            <a:off x="609600" y="1282700"/>
            <a:ext cx="450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3300" b="1">
                <a:solidFill>
                  <a:srgbClr val="153F3A"/>
                </a:solidFill>
                <a:latin typeface="Aptos" panose="020B0004020202020204" pitchFamily="34" charset="0"/>
              </a:rPr>
              <a:t>Quản lý nha khoa</a:t>
            </a:r>
          </a:p>
          <a:p>
            <a:pPr>
              <a:spcAft>
                <a:spcPts val="400"/>
              </a:spcAft>
            </a:pPr>
            <a:r>
              <a:rPr lang="vi-VN" sz="3300" b="1">
                <a:solidFill>
                  <a:srgbClr val="153F3A"/>
                </a:solidFill>
                <a:latin typeface="Aptos" panose="020B0004020202020204" pitchFamily="34" charset="0"/>
              </a:rPr>
              <a:t>liền mạch, rõ ràng</a:t>
            </a:r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52595E60-4717-B33C-FD46-F9876592076A}"/>
              </a:ext>
            </a:extLst>
          </p:cNvPr>
          <p:cNvSpPr txBox="1"/>
          <p:nvPr/>
        </p:nvSpPr>
        <p:spPr>
          <a:xfrm>
            <a:off x="635000" y="2819400"/>
            <a:ext cx="431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700" b="1">
                <a:solidFill>
                  <a:srgbClr val="17685D"/>
                </a:solidFill>
                <a:latin typeface="Aptos" panose="020B0004020202020204" pitchFamily="34" charset="0"/>
              </a:rPr>
              <a:t>Dental Management System (DMS)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747FE495-4CEB-0F6F-065B-2CC29DB94F89}"/>
              </a:ext>
            </a:extLst>
          </p:cNvPr>
          <p:cNvSpPr txBox="1"/>
          <p:nvPr/>
        </p:nvSpPr>
        <p:spPr>
          <a:xfrm>
            <a:off x="635000" y="3416300"/>
            <a:ext cx="4191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>
                <a:solidFill>
                  <a:srgbClr val="657875"/>
                </a:solidFill>
                <a:latin typeface="Aptos" panose="020B0004020202020204" pitchFamily="34" charset="0"/>
              </a:rPr>
              <a:t>Kết nối lịch hẹn, khám bệnh, hóa đơn và tư vấn thông tin.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519BBCC0-6527-3735-F05A-9D8281AA2424}"/>
              </a:ext>
            </a:extLst>
          </p:cNvPr>
          <p:cNvSpPr/>
          <p:nvPr/>
        </p:nvSpPr>
        <p:spPr>
          <a:xfrm>
            <a:off x="609600" y="4851400"/>
            <a:ext cx="30734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FE89E29F-DCEA-3554-2F64-FBC0529BA2A3}"/>
              </a:ext>
            </a:extLst>
          </p:cNvPr>
          <p:cNvSpPr txBox="1"/>
          <p:nvPr/>
        </p:nvSpPr>
        <p:spPr>
          <a:xfrm>
            <a:off x="685800" y="4889500"/>
            <a:ext cx="2921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HIỆN TRẠNG + ĐỊNH HƯỚNG AI</a:t>
            </a:r>
          </a:p>
        </p:txBody>
      </p:sp>
      <p:sp>
        <p:nvSpPr>
          <p:cNvPr id="10" name="Hình chữ nhật: Góc Tròn 9">
            <a:extLst>
              <a:ext uri="{FF2B5EF4-FFF2-40B4-BE49-F238E27FC236}">
                <a16:creationId xmlns:a16="http://schemas.microsoft.com/office/drawing/2014/main" id="{7A688EF5-CB24-7CE3-8037-7FEBB744CEFE}"/>
              </a:ext>
            </a:extLst>
          </p:cNvPr>
          <p:cNvSpPr/>
          <p:nvPr/>
        </p:nvSpPr>
        <p:spPr>
          <a:xfrm>
            <a:off x="5308600" y="1270000"/>
            <a:ext cx="6273800" cy="396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2" name="Hình ảnh 11">
            <a:extLst>
              <a:ext uri="{FF2B5EF4-FFF2-40B4-BE49-F238E27FC236}">
                <a16:creationId xmlns:a16="http://schemas.microsoft.com/office/drawing/2014/main" id="{1CF8708A-3CF9-B3BB-F0C6-57524C6924E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1320800"/>
            <a:ext cx="6172200" cy="3860800"/>
          </a:xfrm>
          <a:prstGeom prst="rect">
            <a:avLst/>
          </a:prstGeom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DAE13EA1-E2CF-C3DF-BF27-0E17750FA840}"/>
              </a:ext>
            </a:extLst>
          </p:cNvPr>
          <p:cNvSpPr txBox="1"/>
          <p:nvPr/>
        </p:nvSpPr>
        <p:spPr>
          <a:xfrm>
            <a:off x="5384800" y="5334000"/>
            <a:ext cx="6057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Giao diện thật · dữ liệu demo</a:t>
            </a:r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7A57AB89-B61D-7FBE-E346-AFC340605673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DEA400AF-8C38-C539-8A2C-61581D62D734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6EAD4EEE-FE8F-14B1-E12C-13E84A1EF7E5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01 / 13</a:t>
            </a:r>
          </a:p>
        </p:txBody>
      </p:sp>
    </p:spTree>
    <p:extLst>
      <p:ext uri="{BB962C8B-B14F-4D97-AF65-F5344CB8AC3E}">
        <p14:creationId xmlns:p14="http://schemas.microsoft.com/office/powerpoint/2010/main" val="2124590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48BFBCEA-6FCE-DB3B-0F34-5B2A1C1FFBC4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01 / BỐI CẢNH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DADB7A87-A5DC-0C53-71A4-3F2401F06661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Từ thao tác rời rạc tới quy trình phối hợp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4B4AE960-7985-BCBE-3583-9E913BD4DAA0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Dự án số hóa vận hành phòng khám và tạo dữ liệu nhất quán giữa các vai trò.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30189FD9-F662-FE10-0DC0-766BDBA562D4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DCA59BFB-622F-FEB5-FB18-CDBEE8E584C3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0599A72A-5001-396A-EC22-03C6CC992947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02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CEBE457E-B993-C70A-7C88-7C15C1341056}"/>
              </a:ext>
            </a:extLst>
          </p:cNvPr>
          <p:cNvSpPr/>
          <p:nvPr/>
        </p:nvSpPr>
        <p:spPr>
          <a:xfrm>
            <a:off x="584200" y="1917700"/>
            <a:ext cx="3429000" cy="142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668090B9-7CCF-2786-A32D-974B8152CBC9}"/>
              </a:ext>
            </a:extLst>
          </p:cNvPr>
          <p:cNvSpPr/>
          <p:nvPr/>
        </p:nvSpPr>
        <p:spPr>
          <a:xfrm>
            <a:off x="584200" y="1917700"/>
            <a:ext cx="63500" cy="14224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E4D16DD-DB77-9023-2757-758EAA49EC58}"/>
              </a:ext>
            </a:extLst>
          </p:cNvPr>
          <p:cNvSpPr txBox="1"/>
          <p:nvPr/>
        </p:nvSpPr>
        <p:spPr>
          <a:xfrm>
            <a:off x="774700" y="20574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Thách thức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A7A3A238-4A1B-1793-21F3-CCB641F2B822}"/>
              </a:ext>
            </a:extLst>
          </p:cNvPr>
          <p:cNvSpPr txBox="1"/>
          <p:nvPr/>
        </p:nvSpPr>
        <p:spPr>
          <a:xfrm>
            <a:off x="774700" y="24511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Lịch, thông tin khám và thu phí cần phối hợp giữa lễ tân, bác sĩ và quản trị.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2E0304B2-1D5E-452E-6111-81547F4E3381}"/>
              </a:ext>
            </a:extLst>
          </p:cNvPr>
          <p:cNvSpPr/>
          <p:nvPr/>
        </p:nvSpPr>
        <p:spPr>
          <a:xfrm>
            <a:off x="4381500" y="1917700"/>
            <a:ext cx="3429000" cy="142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A07DB99E-2768-B135-3712-A9327DD9B83F}"/>
              </a:ext>
            </a:extLst>
          </p:cNvPr>
          <p:cNvSpPr/>
          <p:nvPr/>
        </p:nvSpPr>
        <p:spPr>
          <a:xfrm>
            <a:off x="4381500" y="1917700"/>
            <a:ext cx="63500" cy="14224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672D2861-C9C1-9E22-85FE-6CB076251FC8}"/>
              </a:ext>
            </a:extLst>
          </p:cNvPr>
          <p:cNvSpPr txBox="1"/>
          <p:nvPr/>
        </p:nvSpPr>
        <p:spPr>
          <a:xfrm>
            <a:off x="4572000" y="20574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Giải pháp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AEBECF6B-0217-6A76-61CB-131B2DF4C375}"/>
              </a:ext>
            </a:extLst>
          </p:cNvPr>
          <p:cNvSpPr txBox="1"/>
          <p:nvPr/>
        </p:nvSpPr>
        <p:spPr>
          <a:xfrm>
            <a:off x="4572000" y="24511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Quản lý bệnh nhân, lịch, EMR, dịch vụ, hóa đơn, thanh toán và thống kê.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A4FECE51-EA23-1E24-EAA4-47F9DAB4E768}"/>
              </a:ext>
            </a:extLst>
          </p:cNvPr>
          <p:cNvSpPr/>
          <p:nvPr/>
        </p:nvSpPr>
        <p:spPr>
          <a:xfrm>
            <a:off x="8178800" y="1917700"/>
            <a:ext cx="3429000" cy="1422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45520FB9-F7A0-952F-0496-E271EBCF0409}"/>
              </a:ext>
            </a:extLst>
          </p:cNvPr>
          <p:cNvSpPr/>
          <p:nvPr/>
        </p:nvSpPr>
        <p:spPr>
          <a:xfrm>
            <a:off x="8178800" y="1917700"/>
            <a:ext cx="63500" cy="14224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3B819F44-C5CA-3F52-BAB4-8043CD3A365C}"/>
              </a:ext>
            </a:extLst>
          </p:cNvPr>
          <p:cNvSpPr txBox="1"/>
          <p:nvPr/>
        </p:nvSpPr>
        <p:spPr>
          <a:xfrm>
            <a:off x="8369300" y="20574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Người dùng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DA5FD19B-9434-8982-6965-20ECD91D2047}"/>
              </a:ext>
            </a:extLst>
          </p:cNvPr>
          <p:cNvSpPr txBox="1"/>
          <p:nvPr/>
        </p:nvSpPr>
        <p:spPr>
          <a:xfrm>
            <a:off x="8369300" y="2451100"/>
            <a:ext cx="308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Quản trị, lễ tân và bác sĩ; quyền thao tác khác nhau theo vai trò.</a:t>
            </a:r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B25122A1-55FE-2A0E-A61A-48C28A969C45}"/>
              </a:ext>
            </a:extLst>
          </p:cNvPr>
          <p:cNvSpPr txBox="1"/>
          <p:nvPr/>
        </p:nvSpPr>
        <p:spPr>
          <a:xfrm>
            <a:off x="647700" y="3733800"/>
            <a:ext cx="5143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PHẠM VI CHỨC NĂNG</a:t>
            </a: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E3142730-A9EE-A049-AE81-3565D5478949}"/>
              </a:ext>
            </a:extLst>
          </p:cNvPr>
          <p:cNvSpPr txBox="1"/>
          <p:nvPr/>
        </p:nvSpPr>
        <p:spPr>
          <a:xfrm>
            <a:off x="673100" y="4165600"/>
            <a:ext cx="4953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Bệnh nhân và lịch hẹn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EMR và dịch vụ chỉ định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Hóa đơn, tiền mặt, QR đối soát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Chatbot tra giá / khung giờ</a:t>
            </a:r>
          </a:p>
          <a:p>
            <a:pPr>
              <a:spcAft>
                <a:spcPts val="400"/>
              </a:spcAft>
            </a:pPr>
            <a:r>
              <a:rPr lang="vi-VN" sz="1400">
                <a:solidFill>
                  <a:srgbClr val="153F3A"/>
                </a:solidFill>
                <a:latin typeface="Aptos" panose="020B0004020202020204" pitchFamily="34" charset="0"/>
              </a:rPr>
              <a:t>• Dashboard doanh thu / lượt khám</a:t>
            </a:r>
          </a:p>
        </p:txBody>
      </p:sp>
      <p:sp>
        <p:nvSpPr>
          <p:cNvPr id="22" name="Hình chữ nhật: Góc Tròn 21">
            <a:extLst>
              <a:ext uri="{FF2B5EF4-FFF2-40B4-BE49-F238E27FC236}">
                <a16:creationId xmlns:a16="http://schemas.microsoft.com/office/drawing/2014/main" id="{25FCC992-6B1F-E9F7-7E40-2F2C4E536627}"/>
              </a:ext>
            </a:extLst>
          </p:cNvPr>
          <p:cNvSpPr/>
          <p:nvPr/>
        </p:nvSpPr>
        <p:spPr>
          <a:xfrm>
            <a:off x="6223000" y="3848100"/>
            <a:ext cx="5359400" cy="18415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A5429DB9-70AA-DE0F-0CEA-E181FC571E94}"/>
              </a:ext>
            </a:extLst>
          </p:cNvPr>
          <p:cNvSpPr txBox="1"/>
          <p:nvPr/>
        </p:nvSpPr>
        <p:spPr>
          <a:xfrm>
            <a:off x="6515100" y="4102100"/>
            <a:ext cx="4749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500" b="1">
                <a:solidFill>
                  <a:srgbClr val="153F3A"/>
                </a:solidFill>
                <a:latin typeface="Aptos" panose="020B0004020202020204" pitchFamily="34" charset="0"/>
              </a:rPr>
              <a:t>Hiện trạng và đề xuất</a:t>
            </a:r>
          </a:p>
        </p:txBody>
      </p: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D610F5A8-B2D2-7606-B3C0-8ACD6F385992}"/>
              </a:ext>
            </a:extLst>
          </p:cNvPr>
          <p:cNvSpPr txBox="1"/>
          <p:nvPr/>
        </p:nvSpPr>
        <p:spPr>
          <a:xfrm>
            <a:off x="6515100" y="45339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300">
                <a:solidFill>
                  <a:srgbClr val="657875"/>
                </a:solidFill>
                <a:latin typeface="Aptos" panose="020B0004020202020204" pitchFamily="34" charset="0"/>
              </a:rPr>
              <a:t>Chatbot hiện tra cứu theo quy tắc và dữ liệu hệ thống. Tóm tắt EMR, nhắc tái khám bằng AI chưa được triển khai.</a:t>
            </a:r>
          </a:p>
        </p:txBody>
      </p:sp>
    </p:spTree>
    <p:extLst>
      <p:ext uri="{BB962C8B-B14F-4D97-AF65-F5344CB8AC3E}">
        <p14:creationId xmlns:p14="http://schemas.microsoft.com/office/powerpoint/2010/main" val="1334713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3B09823-3B35-404F-9E3C-6C21340CFFF7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02 / QUY TRÌNH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419CB675-1BBA-9A67-3DCA-C5988EF2BDC2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Một hành trình dữ liệu, giá trị ở mỗi bước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AEF7DEF-F7ED-4361-4481-A7F55CF5B087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Các bước nối từ tiếp nhận tới thống kê, theo đúng quyền được cấp.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BA40CFCF-2815-E3F9-6199-BAB180F45ABD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73940047-1B9B-FECE-B0A7-3623FDA1F38A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E4FD79B5-190F-4B40-95C1-320337E155D9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03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042DA968-DB7B-7127-EE3D-FE6CC7E0136D}"/>
              </a:ext>
            </a:extLst>
          </p:cNvPr>
          <p:cNvSpPr/>
          <p:nvPr/>
        </p:nvSpPr>
        <p:spPr>
          <a:xfrm>
            <a:off x="6604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: Góc Tròn 8">
            <a:extLst>
              <a:ext uri="{FF2B5EF4-FFF2-40B4-BE49-F238E27FC236}">
                <a16:creationId xmlns:a16="http://schemas.microsoft.com/office/drawing/2014/main" id="{9DA12BB6-FA5C-366C-375B-B4E78BF4A58A}"/>
              </a:ext>
            </a:extLst>
          </p:cNvPr>
          <p:cNvSpPr/>
          <p:nvPr/>
        </p:nvSpPr>
        <p:spPr>
          <a:xfrm>
            <a:off x="8636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B1236A46-8A2D-97D3-872C-72F4C54B588F}"/>
              </a:ext>
            </a:extLst>
          </p:cNvPr>
          <p:cNvSpPr txBox="1"/>
          <p:nvPr/>
        </p:nvSpPr>
        <p:spPr>
          <a:xfrm>
            <a:off x="9398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LỄ TÂN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FEABA842-4BB8-8F7E-14B2-45F193025529}"/>
              </a:ext>
            </a:extLst>
          </p:cNvPr>
          <p:cNvSpPr txBox="1"/>
          <p:nvPr/>
        </p:nvSpPr>
        <p:spPr>
          <a:xfrm>
            <a:off x="8636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Tra hồ sơ, xem ca làm, đặt lịch hẹn.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31BBA103-36B1-E432-B8E8-37420D0B16B3}"/>
              </a:ext>
            </a:extLst>
          </p:cNvPr>
          <p:cNvSpPr/>
          <p:nvPr/>
        </p:nvSpPr>
        <p:spPr>
          <a:xfrm>
            <a:off x="2857500" y="3276600"/>
            <a:ext cx="6858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: Góc Tròn 12">
            <a:extLst>
              <a:ext uri="{FF2B5EF4-FFF2-40B4-BE49-F238E27FC236}">
                <a16:creationId xmlns:a16="http://schemas.microsoft.com/office/drawing/2014/main" id="{02C72959-E530-4CE8-2162-0871BA1A1C81}"/>
              </a:ext>
            </a:extLst>
          </p:cNvPr>
          <p:cNvSpPr/>
          <p:nvPr/>
        </p:nvSpPr>
        <p:spPr>
          <a:xfrm>
            <a:off x="35560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ình chữ nhật: Góc Tròn 13">
            <a:extLst>
              <a:ext uri="{FF2B5EF4-FFF2-40B4-BE49-F238E27FC236}">
                <a16:creationId xmlns:a16="http://schemas.microsoft.com/office/drawing/2014/main" id="{D85756A2-F58D-65AF-1624-A84A29E9083B}"/>
              </a:ext>
            </a:extLst>
          </p:cNvPr>
          <p:cNvSpPr/>
          <p:nvPr/>
        </p:nvSpPr>
        <p:spPr>
          <a:xfrm>
            <a:off x="37592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6B61C3DD-A9D3-1599-6E0D-793294D67503}"/>
              </a:ext>
            </a:extLst>
          </p:cNvPr>
          <p:cNvSpPr txBox="1"/>
          <p:nvPr/>
        </p:nvSpPr>
        <p:spPr>
          <a:xfrm>
            <a:off x="38354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BÁC SĨ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E972EFC3-77B0-FF16-6157-AAD75253EA2D}"/>
              </a:ext>
            </a:extLst>
          </p:cNvPr>
          <p:cNvSpPr txBox="1"/>
          <p:nvPr/>
        </p:nvSpPr>
        <p:spPr>
          <a:xfrm>
            <a:off x="37592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Khám, cập nhật EMR, chọn dịch vụ chỉ định.</a:t>
            </a:r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3AA86FCA-CE3D-2CDD-AE14-4983E448D2D6}"/>
              </a:ext>
            </a:extLst>
          </p:cNvPr>
          <p:cNvSpPr/>
          <p:nvPr/>
        </p:nvSpPr>
        <p:spPr>
          <a:xfrm>
            <a:off x="5753100" y="3276600"/>
            <a:ext cx="6858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ình chữ nhật: Góc Tròn 17">
            <a:extLst>
              <a:ext uri="{FF2B5EF4-FFF2-40B4-BE49-F238E27FC236}">
                <a16:creationId xmlns:a16="http://schemas.microsoft.com/office/drawing/2014/main" id="{F4624AD4-3216-D6F1-31E9-27C2B64B91CA}"/>
              </a:ext>
            </a:extLst>
          </p:cNvPr>
          <p:cNvSpPr/>
          <p:nvPr/>
        </p:nvSpPr>
        <p:spPr>
          <a:xfrm>
            <a:off x="64516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ình chữ nhật: Góc Tròn 18">
            <a:extLst>
              <a:ext uri="{FF2B5EF4-FFF2-40B4-BE49-F238E27FC236}">
                <a16:creationId xmlns:a16="http://schemas.microsoft.com/office/drawing/2014/main" id="{A066517F-FEB9-10A2-0DF6-44EE8A5A15A9}"/>
              </a:ext>
            </a:extLst>
          </p:cNvPr>
          <p:cNvSpPr/>
          <p:nvPr/>
        </p:nvSpPr>
        <p:spPr>
          <a:xfrm>
            <a:off x="66548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ộp Văn bản 19">
            <a:extLst>
              <a:ext uri="{FF2B5EF4-FFF2-40B4-BE49-F238E27FC236}">
                <a16:creationId xmlns:a16="http://schemas.microsoft.com/office/drawing/2014/main" id="{1E5E365A-64FE-B8DD-259D-98456AA06961}"/>
              </a:ext>
            </a:extLst>
          </p:cNvPr>
          <p:cNvSpPr txBox="1"/>
          <p:nvPr/>
        </p:nvSpPr>
        <p:spPr>
          <a:xfrm>
            <a:off x="67310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LỄ TÂN</a:t>
            </a:r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238D5C38-9FF5-E6AF-5E90-11C2523EEB57}"/>
              </a:ext>
            </a:extLst>
          </p:cNvPr>
          <p:cNvSpPr txBox="1"/>
          <p:nvPr/>
        </p:nvSpPr>
        <p:spPr>
          <a:xfrm>
            <a:off x="66548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Tạo hóa đơn, nhận tiền hoặc đối soát QR.</a:t>
            </a:r>
          </a:p>
        </p:txBody>
      </p:sp>
      <p:sp>
        <p:nvSpPr>
          <p:cNvPr id="22" name="Hình chữ nhật 21">
            <a:extLst>
              <a:ext uri="{FF2B5EF4-FFF2-40B4-BE49-F238E27FC236}">
                <a16:creationId xmlns:a16="http://schemas.microsoft.com/office/drawing/2014/main" id="{5B52927E-4490-A58A-C0A6-9858E43A68FE}"/>
              </a:ext>
            </a:extLst>
          </p:cNvPr>
          <p:cNvSpPr/>
          <p:nvPr/>
        </p:nvSpPr>
        <p:spPr>
          <a:xfrm>
            <a:off x="8648700" y="3276600"/>
            <a:ext cx="6858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Hình chữ nhật: Góc Tròn 22">
            <a:extLst>
              <a:ext uri="{FF2B5EF4-FFF2-40B4-BE49-F238E27FC236}">
                <a16:creationId xmlns:a16="http://schemas.microsoft.com/office/drawing/2014/main" id="{9407B38B-3DAF-5B68-A048-D15220FA2614}"/>
              </a:ext>
            </a:extLst>
          </p:cNvPr>
          <p:cNvSpPr/>
          <p:nvPr/>
        </p:nvSpPr>
        <p:spPr>
          <a:xfrm>
            <a:off x="9347200" y="2247900"/>
            <a:ext cx="21590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Hình chữ nhật: Góc Tròn 23">
            <a:extLst>
              <a:ext uri="{FF2B5EF4-FFF2-40B4-BE49-F238E27FC236}">
                <a16:creationId xmlns:a16="http://schemas.microsoft.com/office/drawing/2014/main" id="{9753EFE8-8398-53C2-E08F-C0BF88C9519D}"/>
              </a:ext>
            </a:extLst>
          </p:cNvPr>
          <p:cNvSpPr/>
          <p:nvPr/>
        </p:nvSpPr>
        <p:spPr>
          <a:xfrm>
            <a:off x="9550400" y="2463800"/>
            <a:ext cx="1727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ộp Văn bản 24">
            <a:extLst>
              <a:ext uri="{FF2B5EF4-FFF2-40B4-BE49-F238E27FC236}">
                <a16:creationId xmlns:a16="http://schemas.microsoft.com/office/drawing/2014/main" id="{8C3DE32C-6F6E-2145-A9C7-D4722AA81367}"/>
              </a:ext>
            </a:extLst>
          </p:cNvPr>
          <p:cNvSpPr txBox="1"/>
          <p:nvPr/>
        </p:nvSpPr>
        <p:spPr>
          <a:xfrm>
            <a:off x="9626600" y="2501900"/>
            <a:ext cx="1574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QUẢN TRỊ</a:t>
            </a:r>
          </a:p>
        </p:txBody>
      </p:sp>
      <p:sp>
        <p:nvSpPr>
          <p:cNvPr id="26" name="Hộp Văn bản 25">
            <a:extLst>
              <a:ext uri="{FF2B5EF4-FFF2-40B4-BE49-F238E27FC236}">
                <a16:creationId xmlns:a16="http://schemas.microsoft.com/office/drawing/2014/main" id="{44638B24-2782-BDF5-F880-09DB93B8AEE6}"/>
              </a:ext>
            </a:extLst>
          </p:cNvPr>
          <p:cNvSpPr txBox="1"/>
          <p:nvPr/>
        </p:nvSpPr>
        <p:spPr>
          <a:xfrm>
            <a:off x="9550400" y="3009900"/>
            <a:ext cx="1765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Xem doanh thu và lượt khám theo thời gian.</a:t>
            </a:r>
          </a:p>
        </p:txBody>
      </p:sp>
      <p:sp>
        <p:nvSpPr>
          <p:cNvPr id="27" name="Hình chữ nhật: Góc Tròn 26">
            <a:extLst>
              <a:ext uri="{FF2B5EF4-FFF2-40B4-BE49-F238E27FC236}">
                <a16:creationId xmlns:a16="http://schemas.microsoft.com/office/drawing/2014/main" id="{9AAC405A-EE72-3D9F-D65A-6BD523B70554}"/>
              </a:ext>
            </a:extLst>
          </p:cNvPr>
          <p:cNvSpPr/>
          <p:nvPr/>
        </p:nvSpPr>
        <p:spPr>
          <a:xfrm>
            <a:off x="863600" y="5016500"/>
            <a:ext cx="10464800" cy="876300"/>
          </a:xfrm>
          <a:prstGeom prst="roundRect">
            <a:avLst/>
          </a:prstGeom>
          <a:solidFill>
            <a:srgbClr val="102D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Hộp Văn bản 27">
            <a:extLst>
              <a:ext uri="{FF2B5EF4-FFF2-40B4-BE49-F238E27FC236}">
                <a16:creationId xmlns:a16="http://schemas.microsoft.com/office/drawing/2014/main" id="{DE92A836-DE30-2E44-EC04-00619AF1B795}"/>
              </a:ext>
            </a:extLst>
          </p:cNvPr>
          <p:cNvSpPr txBox="1"/>
          <p:nvPr/>
        </p:nvSpPr>
        <p:spPr>
          <a:xfrm>
            <a:off x="1092200" y="5308600"/>
            <a:ext cx="10007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700" b="1">
                <a:solidFill>
                  <a:srgbClr val="FFFFFF"/>
                </a:solidFill>
                <a:latin typeface="Aptos" panose="020B0004020202020204" pitchFamily="34" charset="0"/>
              </a:rPr>
              <a:t>Bệnh nhân → lịch → EMR → hóa đơn / giao dịch → dashboard</a:t>
            </a:r>
          </a:p>
        </p:txBody>
      </p:sp>
    </p:spTree>
    <p:extLst>
      <p:ext uri="{BB962C8B-B14F-4D97-AF65-F5344CB8AC3E}">
        <p14:creationId xmlns:p14="http://schemas.microsoft.com/office/powerpoint/2010/main" val="504525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99E9CDA8-C22A-B052-5D66-82293EE29A1F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03 / KIẾN TRÚC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BE67E87-EC2E-AF2C-7332-FB406E4B5303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Web, API, dữ liệu theo module nghiệp vụ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2E9215C9-416C-EC41-3A8A-9A65E6DF873E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Tóm lược cấu trúc frontend và backend trong repository.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5B427087-2183-8DAA-096D-DDEDC4F0ECFB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271B8F75-7A1A-7043-D5E8-0CEEBF94BB5F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C5E2B8A5-425D-0767-06F2-C231C7958240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04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C0C6570D-4E4D-499D-EB17-7BE9F333C09B}"/>
              </a:ext>
            </a:extLst>
          </p:cNvPr>
          <p:cNvSpPr/>
          <p:nvPr/>
        </p:nvSpPr>
        <p:spPr>
          <a:xfrm>
            <a:off x="635000" y="2019300"/>
            <a:ext cx="2413000" cy="1651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CB115422-73EC-7D7D-1DA2-204FB23643AE}"/>
              </a:ext>
            </a:extLst>
          </p:cNvPr>
          <p:cNvSpPr txBox="1"/>
          <p:nvPr/>
        </p:nvSpPr>
        <p:spPr>
          <a:xfrm>
            <a:off x="825500" y="2273300"/>
            <a:ext cx="2032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FRONTEND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1C14E47F-B3EC-E228-F516-F665A90563CC}"/>
              </a:ext>
            </a:extLst>
          </p:cNvPr>
          <p:cNvSpPr txBox="1"/>
          <p:nvPr/>
        </p:nvSpPr>
        <p:spPr>
          <a:xfrm>
            <a:off x="825500" y="2743200"/>
            <a:ext cx="2032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600" b="1">
                <a:solidFill>
                  <a:srgbClr val="153F3A"/>
                </a:solidFill>
                <a:latin typeface="Aptos" panose="020B0004020202020204" pitchFamily="34" charset="0"/>
              </a:rPr>
              <a:t>React UI</a:t>
            </a:r>
          </a:p>
          <a:p>
            <a:pPr algn="ctr">
              <a:spcAft>
                <a:spcPts val="400"/>
              </a:spcAft>
            </a:pPr>
            <a:r>
              <a:rPr lang="vi-VN" sz="1600" b="1">
                <a:solidFill>
                  <a:srgbClr val="153F3A"/>
                </a:solidFill>
                <a:latin typeface="Aptos" panose="020B0004020202020204" pitchFamily="34" charset="0"/>
              </a:rPr>
              <a:t>Vite · trình duyệt</a:t>
            </a:r>
          </a:p>
        </p:txBody>
      </p:sp>
      <p:sp>
        <p:nvSpPr>
          <p:cNvPr id="11" name="Hình chữ nhật: Góc Tròn 10">
            <a:extLst>
              <a:ext uri="{FF2B5EF4-FFF2-40B4-BE49-F238E27FC236}">
                <a16:creationId xmlns:a16="http://schemas.microsoft.com/office/drawing/2014/main" id="{D8B4E697-C587-3CEB-62A5-7C6E0CC9FED4}"/>
              </a:ext>
            </a:extLst>
          </p:cNvPr>
          <p:cNvSpPr/>
          <p:nvPr/>
        </p:nvSpPr>
        <p:spPr>
          <a:xfrm>
            <a:off x="3619500" y="2019300"/>
            <a:ext cx="4610100" cy="16510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C1A21F8-E7E9-5439-AF32-27791F2B856F}"/>
              </a:ext>
            </a:extLst>
          </p:cNvPr>
          <p:cNvSpPr txBox="1"/>
          <p:nvPr/>
        </p:nvSpPr>
        <p:spPr>
          <a:xfrm>
            <a:off x="3810000" y="2273300"/>
            <a:ext cx="42164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DJANGO REST API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30521D7A-9E7F-9DCB-590E-6B3C064EA098}"/>
              </a:ext>
            </a:extLst>
          </p:cNvPr>
          <p:cNvSpPr txBox="1"/>
          <p:nvPr/>
        </p:nvSpPr>
        <p:spPr>
          <a:xfrm>
            <a:off x="3810000" y="2730500"/>
            <a:ext cx="42164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en-US" sz="1300" b="1">
                <a:solidFill>
                  <a:srgbClr val="153F3A"/>
                </a:solidFill>
                <a:latin typeface="Aptos" panose="020B0004020202020204" pitchFamily="34" charset="0"/>
              </a:rPr>
              <a:t>authentication · clinic</a:t>
            </a:r>
          </a:p>
          <a:p>
            <a:pPr algn="ctr">
              <a:spcAft>
                <a:spcPts val="400"/>
              </a:spcAft>
            </a:pPr>
            <a:r>
              <a:rPr lang="en-US" sz="1300" b="1">
                <a:solidFill>
                  <a:srgbClr val="153F3A"/>
                </a:solidFill>
                <a:latin typeface="Aptos" panose="020B0004020202020204" pitchFamily="34" charset="0"/>
              </a:rPr>
              <a:t>appointments · chatbot/dashboard</a:t>
            </a:r>
            <a:endParaRPr lang="vi-VN" sz="1300" b="1">
              <a:solidFill>
                <a:srgbClr val="153F3A"/>
              </a:solidFill>
              <a:latin typeface="Aptos" panose="020B0004020202020204" pitchFamily="34" charset="0"/>
            </a:endParaRPr>
          </a:p>
        </p:txBody>
      </p:sp>
      <p:sp>
        <p:nvSpPr>
          <p:cNvPr id="14" name="Hình chữ nhật: Góc Tròn 13">
            <a:extLst>
              <a:ext uri="{FF2B5EF4-FFF2-40B4-BE49-F238E27FC236}">
                <a16:creationId xmlns:a16="http://schemas.microsoft.com/office/drawing/2014/main" id="{AD9B3B59-A27D-EE63-79DB-09F38DCE3398}"/>
              </a:ext>
            </a:extLst>
          </p:cNvPr>
          <p:cNvSpPr/>
          <p:nvPr/>
        </p:nvSpPr>
        <p:spPr>
          <a:xfrm>
            <a:off x="8813800" y="2019300"/>
            <a:ext cx="2743200" cy="1651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030D6FCF-9965-9D17-4168-17E051B19C2F}"/>
              </a:ext>
            </a:extLst>
          </p:cNvPr>
          <p:cNvSpPr txBox="1"/>
          <p:nvPr/>
        </p:nvSpPr>
        <p:spPr>
          <a:xfrm>
            <a:off x="8991600" y="2273300"/>
            <a:ext cx="2374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CƠ SỞ DỮ LIỆU</a:t>
            </a:r>
          </a:p>
        </p:txBody>
      </p:sp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ED6A26CE-A89F-8CDD-9202-E756BCBB043B}"/>
              </a:ext>
            </a:extLst>
          </p:cNvPr>
          <p:cNvSpPr txBox="1"/>
          <p:nvPr/>
        </p:nvSpPr>
        <p:spPr>
          <a:xfrm>
            <a:off x="8991600" y="2743200"/>
            <a:ext cx="2374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300" b="1">
                <a:solidFill>
                  <a:srgbClr val="153F3A"/>
                </a:solidFill>
                <a:latin typeface="Aptos" panose="020B0004020202020204" pitchFamily="34" charset="0"/>
              </a:rPr>
              <a:t>SQLite mặc định</a:t>
            </a:r>
          </a:p>
          <a:p>
            <a:pPr algn="ctr">
              <a:spcAft>
                <a:spcPts val="400"/>
              </a:spcAft>
            </a:pPr>
            <a:r>
              <a:rPr lang="vi-VN" sz="1300" b="1">
                <a:solidFill>
                  <a:srgbClr val="153F3A"/>
                </a:solidFill>
                <a:latin typeface="Aptos" panose="020B0004020202020204" pitchFamily="34" charset="0"/>
              </a:rPr>
              <a:t>SQL Server tùy chọn</a:t>
            </a:r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627D183C-79B9-CCF3-ED7D-80E05B4F5E6B}"/>
              </a:ext>
            </a:extLst>
          </p:cNvPr>
          <p:cNvSpPr/>
          <p:nvPr/>
        </p:nvSpPr>
        <p:spPr>
          <a:xfrm>
            <a:off x="3048000" y="2819400"/>
            <a:ext cx="5715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8A5E7D04-8AF1-3830-82B6-F05347997304}"/>
              </a:ext>
            </a:extLst>
          </p:cNvPr>
          <p:cNvSpPr/>
          <p:nvPr/>
        </p:nvSpPr>
        <p:spPr>
          <a:xfrm>
            <a:off x="8229600" y="2819400"/>
            <a:ext cx="5842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ình chữ nhật: Góc Tròn 18">
            <a:extLst>
              <a:ext uri="{FF2B5EF4-FFF2-40B4-BE49-F238E27FC236}">
                <a16:creationId xmlns:a16="http://schemas.microsoft.com/office/drawing/2014/main" id="{B62AAA80-7DE1-62AF-DA55-B2C7DAF3B698}"/>
              </a:ext>
            </a:extLst>
          </p:cNvPr>
          <p:cNvSpPr/>
          <p:nvPr/>
        </p:nvSpPr>
        <p:spPr>
          <a:xfrm>
            <a:off x="635000" y="4013200"/>
            <a:ext cx="3327400" cy="14732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ình chữ nhật 19">
            <a:extLst>
              <a:ext uri="{FF2B5EF4-FFF2-40B4-BE49-F238E27FC236}">
                <a16:creationId xmlns:a16="http://schemas.microsoft.com/office/drawing/2014/main" id="{5D89165F-1067-506F-FD08-2DA9E6F710A5}"/>
              </a:ext>
            </a:extLst>
          </p:cNvPr>
          <p:cNvSpPr/>
          <p:nvPr/>
        </p:nvSpPr>
        <p:spPr>
          <a:xfrm>
            <a:off x="635000" y="4013200"/>
            <a:ext cx="63500" cy="14732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C9611732-08C8-0BFE-DF2C-05D67D586624}"/>
              </a:ext>
            </a:extLst>
          </p:cNvPr>
          <p:cNvSpPr txBox="1"/>
          <p:nvPr/>
        </p:nvSpPr>
        <p:spPr>
          <a:xfrm>
            <a:off x="825500" y="41529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QR</a:t>
            </a:r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8933FE95-0516-BE33-FBEE-CE99235298DE}"/>
              </a:ext>
            </a:extLst>
          </p:cNvPr>
          <p:cNvSpPr txBox="1"/>
          <p:nvPr/>
        </p:nvSpPr>
        <p:spPr>
          <a:xfrm>
            <a:off x="825500" y="45466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VietQR tạo ảnh; không có webhook hay xác minh ngân hàng tự động.</a:t>
            </a:r>
          </a:p>
        </p:txBody>
      </p:sp>
      <p:sp>
        <p:nvSpPr>
          <p:cNvPr id="23" name="Hình chữ nhật: Góc Tròn 22">
            <a:extLst>
              <a:ext uri="{FF2B5EF4-FFF2-40B4-BE49-F238E27FC236}">
                <a16:creationId xmlns:a16="http://schemas.microsoft.com/office/drawing/2014/main" id="{460086F0-9F32-1F8E-2C1B-716C8FEA32C9}"/>
              </a:ext>
            </a:extLst>
          </p:cNvPr>
          <p:cNvSpPr/>
          <p:nvPr/>
        </p:nvSpPr>
        <p:spPr>
          <a:xfrm>
            <a:off x="4432300" y="4013200"/>
            <a:ext cx="3327400" cy="14732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Hình chữ nhật 23">
            <a:extLst>
              <a:ext uri="{FF2B5EF4-FFF2-40B4-BE49-F238E27FC236}">
                <a16:creationId xmlns:a16="http://schemas.microsoft.com/office/drawing/2014/main" id="{F03EF6EA-EFAB-A0DC-EC13-1649A888BA7C}"/>
              </a:ext>
            </a:extLst>
          </p:cNvPr>
          <p:cNvSpPr/>
          <p:nvPr/>
        </p:nvSpPr>
        <p:spPr>
          <a:xfrm>
            <a:off x="4432300" y="4013200"/>
            <a:ext cx="63500" cy="14732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ộp Văn bản 24">
            <a:extLst>
              <a:ext uri="{FF2B5EF4-FFF2-40B4-BE49-F238E27FC236}">
                <a16:creationId xmlns:a16="http://schemas.microsoft.com/office/drawing/2014/main" id="{1240977B-37C2-DED8-A1FA-BD7391FC8086}"/>
              </a:ext>
            </a:extLst>
          </p:cNvPr>
          <p:cNvSpPr txBox="1"/>
          <p:nvPr/>
        </p:nvSpPr>
        <p:spPr>
          <a:xfrm>
            <a:off x="4622800" y="41529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Chatbot hiện hành</a:t>
            </a:r>
          </a:p>
        </p:txBody>
      </p:sp>
      <p:sp>
        <p:nvSpPr>
          <p:cNvPr id="26" name="Hộp Văn bản 25">
            <a:extLst>
              <a:ext uri="{FF2B5EF4-FFF2-40B4-BE49-F238E27FC236}">
                <a16:creationId xmlns:a16="http://schemas.microsoft.com/office/drawing/2014/main" id="{F6E4FB1F-C8B7-D533-C7E8-CAD682FE9525}"/>
              </a:ext>
            </a:extLst>
          </p:cNvPr>
          <p:cNvSpPr txBox="1"/>
          <p:nvPr/>
        </p:nvSpPr>
        <p:spPr>
          <a:xfrm>
            <a:off x="4622800" y="45466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Quy tắc + truy vấn dịch vụ/lịch trong cơ sở dữ liệu.</a:t>
            </a:r>
          </a:p>
        </p:txBody>
      </p:sp>
      <p:sp>
        <p:nvSpPr>
          <p:cNvPr id="27" name="Hình chữ nhật: Góc Tròn 26">
            <a:extLst>
              <a:ext uri="{FF2B5EF4-FFF2-40B4-BE49-F238E27FC236}">
                <a16:creationId xmlns:a16="http://schemas.microsoft.com/office/drawing/2014/main" id="{84C69380-7FC8-E471-DDDA-A8A6FE049233}"/>
              </a:ext>
            </a:extLst>
          </p:cNvPr>
          <p:cNvSpPr/>
          <p:nvPr/>
        </p:nvSpPr>
        <p:spPr>
          <a:xfrm>
            <a:off x="8229600" y="4013200"/>
            <a:ext cx="3327400" cy="14732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Hình chữ nhật 27">
            <a:extLst>
              <a:ext uri="{FF2B5EF4-FFF2-40B4-BE49-F238E27FC236}">
                <a16:creationId xmlns:a16="http://schemas.microsoft.com/office/drawing/2014/main" id="{49E07904-7234-C8D6-E1C6-768EAE06883B}"/>
              </a:ext>
            </a:extLst>
          </p:cNvPr>
          <p:cNvSpPr/>
          <p:nvPr/>
        </p:nvSpPr>
        <p:spPr>
          <a:xfrm>
            <a:off x="8229600" y="4013200"/>
            <a:ext cx="63500" cy="14732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Hộp Văn bản 28">
            <a:extLst>
              <a:ext uri="{FF2B5EF4-FFF2-40B4-BE49-F238E27FC236}">
                <a16:creationId xmlns:a16="http://schemas.microsoft.com/office/drawing/2014/main" id="{B5D94AF8-E6F2-7D5A-EEAB-70C969AD1F4C}"/>
              </a:ext>
            </a:extLst>
          </p:cNvPr>
          <p:cNvSpPr txBox="1"/>
          <p:nvPr/>
        </p:nvSpPr>
        <p:spPr>
          <a:xfrm>
            <a:off x="8420100" y="41529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AI tương lai</a:t>
            </a:r>
          </a:p>
        </p:txBody>
      </p:sp>
      <p:sp>
        <p:nvSpPr>
          <p:cNvPr id="30" name="Hộp Văn bản 29">
            <a:extLst>
              <a:ext uri="{FF2B5EF4-FFF2-40B4-BE49-F238E27FC236}">
                <a16:creationId xmlns:a16="http://schemas.microsoft.com/office/drawing/2014/main" id="{2A63A123-7661-5765-67D4-DF2B031E1A3E}"/>
              </a:ext>
            </a:extLst>
          </p:cNvPr>
          <p:cNvSpPr txBox="1"/>
          <p:nvPr/>
        </p:nvSpPr>
        <p:spPr>
          <a:xfrm>
            <a:off x="8420100" y="4546600"/>
            <a:ext cx="2984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Chưa kết nối dịch vụ AI, API tóm tắt EMR hoặc job nhắc tái khám.</a:t>
            </a:r>
          </a:p>
        </p:txBody>
      </p:sp>
    </p:spTree>
    <p:extLst>
      <p:ext uri="{BB962C8B-B14F-4D97-AF65-F5344CB8AC3E}">
        <p14:creationId xmlns:p14="http://schemas.microsoft.com/office/powerpoint/2010/main" val="3446255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4184E04-6490-B61B-EF35-8666F9AD1965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04 / THIẾT KẾ DỮ LIỆU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612D0E09-4506-0843-B742-C46F58C75453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Các thực thể chính nối thành chuỗi nghiệp vụ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66CC0F1E-DC24-1CE3-C50B-09FBE53845E5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Sơ đồ rút gọn theo model hiện hành; các trường chỉ liệt kê để minh họa.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F93EFA4D-7EE4-CF93-A86B-5D3336CF84B2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2E85D7D2-E08C-3AD1-9EA1-63FC6E55F993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93671D46-DE48-B4BA-F08B-9F678ACB5FEC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05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1537DF70-D26B-7015-FC8A-0D9D4CB655D8}"/>
              </a:ext>
            </a:extLst>
          </p:cNvPr>
          <p:cNvSpPr/>
          <p:nvPr/>
        </p:nvSpPr>
        <p:spPr>
          <a:xfrm>
            <a:off x="635000" y="2336800"/>
            <a:ext cx="2159000" cy="1270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A7306AAF-47A6-A8ED-AD53-B4EFC6FBA31B}"/>
              </a:ext>
            </a:extLst>
          </p:cNvPr>
          <p:cNvSpPr/>
          <p:nvPr/>
        </p:nvSpPr>
        <p:spPr>
          <a:xfrm>
            <a:off x="635000" y="2336800"/>
            <a:ext cx="63500" cy="12700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6439BB5B-952F-AFC7-84E9-77960B1D76D0}"/>
              </a:ext>
            </a:extLst>
          </p:cNvPr>
          <p:cNvSpPr txBox="1"/>
          <p:nvPr/>
        </p:nvSpPr>
        <p:spPr>
          <a:xfrm>
            <a:off x="825500" y="24765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PATIENT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81F7036E-3C7B-BB43-032E-B4372A40C811}"/>
              </a:ext>
            </a:extLst>
          </p:cNvPr>
          <p:cNvSpPr txBox="1"/>
          <p:nvPr/>
        </p:nvSpPr>
        <p:spPr>
          <a:xfrm>
            <a:off x="825500" y="28702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100">
                <a:solidFill>
                  <a:srgbClr val="657875"/>
                </a:solidFill>
                <a:latin typeface="Aptos" panose="020B0004020202020204" pitchFamily="34" charset="0"/>
              </a:rPr>
              <a:t>patient_code · full_name · phone</a:t>
            </a:r>
            <a:endParaRPr lang="vi-VN" sz="1100">
              <a:solidFill>
                <a:srgbClr val="657875"/>
              </a:solidFill>
              <a:latin typeface="Aptos" panose="020B0004020202020204" pitchFamily="34" charset="0"/>
            </a:endParaRP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867F6774-4290-17A0-5CE2-D0C6E5427CAF}"/>
              </a:ext>
            </a:extLst>
          </p:cNvPr>
          <p:cNvSpPr/>
          <p:nvPr/>
        </p:nvSpPr>
        <p:spPr>
          <a:xfrm>
            <a:off x="3556000" y="2336800"/>
            <a:ext cx="2159000" cy="1270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17C00BE5-40A8-0E85-AF4B-4B316C027219}"/>
              </a:ext>
            </a:extLst>
          </p:cNvPr>
          <p:cNvSpPr/>
          <p:nvPr/>
        </p:nvSpPr>
        <p:spPr>
          <a:xfrm>
            <a:off x="3556000" y="2336800"/>
            <a:ext cx="63500" cy="12700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2AEB779B-990A-15E3-D1F9-9CDCB0566523}"/>
              </a:ext>
            </a:extLst>
          </p:cNvPr>
          <p:cNvSpPr txBox="1"/>
          <p:nvPr/>
        </p:nvSpPr>
        <p:spPr>
          <a:xfrm>
            <a:off x="3746500" y="24765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APPOINTMENT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C0323D67-B8C3-A54F-DAAD-B805A01DA2A9}"/>
              </a:ext>
            </a:extLst>
          </p:cNvPr>
          <p:cNvSpPr txBox="1"/>
          <p:nvPr/>
        </p:nvSpPr>
        <p:spPr>
          <a:xfrm>
            <a:off x="3746500" y="28702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patient · doctor · service · time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623C733D-E8D0-6962-B853-5467C97D35A7}"/>
              </a:ext>
            </a:extLst>
          </p:cNvPr>
          <p:cNvSpPr/>
          <p:nvPr/>
        </p:nvSpPr>
        <p:spPr>
          <a:xfrm>
            <a:off x="6477000" y="2336800"/>
            <a:ext cx="2159000" cy="1270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21F1AB38-30BD-54BD-585D-52F937D0B3E6}"/>
              </a:ext>
            </a:extLst>
          </p:cNvPr>
          <p:cNvSpPr/>
          <p:nvPr/>
        </p:nvSpPr>
        <p:spPr>
          <a:xfrm>
            <a:off x="6477000" y="2336800"/>
            <a:ext cx="63500" cy="12700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3C5E14C0-C1B1-D851-673D-EF4FE5CFA879}"/>
              </a:ext>
            </a:extLst>
          </p:cNvPr>
          <p:cNvSpPr txBox="1"/>
          <p:nvPr/>
        </p:nvSpPr>
        <p:spPr>
          <a:xfrm>
            <a:off x="6667500" y="24765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MEDICAL RECORD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D2AEC049-3A77-F528-1644-EE1B672C5BC3}"/>
              </a:ext>
            </a:extLst>
          </p:cNvPr>
          <p:cNvSpPr txBox="1"/>
          <p:nvPr/>
        </p:nvSpPr>
        <p:spPr>
          <a:xfrm>
            <a:off x="6667500" y="28702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appointment · diagnosis · plan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566146DE-0B51-2A66-FD61-882C5FE2D5AB}"/>
              </a:ext>
            </a:extLst>
          </p:cNvPr>
          <p:cNvSpPr/>
          <p:nvPr/>
        </p:nvSpPr>
        <p:spPr>
          <a:xfrm>
            <a:off x="9398000" y="2336800"/>
            <a:ext cx="2159000" cy="1270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 20">
            <a:extLst>
              <a:ext uri="{FF2B5EF4-FFF2-40B4-BE49-F238E27FC236}">
                <a16:creationId xmlns:a16="http://schemas.microsoft.com/office/drawing/2014/main" id="{CAF70D1C-0694-B905-3DD0-D58217BF90C9}"/>
              </a:ext>
            </a:extLst>
          </p:cNvPr>
          <p:cNvSpPr/>
          <p:nvPr/>
        </p:nvSpPr>
        <p:spPr>
          <a:xfrm>
            <a:off x="9398000" y="2336800"/>
            <a:ext cx="63500" cy="12700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74A83101-7B74-D016-3818-F1B1D44C15AF}"/>
              </a:ext>
            </a:extLst>
          </p:cNvPr>
          <p:cNvSpPr txBox="1"/>
          <p:nvPr/>
        </p:nvSpPr>
        <p:spPr>
          <a:xfrm>
            <a:off x="9588500" y="24765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INVOICE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F37EDEF6-B2F3-2707-3340-45B18CFE46DB}"/>
              </a:ext>
            </a:extLst>
          </p:cNvPr>
          <p:cNvSpPr txBox="1"/>
          <p:nvPr/>
        </p:nvSpPr>
        <p:spPr>
          <a:xfrm>
            <a:off x="9588500" y="2870200"/>
            <a:ext cx="1816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100">
                <a:solidFill>
                  <a:srgbClr val="657875"/>
                </a:solidFill>
                <a:latin typeface="Aptos" panose="020B0004020202020204" pitchFamily="34" charset="0"/>
              </a:rPr>
              <a:t>patient · medical_record · total/status</a:t>
            </a:r>
            <a:endParaRPr lang="vi-VN" sz="1100">
              <a:solidFill>
                <a:srgbClr val="657875"/>
              </a:solidFill>
              <a:latin typeface="Aptos" panose="020B0004020202020204" pitchFamily="34" charset="0"/>
            </a:endParaRPr>
          </a:p>
        </p:txBody>
      </p:sp>
      <p:sp>
        <p:nvSpPr>
          <p:cNvPr id="24" name="Hình chữ nhật 23">
            <a:extLst>
              <a:ext uri="{FF2B5EF4-FFF2-40B4-BE49-F238E27FC236}">
                <a16:creationId xmlns:a16="http://schemas.microsoft.com/office/drawing/2014/main" id="{AE5B7F98-4780-EB44-E5F4-25150CED1B78}"/>
              </a:ext>
            </a:extLst>
          </p:cNvPr>
          <p:cNvSpPr/>
          <p:nvPr/>
        </p:nvSpPr>
        <p:spPr>
          <a:xfrm>
            <a:off x="2794000" y="2946400"/>
            <a:ext cx="7620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ình chữ nhật 24">
            <a:extLst>
              <a:ext uri="{FF2B5EF4-FFF2-40B4-BE49-F238E27FC236}">
                <a16:creationId xmlns:a16="http://schemas.microsoft.com/office/drawing/2014/main" id="{2D43E1FC-C388-89AD-B91D-7529AAA20E06}"/>
              </a:ext>
            </a:extLst>
          </p:cNvPr>
          <p:cNvSpPr/>
          <p:nvPr/>
        </p:nvSpPr>
        <p:spPr>
          <a:xfrm>
            <a:off x="5715000" y="2946400"/>
            <a:ext cx="7620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6" name="Hình chữ nhật 25">
            <a:extLst>
              <a:ext uri="{FF2B5EF4-FFF2-40B4-BE49-F238E27FC236}">
                <a16:creationId xmlns:a16="http://schemas.microsoft.com/office/drawing/2014/main" id="{B38A86B5-746A-1C3C-DFAC-25271A2FABEF}"/>
              </a:ext>
            </a:extLst>
          </p:cNvPr>
          <p:cNvSpPr/>
          <p:nvPr/>
        </p:nvSpPr>
        <p:spPr>
          <a:xfrm>
            <a:off x="8636000" y="2946400"/>
            <a:ext cx="7620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7" name="Hộp Văn bản 26">
            <a:extLst>
              <a:ext uri="{FF2B5EF4-FFF2-40B4-BE49-F238E27FC236}">
                <a16:creationId xmlns:a16="http://schemas.microsoft.com/office/drawing/2014/main" id="{687F34E9-8D64-9588-3E15-56927020C304}"/>
              </a:ext>
            </a:extLst>
          </p:cNvPr>
          <p:cNvSpPr txBox="1"/>
          <p:nvPr/>
        </p:nvSpPr>
        <p:spPr>
          <a:xfrm>
            <a:off x="2832100" y="2628900"/>
            <a:ext cx="685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1:N</a:t>
            </a:r>
          </a:p>
        </p:txBody>
      </p:sp>
      <p:sp>
        <p:nvSpPr>
          <p:cNvPr id="28" name="Hộp Văn bản 27">
            <a:extLst>
              <a:ext uri="{FF2B5EF4-FFF2-40B4-BE49-F238E27FC236}">
                <a16:creationId xmlns:a16="http://schemas.microsoft.com/office/drawing/2014/main" id="{85BDC3B2-14E1-624D-E5E0-A65C4BB5D3C7}"/>
              </a:ext>
            </a:extLst>
          </p:cNvPr>
          <p:cNvSpPr txBox="1"/>
          <p:nvPr/>
        </p:nvSpPr>
        <p:spPr>
          <a:xfrm>
            <a:off x="5753100" y="2628900"/>
            <a:ext cx="685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1:0..1</a:t>
            </a:r>
          </a:p>
        </p:txBody>
      </p:sp>
      <p:sp>
        <p:nvSpPr>
          <p:cNvPr id="29" name="Hộp Văn bản 28">
            <a:extLst>
              <a:ext uri="{FF2B5EF4-FFF2-40B4-BE49-F238E27FC236}">
                <a16:creationId xmlns:a16="http://schemas.microsoft.com/office/drawing/2014/main" id="{98CFBDD7-6A49-8ED7-A52B-802EF50962D4}"/>
              </a:ext>
            </a:extLst>
          </p:cNvPr>
          <p:cNvSpPr txBox="1"/>
          <p:nvPr/>
        </p:nvSpPr>
        <p:spPr>
          <a:xfrm>
            <a:off x="8674100" y="2628900"/>
            <a:ext cx="685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800" b="1">
                <a:solidFill>
                  <a:srgbClr val="17685D"/>
                </a:solidFill>
                <a:latin typeface="Aptos" panose="020B0004020202020204" pitchFamily="34" charset="0"/>
              </a:rPr>
              <a:t>0..1:0..1</a:t>
            </a:r>
          </a:p>
        </p:txBody>
      </p:sp>
      <p:sp>
        <p:nvSpPr>
          <p:cNvPr id="30" name="Hình chữ nhật 29">
            <a:extLst>
              <a:ext uri="{FF2B5EF4-FFF2-40B4-BE49-F238E27FC236}">
                <a16:creationId xmlns:a16="http://schemas.microsoft.com/office/drawing/2014/main" id="{0823BAA6-07D1-37E2-08CE-9BC9181A0098}"/>
              </a:ext>
            </a:extLst>
          </p:cNvPr>
          <p:cNvSpPr/>
          <p:nvPr/>
        </p:nvSpPr>
        <p:spPr>
          <a:xfrm>
            <a:off x="10477500" y="3606800"/>
            <a:ext cx="38100" cy="3810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1" name="Hình chữ nhật 30">
            <a:extLst>
              <a:ext uri="{FF2B5EF4-FFF2-40B4-BE49-F238E27FC236}">
                <a16:creationId xmlns:a16="http://schemas.microsoft.com/office/drawing/2014/main" id="{CD2C9B85-494F-326E-6929-652284DAF880}"/>
              </a:ext>
            </a:extLst>
          </p:cNvPr>
          <p:cNvSpPr/>
          <p:nvPr/>
        </p:nvSpPr>
        <p:spPr>
          <a:xfrm>
            <a:off x="6019800" y="3987800"/>
            <a:ext cx="4470400" cy="381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2" name="Hình chữ nhật 31">
            <a:extLst>
              <a:ext uri="{FF2B5EF4-FFF2-40B4-BE49-F238E27FC236}">
                <a16:creationId xmlns:a16="http://schemas.microsoft.com/office/drawing/2014/main" id="{32CF4C81-A701-D8E6-8628-D0E224FA6A0C}"/>
              </a:ext>
            </a:extLst>
          </p:cNvPr>
          <p:cNvSpPr/>
          <p:nvPr/>
        </p:nvSpPr>
        <p:spPr>
          <a:xfrm>
            <a:off x="6019800" y="3987800"/>
            <a:ext cx="38100" cy="3302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3" name="Hình chữ nhật 32">
            <a:extLst>
              <a:ext uri="{FF2B5EF4-FFF2-40B4-BE49-F238E27FC236}">
                <a16:creationId xmlns:a16="http://schemas.microsoft.com/office/drawing/2014/main" id="{75D9C24B-99E8-81EA-722D-30F8922A4203}"/>
              </a:ext>
            </a:extLst>
          </p:cNvPr>
          <p:cNvSpPr/>
          <p:nvPr/>
        </p:nvSpPr>
        <p:spPr>
          <a:xfrm>
            <a:off x="10464800" y="3987800"/>
            <a:ext cx="38100" cy="3302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4" name="Hình chữ nhật: Góc Tròn 33">
            <a:extLst>
              <a:ext uri="{FF2B5EF4-FFF2-40B4-BE49-F238E27FC236}">
                <a16:creationId xmlns:a16="http://schemas.microsoft.com/office/drawing/2014/main" id="{13F39B8E-B0A9-2836-7CC9-AC943A27A416}"/>
              </a:ext>
            </a:extLst>
          </p:cNvPr>
          <p:cNvSpPr/>
          <p:nvPr/>
        </p:nvSpPr>
        <p:spPr>
          <a:xfrm>
            <a:off x="4889500" y="4318000"/>
            <a:ext cx="2286000" cy="11176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Hình chữ nhật 34">
            <a:extLst>
              <a:ext uri="{FF2B5EF4-FFF2-40B4-BE49-F238E27FC236}">
                <a16:creationId xmlns:a16="http://schemas.microsoft.com/office/drawing/2014/main" id="{A049DD10-809D-8550-52B3-9C7F81EBE505}"/>
              </a:ext>
            </a:extLst>
          </p:cNvPr>
          <p:cNvSpPr/>
          <p:nvPr/>
        </p:nvSpPr>
        <p:spPr>
          <a:xfrm>
            <a:off x="4889500" y="4318000"/>
            <a:ext cx="63500" cy="11176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A7520CA8-3AE8-8DE5-EF08-2876D91B4362}"/>
              </a:ext>
            </a:extLst>
          </p:cNvPr>
          <p:cNvSpPr txBox="1"/>
          <p:nvPr/>
        </p:nvSpPr>
        <p:spPr>
          <a:xfrm>
            <a:off x="5080000" y="4457700"/>
            <a:ext cx="194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INVOICE ITEM</a:t>
            </a:r>
          </a:p>
        </p:txBody>
      </p:sp>
      <p:sp>
        <p:nvSpPr>
          <p:cNvPr id="37" name="Hộp Văn bản 36">
            <a:extLst>
              <a:ext uri="{FF2B5EF4-FFF2-40B4-BE49-F238E27FC236}">
                <a16:creationId xmlns:a16="http://schemas.microsoft.com/office/drawing/2014/main" id="{1CF23891-D678-9DB7-E277-0147AEC690B6}"/>
              </a:ext>
            </a:extLst>
          </p:cNvPr>
          <p:cNvSpPr txBox="1"/>
          <p:nvPr/>
        </p:nvSpPr>
        <p:spPr>
          <a:xfrm>
            <a:off x="5080000" y="4851400"/>
            <a:ext cx="194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100">
                <a:solidFill>
                  <a:srgbClr val="657875"/>
                </a:solidFill>
                <a:latin typeface="Aptos" panose="020B0004020202020204" pitchFamily="34" charset="0"/>
              </a:rPr>
              <a:t>service · quantity · unit_price · amount</a:t>
            </a:r>
            <a:endParaRPr lang="vi-VN" sz="1100">
              <a:solidFill>
                <a:srgbClr val="657875"/>
              </a:solidFill>
              <a:latin typeface="Aptos" panose="020B0004020202020204" pitchFamily="34" charset="0"/>
            </a:endParaRPr>
          </a:p>
        </p:txBody>
      </p:sp>
      <p:sp>
        <p:nvSpPr>
          <p:cNvPr id="38" name="Hình chữ nhật: Góc Tròn 37">
            <a:extLst>
              <a:ext uri="{FF2B5EF4-FFF2-40B4-BE49-F238E27FC236}">
                <a16:creationId xmlns:a16="http://schemas.microsoft.com/office/drawing/2014/main" id="{80C2E70F-E219-0CC8-0034-D1769A531009}"/>
              </a:ext>
            </a:extLst>
          </p:cNvPr>
          <p:cNvSpPr/>
          <p:nvPr/>
        </p:nvSpPr>
        <p:spPr>
          <a:xfrm>
            <a:off x="9334500" y="4318000"/>
            <a:ext cx="2286000" cy="11176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9" name="Hình chữ nhật 38">
            <a:extLst>
              <a:ext uri="{FF2B5EF4-FFF2-40B4-BE49-F238E27FC236}">
                <a16:creationId xmlns:a16="http://schemas.microsoft.com/office/drawing/2014/main" id="{E9718E0E-E22F-56DC-FF75-5CB3A2031CAE}"/>
              </a:ext>
            </a:extLst>
          </p:cNvPr>
          <p:cNvSpPr/>
          <p:nvPr/>
        </p:nvSpPr>
        <p:spPr>
          <a:xfrm>
            <a:off x="9334500" y="4318000"/>
            <a:ext cx="63500" cy="11176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0" name="Hộp Văn bản 39">
            <a:extLst>
              <a:ext uri="{FF2B5EF4-FFF2-40B4-BE49-F238E27FC236}">
                <a16:creationId xmlns:a16="http://schemas.microsoft.com/office/drawing/2014/main" id="{27ECE8F5-6805-B34F-2844-804384A1CD86}"/>
              </a:ext>
            </a:extLst>
          </p:cNvPr>
          <p:cNvSpPr txBox="1"/>
          <p:nvPr/>
        </p:nvSpPr>
        <p:spPr>
          <a:xfrm>
            <a:off x="9525000" y="4457700"/>
            <a:ext cx="194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PAYMENT</a:t>
            </a:r>
          </a:p>
        </p:txBody>
      </p:sp>
      <p:sp>
        <p:nvSpPr>
          <p:cNvPr id="41" name="Hộp Văn bản 40">
            <a:extLst>
              <a:ext uri="{FF2B5EF4-FFF2-40B4-BE49-F238E27FC236}">
                <a16:creationId xmlns:a16="http://schemas.microsoft.com/office/drawing/2014/main" id="{37FE7B69-CE49-1F11-3A72-FC7ED2E3E71E}"/>
              </a:ext>
            </a:extLst>
          </p:cNvPr>
          <p:cNvSpPr txBox="1"/>
          <p:nvPr/>
        </p:nvSpPr>
        <p:spPr>
          <a:xfrm>
            <a:off x="9525000" y="4851400"/>
            <a:ext cx="194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invoice · amount · method · status</a:t>
            </a:r>
          </a:p>
        </p:txBody>
      </p:sp>
      <p:sp>
        <p:nvSpPr>
          <p:cNvPr id="42" name="Hộp Văn bản 41">
            <a:extLst>
              <a:ext uri="{FF2B5EF4-FFF2-40B4-BE49-F238E27FC236}">
                <a16:creationId xmlns:a16="http://schemas.microsoft.com/office/drawing/2014/main" id="{9DF04C54-908C-EA15-D24F-83D0E695257D}"/>
              </a:ext>
            </a:extLst>
          </p:cNvPr>
          <p:cNvSpPr txBox="1"/>
          <p:nvPr/>
        </p:nvSpPr>
        <p:spPr>
          <a:xfrm>
            <a:off x="6032500" y="40640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1:N</a:t>
            </a:r>
          </a:p>
        </p:txBody>
      </p:sp>
      <p:sp>
        <p:nvSpPr>
          <p:cNvPr id="43" name="Hộp Văn bản 42">
            <a:extLst>
              <a:ext uri="{FF2B5EF4-FFF2-40B4-BE49-F238E27FC236}">
                <a16:creationId xmlns:a16="http://schemas.microsoft.com/office/drawing/2014/main" id="{0F224D8D-E4B1-3665-D89E-B06DE553020A}"/>
              </a:ext>
            </a:extLst>
          </p:cNvPr>
          <p:cNvSpPr txBox="1"/>
          <p:nvPr/>
        </p:nvSpPr>
        <p:spPr>
          <a:xfrm>
            <a:off x="10477500" y="40640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1:N</a:t>
            </a:r>
          </a:p>
        </p:txBody>
      </p:sp>
      <p:sp>
        <p:nvSpPr>
          <p:cNvPr id="44" name="Hình chữ nhật: Góc Tròn 43">
            <a:extLst>
              <a:ext uri="{FF2B5EF4-FFF2-40B4-BE49-F238E27FC236}">
                <a16:creationId xmlns:a16="http://schemas.microsoft.com/office/drawing/2014/main" id="{304B4F31-C968-6EFA-3325-8406D4818351}"/>
              </a:ext>
            </a:extLst>
          </p:cNvPr>
          <p:cNvSpPr/>
          <p:nvPr/>
        </p:nvSpPr>
        <p:spPr>
          <a:xfrm>
            <a:off x="609600" y="4686300"/>
            <a:ext cx="38100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5" name="Hộp Văn bản 44">
            <a:extLst>
              <a:ext uri="{FF2B5EF4-FFF2-40B4-BE49-F238E27FC236}">
                <a16:creationId xmlns:a16="http://schemas.microsoft.com/office/drawing/2014/main" id="{32DD7E08-97A5-E4E4-58FF-9259C2039040}"/>
              </a:ext>
            </a:extLst>
          </p:cNvPr>
          <p:cNvSpPr txBox="1"/>
          <p:nvPr/>
        </p:nvSpPr>
        <p:spPr>
          <a:xfrm>
            <a:off x="685800" y="4724400"/>
            <a:ext cx="3657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EMR ↔ dịch vụ / răng: quan hệ nhiều-nhiều</a:t>
            </a:r>
          </a:p>
        </p:txBody>
      </p:sp>
      <p:sp>
        <p:nvSpPr>
          <p:cNvPr id="46" name="Hộp Văn bản 45">
            <a:extLst>
              <a:ext uri="{FF2B5EF4-FFF2-40B4-BE49-F238E27FC236}">
                <a16:creationId xmlns:a16="http://schemas.microsoft.com/office/drawing/2014/main" id="{36305F1D-7C38-E1A6-1469-56FF34D19910}"/>
              </a:ext>
            </a:extLst>
          </p:cNvPr>
          <p:cNvSpPr txBox="1"/>
          <p:nvPr/>
        </p:nvSpPr>
        <p:spPr>
          <a:xfrm>
            <a:off x="609600" y="5143500"/>
            <a:ext cx="381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000">
                <a:solidFill>
                  <a:srgbClr val="657875"/>
                </a:solidFill>
                <a:latin typeface="Aptos" panose="020B0004020202020204" pitchFamily="34" charset="0"/>
              </a:rPr>
              <a:t>Invoice liên kết bệnh nhân; InvoiceItem lưu đơn giá/số lượng lúc lập.</a:t>
            </a:r>
          </a:p>
        </p:txBody>
      </p:sp>
    </p:spTree>
    <p:extLst>
      <p:ext uri="{BB962C8B-B14F-4D97-AF65-F5344CB8AC3E}">
        <p14:creationId xmlns:p14="http://schemas.microsoft.com/office/powerpoint/2010/main" val="3966193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4C7731E2-13CF-C300-0363-62AA30AEA378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05 / ĐẶT LỊCH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42859D64-C891-6FCD-2227-883B1692946F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Kiểm tra lịch trước khi xác nhận đặt hẹn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BAD7A1AD-0FAF-F9AD-AF5C-F80F6362E295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API kiểm tra ca làm, thời lượng dịch vụ và lịch bị trùng.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3C8D904C-FC4E-F876-9729-4BD6DC92AF89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137AA187-0374-977B-C68D-484AC2792481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164AE5D8-8E1D-A13F-99F2-F98F8EEEF65C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06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C0F2E1AB-EE60-CC3A-5456-0A312DF074FF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1B8B3AB0-33FA-5227-860C-AC2CE1F8441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25B346CE-4EAD-F4A7-669F-23C37409ABAD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Giao diện thật · dữ liệu demo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53179412-5416-D105-FD6E-03394793A30F}"/>
              </a:ext>
            </a:extLst>
          </p:cNvPr>
          <p:cNvSpPr/>
          <p:nvPr/>
        </p:nvSpPr>
        <p:spPr>
          <a:xfrm>
            <a:off x="8077200" y="19431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EE1D2394-C3BE-5F88-3B9E-82739C95191C}"/>
              </a:ext>
            </a:extLst>
          </p:cNvPr>
          <p:cNvSpPr/>
          <p:nvPr/>
        </p:nvSpPr>
        <p:spPr>
          <a:xfrm>
            <a:off x="8077200" y="19431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5C597A7C-0B4B-4C63-3C72-45EBB606CEB4}"/>
              </a:ext>
            </a:extLst>
          </p:cNvPr>
          <p:cNvSpPr txBox="1"/>
          <p:nvPr/>
        </p:nvSpPr>
        <p:spPr>
          <a:xfrm>
            <a:off x="8267700" y="20828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Nhập thông tin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617311A0-AC5E-8691-1AA2-D58EB9D2AAC5}"/>
              </a:ext>
            </a:extLst>
          </p:cNvPr>
          <p:cNvSpPr txBox="1"/>
          <p:nvPr/>
        </p:nvSpPr>
        <p:spPr>
          <a:xfrm>
            <a:off x="8267700" y="24765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Bệnh nhân, bác sĩ, dịch vụ, ngày, giờ và lý do khám.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BA04FD4C-CD51-B31D-4CCB-E398B43AD0C8}"/>
              </a:ext>
            </a:extLst>
          </p:cNvPr>
          <p:cNvSpPr/>
          <p:nvPr/>
        </p:nvSpPr>
        <p:spPr>
          <a:xfrm>
            <a:off x="8077200" y="33147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E22F2431-894F-C88B-F778-44E5F37C18AD}"/>
              </a:ext>
            </a:extLst>
          </p:cNvPr>
          <p:cNvSpPr/>
          <p:nvPr/>
        </p:nvSpPr>
        <p:spPr>
          <a:xfrm>
            <a:off x="8077200" y="3314700"/>
            <a:ext cx="63500" cy="11303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84522387-4A14-3011-D59D-9E68A0BA0869}"/>
              </a:ext>
            </a:extLst>
          </p:cNvPr>
          <p:cNvSpPr txBox="1"/>
          <p:nvPr/>
        </p:nvSpPr>
        <p:spPr>
          <a:xfrm>
            <a:off x="8267700" y="34544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Kiểm tra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FBC197F1-E86D-0A34-1466-F3E2D4A37C91}"/>
              </a:ext>
            </a:extLst>
          </p:cNvPr>
          <p:cNvSpPr txBox="1"/>
          <p:nvPr/>
        </p:nvSpPr>
        <p:spPr>
          <a:xfrm>
            <a:off x="8267700" y="38481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Đúng ca làm, đủ thời lượng, không xung đột lịch.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3C33E9FC-38EA-E907-A0D0-9B803F8A74C8}"/>
              </a:ext>
            </a:extLst>
          </p:cNvPr>
          <p:cNvSpPr/>
          <p:nvPr/>
        </p:nvSpPr>
        <p:spPr>
          <a:xfrm>
            <a:off x="8077200" y="46863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 20">
            <a:extLst>
              <a:ext uri="{FF2B5EF4-FFF2-40B4-BE49-F238E27FC236}">
                <a16:creationId xmlns:a16="http://schemas.microsoft.com/office/drawing/2014/main" id="{8516B570-7033-25E4-409F-E292927A1358}"/>
              </a:ext>
            </a:extLst>
          </p:cNvPr>
          <p:cNvSpPr/>
          <p:nvPr/>
        </p:nvSpPr>
        <p:spPr>
          <a:xfrm>
            <a:off x="8077200" y="46863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8B3DA0E6-6C53-D6F3-9B28-7425E6EFD3B8}"/>
              </a:ext>
            </a:extLst>
          </p:cNvPr>
          <p:cNvSpPr txBox="1"/>
          <p:nvPr/>
        </p:nvSpPr>
        <p:spPr>
          <a:xfrm>
            <a:off x="8267700" y="48260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Kết quả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B56BBA3E-288B-7AE9-0374-2E5DEDF66600}"/>
              </a:ext>
            </a:extLst>
          </p:cNvPr>
          <p:cNvSpPr txBox="1"/>
          <p:nvPr/>
        </p:nvSpPr>
        <p:spPr>
          <a:xfrm>
            <a:off x="8267700" y="52197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Chỉ báo thành công khi API tạo lịch.</a:t>
            </a:r>
          </a:p>
        </p:txBody>
      </p:sp>
    </p:spTree>
    <p:extLst>
      <p:ext uri="{BB962C8B-B14F-4D97-AF65-F5344CB8AC3E}">
        <p14:creationId xmlns:p14="http://schemas.microsoft.com/office/powerpoint/2010/main" val="3509672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1B3D578F-2FA2-A9EE-190F-7F0EAC37DDA7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06 / KHÁM BỆNH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0D0BCEF5-A933-98EB-971C-D91715BDF565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Hồ sơ bệnh án điện tử (EMR) gắn với lịch hẹn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1397A1B-0BED-BDB3-28D3-43AC5656CEDD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Bác sĩ ghi nhận nội dung khám và dịch vụ được chỉ định.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66B47A2E-D3D0-2633-9DAE-75F14EF2B99C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C026B753-DFC8-460E-1471-F7A5DCAB7AA6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BD3755B5-5DF0-315E-A8C8-0987C13E9036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07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ECD957EC-E704-2A9D-8AEE-A06C1291EE18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B0729897-B6EC-D62D-F2AA-5F471E0AD4B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5952620B-9BB1-EDF4-FDB9-5643915B7386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Giao diện EMR thật · hồ sơ demo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E35DE13B-A9EE-A29A-D548-106B641C6E7A}"/>
              </a:ext>
            </a:extLst>
          </p:cNvPr>
          <p:cNvSpPr/>
          <p:nvPr/>
        </p:nvSpPr>
        <p:spPr>
          <a:xfrm>
            <a:off x="8077200" y="19431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17951E16-1097-8F9D-2CA4-5E7823AABD87}"/>
              </a:ext>
            </a:extLst>
          </p:cNvPr>
          <p:cNvSpPr/>
          <p:nvPr/>
        </p:nvSpPr>
        <p:spPr>
          <a:xfrm>
            <a:off x="8077200" y="19431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7CF9305A-BA46-10AA-10CF-6028AAF916E6}"/>
              </a:ext>
            </a:extLst>
          </p:cNvPr>
          <p:cNvSpPr txBox="1"/>
          <p:nvPr/>
        </p:nvSpPr>
        <p:spPr>
          <a:xfrm>
            <a:off x="8267700" y="20828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Liên kết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62DD0774-A182-B8E1-2F43-692701EE9C04}"/>
              </a:ext>
            </a:extLst>
          </p:cNvPr>
          <p:cNvSpPr txBox="1"/>
          <p:nvPr/>
        </p:nvSpPr>
        <p:spPr>
          <a:xfrm>
            <a:off x="8267700" y="24765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Mỗi EMR gắn một-một với lịch hẹn.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54DF16BF-85B5-3F28-869D-931B2E7F3BCA}"/>
              </a:ext>
            </a:extLst>
          </p:cNvPr>
          <p:cNvSpPr/>
          <p:nvPr/>
        </p:nvSpPr>
        <p:spPr>
          <a:xfrm>
            <a:off x="8077200" y="33147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53268D31-4B4F-FE4A-E647-802B9711DC28}"/>
              </a:ext>
            </a:extLst>
          </p:cNvPr>
          <p:cNvSpPr/>
          <p:nvPr/>
        </p:nvSpPr>
        <p:spPr>
          <a:xfrm>
            <a:off x="8077200" y="3314700"/>
            <a:ext cx="63500" cy="11303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D7F25055-2CBE-460B-92EB-45B887D0640C}"/>
              </a:ext>
            </a:extLst>
          </p:cNvPr>
          <p:cNvSpPr txBox="1"/>
          <p:nvPr/>
        </p:nvSpPr>
        <p:spPr>
          <a:xfrm>
            <a:off x="8267700" y="34544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Ghi nhận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48B190E6-2843-DDBA-F54E-87E28E7FCEB7}"/>
              </a:ext>
            </a:extLst>
          </p:cNvPr>
          <p:cNvSpPr txBox="1"/>
          <p:nvPr/>
        </p:nvSpPr>
        <p:spPr>
          <a:xfrm>
            <a:off x="8267700" y="38481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Chẩn đoán, hướng điều trị, răng và dịch vụ.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B2CE45FA-0A00-D549-E1BE-0CB699B24202}"/>
              </a:ext>
            </a:extLst>
          </p:cNvPr>
          <p:cNvSpPr/>
          <p:nvPr/>
        </p:nvSpPr>
        <p:spPr>
          <a:xfrm>
            <a:off x="8077200" y="4686300"/>
            <a:ext cx="3479800" cy="11303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: Góc Tròn 20">
            <a:extLst>
              <a:ext uri="{FF2B5EF4-FFF2-40B4-BE49-F238E27FC236}">
                <a16:creationId xmlns:a16="http://schemas.microsoft.com/office/drawing/2014/main" id="{F4FA9A3F-4739-786F-9BC0-F6ACB4802973}"/>
              </a:ext>
            </a:extLst>
          </p:cNvPr>
          <p:cNvSpPr/>
          <p:nvPr/>
        </p:nvSpPr>
        <p:spPr>
          <a:xfrm>
            <a:off x="8255000" y="4851400"/>
            <a:ext cx="20447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F925ED6C-D852-F04C-6036-92FB71194CE2}"/>
              </a:ext>
            </a:extLst>
          </p:cNvPr>
          <p:cNvSpPr txBox="1"/>
          <p:nvPr/>
        </p:nvSpPr>
        <p:spPr>
          <a:xfrm>
            <a:off x="8331200" y="4889500"/>
            <a:ext cx="1892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AI SUMMARY · ĐỀ XUẤT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1FCCAA1B-23F5-CA9F-703F-7CF3EBD4E3FA}"/>
              </a:ext>
            </a:extLst>
          </p:cNvPr>
          <p:cNvSpPr txBox="1"/>
          <p:nvPr/>
        </p:nvSpPr>
        <p:spPr>
          <a:xfrm>
            <a:off x="8255000" y="5270500"/>
            <a:ext cx="3111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AI tóm tắt EMR chưa được triển khai.</a:t>
            </a:r>
          </a:p>
        </p:txBody>
      </p:sp>
    </p:spTree>
    <p:extLst>
      <p:ext uri="{BB962C8B-B14F-4D97-AF65-F5344CB8AC3E}">
        <p14:creationId xmlns:p14="http://schemas.microsoft.com/office/powerpoint/2010/main" val="3977480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D41698B-F7CF-A3FE-0260-B0D650D99581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07 / THANH TOÁN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1E33443-D0FD-E4B1-600E-E5A0E2289F62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Tính tiền từ dịch vụ, lưu trạng thái giao dịch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F83C88C1-874F-7C56-307E-00E4EF397CDA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Hóa đơn giữ đơn giá tại thời điểm phát hành; giao dịch có phương thức và trạng thái.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76E96A41-32C7-A8AA-E327-B15FDC9A24E1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7C76D6C4-6300-48E0-4E57-1134941B1198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EBD872A6-734E-8D7C-960B-AD94D77B2107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08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C0D47504-3DD3-9811-9988-F5316546960E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31A5E2CB-345A-7F35-E8FE-3DF969DCAB3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5ECE1BC7-4E20-F7B0-8A33-68DA70FCE396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Hộp thoại thật · hóa đơn demo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88F54A71-1742-5644-3FBB-4341665CBC4A}"/>
              </a:ext>
            </a:extLst>
          </p:cNvPr>
          <p:cNvSpPr/>
          <p:nvPr/>
        </p:nvSpPr>
        <p:spPr>
          <a:xfrm>
            <a:off x="8077200" y="19431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021C9FD4-E75B-4F51-BE7E-32A4F36AF295}"/>
              </a:ext>
            </a:extLst>
          </p:cNvPr>
          <p:cNvSpPr/>
          <p:nvPr/>
        </p:nvSpPr>
        <p:spPr>
          <a:xfrm>
            <a:off x="8077200" y="1943100"/>
            <a:ext cx="63500" cy="11303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F72352EE-A760-61A0-1777-7E7E32874A95}"/>
              </a:ext>
            </a:extLst>
          </p:cNvPr>
          <p:cNvSpPr txBox="1"/>
          <p:nvPr/>
        </p:nvSpPr>
        <p:spPr>
          <a:xfrm>
            <a:off x="8267700" y="20828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Tiền mặt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0D2505CA-2590-474B-36F5-41DEAA74ACE6}"/>
              </a:ext>
            </a:extLst>
          </p:cNvPr>
          <p:cNvSpPr txBox="1"/>
          <p:nvPr/>
        </p:nvSpPr>
        <p:spPr>
          <a:xfrm>
            <a:off x="8267700" y="24765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Xác nhận đủ số dư; ghi giao dịch COMPLETED.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733D7440-F55E-6285-4627-9CA89F4FB2D6}"/>
              </a:ext>
            </a:extLst>
          </p:cNvPr>
          <p:cNvSpPr/>
          <p:nvPr/>
        </p:nvSpPr>
        <p:spPr>
          <a:xfrm>
            <a:off x="8077200" y="33147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7A900ACB-E4CE-0418-1F7B-211DEE776633}"/>
              </a:ext>
            </a:extLst>
          </p:cNvPr>
          <p:cNvSpPr/>
          <p:nvPr/>
        </p:nvSpPr>
        <p:spPr>
          <a:xfrm>
            <a:off x="8077200" y="3314700"/>
            <a:ext cx="63500" cy="11303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BF9558C5-2168-91F1-4C5E-4E381D6E548D}"/>
              </a:ext>
            </a:extLst>
          </p:cNvPr>
          <p:cNvSpPr txBox="1"/>
          <p:nvPr/>
        </p:nvSpPr>
        <p:spPr>
          <a:xfrm>
            <a:off x="8267700" y="34544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QR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3F41AF81-F894-38A5-172C-D8CB5039A841}"/>
              </a:ext>
            </a:extLst>
          </p:cNvPr>
          <p:cNvSpPr txBox="1"/>
          <p:nvPr/>
        </p:nvSpPr>
        <p:spPr>
          <a:xfrm>
            <a:off x="8267700" y="38481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Tạo QR chỉ tạo giao dịch PENDING, chưa đồng nghĩa đã nhận tiền.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8E4B9BAE-D16A-8207-EF62-4EA0A5DBE7E5}"/>
              </a:ext>
            </a:extLst>
          </p:cNvPr>
          <p:cNvSpPr/>
          <p:nvPr/>
        </p:nvSpPr>
        <p:spPr>
          <a:xfrm>
            <a:off x="8077200" y="4686300"/>
            <a:ext cx="3479800" cy="11303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ình chữ nhật 20">
            <a:extLst>
              <a:ext uri="{FF2B5EF4-FFF2-40B4-BE49-F238E27FC236}">
                <a16:creationId xmlns:a16="http://schemas.microsoft.com/office/drawing/2014/main" id="{6946E099-A9EA-6EDF-8C8E-A8BA21B8D0BB}"/>
              </a:ext>
            </a:extLst>
          </p:cNvPr>
          <p:cNvSpPr/>
          <p:nvPr/>
        </p:nvSpPr>
        <p:spPr>
          <a:xfrm>
            <a:off x="8077200" y="4686300"/>
            <a:ext cx="63500" cy="11303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3DB009F6-550B-54D8-17E2-1621EEE318D2}"/>
              </a:ext>
            </a:extLst>
          </p:cNvPr>
          <p:cNvSpPr txBox="1"/>
          <p:nvPr/>
        </p:nvSpPr>
        <p:spPr>
          <a:xfrm>
            <a:off x="8267700" y="48260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Đối soát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9BC63721-DFE5-6B70-36CA-23C1A3B20C7C}"/>
              </a:ext>
            </a:extLst>
          </p:cNvPr>
          <p:cNvSpPr txBox="1"/>
          <p:nvPr/>
        </p:nvSpPr>
        <p:spPr>
          <a:xfrm>
            <a:off x="8267700" y="5219700"/>
            <a:ext cx="31369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Nhân viên khớp tiền + mã tham chiếu, lưu người xác minh.</a:t>
            </a:r>
          </a:p>
        </p:txBody>
      </p:sp>
    </p:spTree>
    <p:extLst>
      <p:ext uri="{BB962C8B-B14F-4D97-AF65-F5344CB8AC3E}">
        <p14:creationId xmlns:p14="http://schemas.microsoft.com/office/powerpoint/2010/main" val="428520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E84A4EBF-B637-9D7A-E623-52BF43892BA5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08 / CHATBOT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ECDB070A-901D-B885-0007-176B41DE10A9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Tra cứu theo dữ liệu; không tự bịa câu trả lời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6DF4695D-95C9-E1D6-DE46-B2FED282D7EA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Ví dụ thật: giá dịch vụ lấy từ danh mục đang hoạt động.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56FA4DF5-0304-7F74-0C86-24A53C1B5F60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EF8A7F45-7A8F-A927-34BD-8568207E0B83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CE306D04-709C-E0C9-8207-56C9375533A2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09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3CCEEB19-2FFB-6D4E-8991-AC8717F262B0}"/>
              </a:ext>
            </a:extLst>
          </p:cNvPr>
          <p:cNvSpPr/>
          <p:nvPr/>
        </p:nvSpPr>
        <p:spPr>
          <a:xfrm>
            <a:off x="495300" y="1739900"/>
            <a:ext cx="7188200" cy="4533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27E5F4AE-505F-18AA-692B-5565E35C885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790700"/>
            <a:ext cx="7086600" cy="4432300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071639B1-6A9F-C339-DEE8-186DAB4EA687}"/>
              </a:ext>
            </a:extLst>
          </p:cNvPr>
          <p:cNvSpPr txBox="1"/>
          <p:nvPr/>
        </p:nvSpPr>
        <p:spPr>
          <a:xfrm>
            <a:off x="596900" y="6273800"/>
            <a:ext cx="6959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Chatbot với dữ liệu demo · ảnh thật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2BF01F75-8228-BF8E-44AC-6CD143EE44EE}"/>
              </a:ext>
            </a:extLst>
          </p:cNvPr>
          <p:cNvSpPr/>
          <p:nvPr/>
        </p:nvSpPr>
        <p:spPr>
          <a:xfrm>
            <a:off x="8077200" y="1943100"/>
            <a:ext cx="3479800" cy="3860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: Góc Tròn 12">
            <a:extLst>
              <a:ext uri="{FF2B5EF4-FFF2-40B4-BE49-F238E27FC236}">
                <a16:creationId xmlns:a16="http://schemas.microsoft.com/office/drawing/2014/main" id="{3A589773-5D63-8C0F-9DDE-3713D67BEF2A}"/>
              </a:ext>
            </a:extLst>
          </p:cNvPr>
          <p:cNvSpPr/>
          <p:nvPr/>
        </p:nvSpPr>
        <p:spPr>
          <a:xfrm>
            <a:off x="8280400" y="2159000"/>
            <a:ext cx="29845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E1A14288-56F2-2897-39BC-CF8BA4F3960F}"/>
              </a:ext>
            </a:extLst>
          </p:cNvPr>
          <p:cNvSpPr txBox="1"/>
          <p:nvPr/>
        </p:nvSpPr>
        <p:spPr>
          <a:xfrm>
            <a:off x="8356600" y="2197100"/>
            <a:ext cx="2832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THEO QUY TẮC · KHÔNG GỌI LLM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F9FC9C40-CF96-4CE7-5006-EFE5D6D56EF6}"/>
              </a:ext>
            </a:extLst>
          </p:cNvPr>
          <p:cNvSpPr txBox="1"/>
          <p:nvPr/>
        </p:nvSpPr>
        <p:spPr>
          <a:xfrm>
            <a:off x="8293100" y="2679700"/>
            <a:ext cx="3022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HỖ TRỢ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Tra giá dịch vụ hoạt động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Gợi ý giờ theo lịch hiện có</a:t>
            </a:r>
          </a:p>
          <a:p>
            <a:pPr>
              <a:spcAft>
                <a:spcPts val="400"/>
              </a:spcAft>
            </a:pPr>
            <a:endParaRPr lang="vi-VN" sz="1200">
              <a:solidFill>
                <a:srgbClr val="153F3A"/>
              </a:solidFill>
              <a:latin typeface="Aptos" panose="020B0004020202020204" pitchFamily="34" charset="0"/>
            </a:endParaRP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GIỚI HẠN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Không chẩn đoán / xem EMR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Không đặt hoặc giữ lịch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• Câu hỏi khác → liên hệ lễ tân</a:t>
            </a:r>
          </a:p>
        </p:txBody>
      </p:sp>
    </p:spTree>
    <p:extLst>
      <p:ext uri="{BB962C8B-B14F-4D97-AF65-F5344CB8AC3E}">
        <p14:creationId xmlns:p14="http://schemas.microsoft.com/office/powerpoint/2010/main" val="1744631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41CC65F0-70A1-E3D9-C512-DD4FBAF46645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09 / ĐỊNH HƯỚNG AI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9E77EFA5-24B6-D58A-D617-FE43A479910B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Hai luồng AI là đề xuất, chưa triển khai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9279220B-F756-02BF-517A-97A551A383D2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Chưa có API, dịch vụ AI, lịch chạy nền hay kênh nhắc trong source hiện tại.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EC95FF69-D2DE-BCEC-8C78-AD635448CF06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AD7295C3-1322-E882-1466-4179D084E968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85655D29-1580-F8A3-3F52-A9E6EBBF0BF5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10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049A7F54-439C-9E36-8969-017CC225A697}"/>
              </a:ext>
            </a:extLst>
          </p:cNvPr>
          <p:cNvSpPr/>
          <p:nvPr/>
        </p:nvSpPr>
        <p:spPr>
          <a:xfrm>
            <a:off x="596900" y="1917700"/>
            <a:ext cx="5321300" cy="374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: Góc Tròn 8">
            <a:extLst>
              <a:ext uri="{FF2B5EF4-FFF2-40B4-BE49-F238E27FC236}">
                <a16:creationId xmlns:a16="http://schemas.microsoft.com/office/drawing/2014/main" id="{19A41AF2-320E-8AC3-0657-E0E2B3979F42}"/>
              </a:ext>
            </a:extLst>
          </p:cNvPr>
          <p:cNvSpPr/>
          <p:nvPr/>
        </p:nvSpPr>
        <p:spPr>
          <a:xfrm>
            <a:off x="838200" y="2133600"/>
            <a:ext cx="23622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7AA0F2D1-E7F2-1BE1-A945-EF39C204606C}"/>
              </a:ext>
            </a:extLst>
          </p:cNvPr>
          <p:cNvSpPr txBox="1"/>
          <p:nvPr/>
        </p:nvSpPr>
        <p:spPr>
          <a:xfrm>
            <a:off x="914400" y="2171700"/>
            <a:ext cx="2209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TÓM TẮT EMR · ĐỀ XUẤT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690FDAAC-04CC-BCFF-BA6A-104673F9B8AB}"/>
              </a:ext>
            </a:extLst>
          </p:cNvPr>
          <p:cNvSpPr txBox="1"/>
          <p:nvPr/>
        </p:nvSpPr>
        <p:spPr>
          <a:xfrm>
            <a:off x="889000" y="2679700"/>
            <a:ext cx="4737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Bác sĩ chọn hồ sơ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API kiểm tra quyền, giảm thiểu dữ liệu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AI tạo bản nháp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Bác sĩ rà soát / chỉnh sửa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Chỉ lưu khi được duyệt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EA1575CF-3982-19DF-EEAC-30073EBE271E}"/>
              </a:ext>
            </a:extLst>
          </p:cNvPr>
          <p:cNvSpPr/>
          <p:nvPr/>
        </p:nvSpPr>
        <p:spPr>
          <a:xfrm>
            <a:off x="6261100" y="1917700"/>
            <a:ext cx="5321300" cy="374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: Góc Tròn 12">
            <a:extLst>
              <a:ext uri="{FF2B5EF4-FFF2-40B4-BE49-F238E27FC236}">
                <a16:creationId xmlns:a16="http://schemas.microsoft.com/office/drawing/2014/main" id="{8207F344-B790-E8A8-8B82-6B76B1305E9D}"/>
              </a:ext>
            </a:extLst>
          </p:cNvPr>
          <p:cNvSpPr/>
          <p:nvPr/>
        </p:nvSpPr>
        <p:spPr>
          <a:xfrm>
            <a:off x="6489700" y="2133600"/>
            <a:ext cx="2667000" cy="2794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3C5FAAF9-6F81-C298-4C6E-4A1712C432F0}"/>
              </a:ext>
            </a:extLst>
          </p:cNvPr>
          <p:cNvSpPr txBox="1"/>
          <p:nvPr/>
        </p:nvSpPr>
        <p:spPr>
          <a:xfrm>
            <a:off x="6565900" y="2171700"/>
            <a:ext cx="25146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NHẮC TÁI KHÁM · ĐỀ XUẤT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870DCA64-ADE4-8428-4EAD-1B1081110A7F}"/>
              </a:ext>
            </a:extLst>
          </p:cNvPr>
          <p:cNvSpPr txBox="1"/>
          <p:nvPr/>
        </p:nvSpPr>
        <p:spPr>
          <a:xfrm>
            <a:off x="6553200" y="2679700"/>
            <a:ext cx="4737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Xác nhận ngày + đồng thuận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AI soạn nháp không chẩn đoán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Nhân viên / bác sĩ duyệt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Lưu lịch gửi + audit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↓</a:t>
            </a:r>
          </a:p>
          <a:p>
            <a:pPr>
              <a:spcAft>
                <a:spcPts val="400"/>
              </a:spcAft>
            </a:pPr>
            <a:r>
              <a:rPr lang="vi-VN" sz="1200">
                <a:solidFill>
                  <a:srgbClr val="153F3A"/>
                </a:solidFill>
                <a:latin typeface="Aptos" panose="020B0004020202020204" pitchFamily="34" charset="0"/>
              </a:rPr>
              <a:t>Job nền gửi, lưu kết quả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F9629CEC-FD07-EAC8-692A-1A43EB147DD5}"/>
              </a:ext>
            </a:extLst>
          </p:cNvPr>
          <p:cNvSpPr/>
          <p:nvPr/>
        </p:nvSpPr>
        <p:spPr>
          <a:xfrm>
            <a:off x="4152900" y="5867400"/>
            <a:ext cx="38862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665B8F07-8CAF-C3C4-7ADA-369A91AAA6C3}"/>
              </a:ext>
            </a:extLst>
          </p:cNvPr>
          <p:cNvSpPr txBox="1"/>
          <p:nvPr/>
        </p:nvSpPr>
        <p:spPr>
          <a:xfrm>
            <a:off x="4229100" y="5905500"/>
            <a:ext cx="37338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900" b="1">
                <a:solidFill>
                  <a:srgbClr val="CF755F"/>
                </a:solidFill>
                <a:latin typeface="Aptos" panose="020B0004020202020204" pitchFamily="34" charset="0"/>
              </a:rPr>
              <a:t>CHƯA CÓ API · DỊCH VỤ AI · LỊCH NỀN</a:t>
            </a:r>
          </a:p>
        </p:txBody>
      </p:sp>
    </p:spTree>
    <p:extLst>
      <p:ext uri="{BB962C8B-B14F-4D97-AF65-F5344CB8AC3E}">
        <p14:creationId xmlns:p14="http://schemas.microsoft.com/office/powerpoint/2010/main" val="3270074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1281540E-9D94-94A3-7909-B981A01974F4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10 / AN TOÀN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78DDD6B-AFAD-9381-E53B-0EC0B8A1498D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AI hỗ trợ hành chính, không thay bác sĩ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42E54834-328C-56C3-06F5-75AA86E721A2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Phân biệt biện pháp hiện có với điều kiện cần có trước khi triển khai AI tương lai.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125C718C-F964-0BDB-DD85-ED80E0123DE1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ECB4434C-5EAF-00E3-C047-C30A247FF996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25E5FAAE-3E8A-1C5D-01E1-8B9C62D1209A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11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1F853A1C-0755-A084-3FE3-AACE9BF04992}"/>
              </a:ext>
            </a:extLst>
          </p:cNvPr>
          <p:cNvSpPr/>
          <p:nvPr/>
        </p:nvSpPr>
        <p:spPr>
          <a:xfrm>
            <a:off x="609600" y="1917700"/>
            <a:ext cx="5283200" cy="3860800"/>
          </a:xfrm>
          <a:prstGeom prst="roundRect">
            <a:avLst/>
          </a:prstGeom>
          <a:solidFill>
            <a:srgbClr val="E7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10486E10-E242-43F8-4BD6-83B3B5F38A0D}"/>
              </a:ext>
            </a:extLst>
          </p:cNvPr>
          <p:cNvSpPr txBox="1"/>
          <p:nvPr/>
        </p:nvSpPr>
        <p:spPr>
          <a:xfrm>
            <a:off x="876300" y="2184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7685D"/>
                </a:solidFill>
                <a:latin typeface="Aptos" panose="020B0004020202020204" pitchFamily="34" charset="0"/>
              </a:rPr>
              <a:t>ĐANG CÓ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5CEAFFBE-1151-F92B-561E-3F3E031A6A02}"/>
              </a:ext>
            </a:extLst>
          </p:cNvPr>
          <p:cNvSpPr txBox="1"/>
          <p:nvPr/>
        </p:nvSpPr>
        <p:spPr>
          <a:xfrm>
            <a:off x="876300" y="2692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API nghiệp vụ phân quyền theo vai trò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Chatbot không cần dữ liệu bệnh nhân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Trả lời dựa trên danh mục / lịch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Thiếu dữ liệu: báo rõ, hướng lễ tân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QR chỉ cập nhật sau đối soát</a:t>
            </a:r>
          </a:p>
        </p:txBody>
      </p:sp>
      <p:sp>
        <p:nvSpPr>
          <p:cNvPr id="11" name="Hình chữ nhật: Góc Tròn 10">
            <a:extLst>
              <a:ext uri="{FF2B5EF4-FFF2-40B4-BE49-F238E27FC236}">
                <a16:creationId xmlns:a16="http://schemas.microsoft.com/office/drawing/2014/main" id="{F0B248AF-A757-4A6D-E04E-6BE1754D4803}"/>
              </a:ext>
            </a:extLst>
          </p:cNvPr>
          <p:cNvSpPr/>
          <p:nvPr/>
        </p:nvSpPr>
        <p:spPr>
          <a:xfrm>
            <a:off x="6299200" y="1917700"/>
            <a:ext cx="5283200" cy="3860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18399091-6F2B-10E8-7DF3-856D50C553EC}"/>
              </a:ext>
            </a:extLst>
          </p:cNvPr>
          <p:cNvSpPr txBox="1"/>
          <p:nvPr/>
        </p:nvSpPr>
        <p:spPr>
          <a:xfrm>
            <a:off x="6578600" y="2184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CF755F"/>
                </a:solidFill>
                <a:latin typeface="Aptos" panose="020B0004020202020204" pitchFamily="34" charset="0"/>
              </a:rPr>
              <a:t>TRƯỚC KHI BẬT AI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B9A466F9-49F0-F2A5-5A70-6F7636149855}"/>
              </a:ext>
            </a:extLst>
          </p:cNvPr>
          <p:cNvSpPr txBox="1"/>
          <p:nvPr/>
        </p:nvSpPr>
        <p:spPr>
          <a:xfrm>
            <a:off x="6578600" y="2692400"/>
            <a:ext cx="4699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Duyệt quyền và sự đồng thuận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Giảm thiểu dữ liệu gửi đi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Bác sĩ / nhân viên duyệt bản nháp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Lưu nguồn, phiên bản, nhật ký kiểm toán</a:t>
            </a:r>
          </a:p>
          <a:p>
            <a:pPr>
              <a:spcAft>
                <a:spcPts val="400"/>
              </a:spcAft>
            </a:pPr>
            <a:r>
              <a:rPr lang="vi-VN" sz="1300">
                <a:solidFill>
                  <a:srgbClr val="153F3A"/>
                </a:solidFill>
                <a:latin typeface="Aptos" panose="020B0004020202020204" pitchFamily="34" charset="0"/>
              </a:rPr>
              <a:t>• Lỗi: báo rõ, chuyển người phụ trách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3AF0AAFE-C9F9-03A8-AB89-17B37B108497}"/>
              </a:ext>
            </a:extLst>
          </p:cNvPr>
          <p:cNvSpPr txBox="1"/>
          <p:nvPr/>
        </p:nvSpPr>
        <p:spPr>
          <a:xfrm>
            <a:off x="660400" y="5981700"/>
            <a:ext cx="108331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000" b="1">
                <a:solidFill>
                  <a:srgbClr val="17685D"/>
                </a:solidFill>
                <a:latin typeface="Aptos" panose="020B0004020202020204" pitchFamily="34" charset="0"/>
              </a:rPr>
              <a:t>Hiện tại chưa gửi hồ sơ bệnh án tới nhà cung cấp AI.</a:t>
            </a:r>
          </a:p>
        </p:txBody>
      </p:sp>
    </p:spTree>
    <p:extLst>
      <p:ext uri="{BB962C8B-B14F-4D97-AF65-F5344CB8AC3E}">
        <p14:creationId xmlns:p14="http://schemas.microsoft.com/office/powerpoint/2010/main" val="3128286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0D124E2-50B5-079C-791A-7A34F2FFB5F9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11 / DEMO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F05215F-206C-9B47-8E8B-D31012F23536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500" b="1">
                <a:solidFill>
                  <a:srgbClr val="153F3A"/>
                </a:solidFill>
                <a:latin typeface="Aptos" panose="020B0004020202020204" pitchFamily="34" charset="0"/>
              </a:rPr>
              <a:t>Một tình huống xuyên suốt hệ thống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8BBF6CE5-ED15-5882-5102-07EF922FB4E8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Kịch bản gợi ý 3 phút; dùng dữ liệu demo, không cần giao dịch ngân hàng thật.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0B0D1A2C-A9D5-3E45-FC47-375336F295F0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9F892B45-9113-247F-4595-F1AD6D7B3793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C7CD6ACE-1497-B25E-F1E2-B9015771ECFE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12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73796BFF-0965-DC69-7DA6-D3A7851BA879}"/>
              </a:ext>
            </a:extLst>
          </p:cNvPr>
          <p:cNvSpPr/>
          <p:nvPr/>
        </p:nvSpPr>
        <p:spPr>
          <a:xfrm>
            <a:off x="5969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CAE31297-602C-B9C1-88DE-078BD72AB4D5}"/>
              </a:ext>
            </a:extLst>
          </p:cNvPr>
          <p:cNvSpPr txBox="1"/>
          <p:nvPr/>
        </p:nvSpPr>
        <p:spPr>
          <a:xfrm>
            <a:off x="8128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B7B27C5F-636F-E011-D5D1-D63C8A8C52B5}"/>
              </a:ext>
            </a:extLst>
          </p:cNvPr>
          <p:cNvSpPr txBox="1"/>
          <p:nvPr/>
        </p:nvSpPr>
        <p:spPr>
          <a:xfrm>
            <a:off x="8128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ĐẶT HẸN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2DCF0C0C-D1FB-C533-1BB0-EA38D224ABA8}"/>
              </a:ext>
            </a:extLst>
          </p:cNvPr>
          <p:cNvSpPr txBox="1"/>
          <p:nvPr/>
        </p:nvSpPr>
        <p:spPr>
          <a:xfrm>
            <a:off x="8128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Chọn bệnh nhân, dịch vụ, bác sĩ và giờ hợp lệ.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D832E6E2-1A73-6E30-1FA8-6F7161301771}"/>
              </a:ext>
            </a:extLst>
          </p:cNvPr>
          <p:cNvSpPr/>
          <p:nvPr/>
        </p:nvSpPr>
        <p:spPr>
          <a:xfrm>
            <a:off x="34925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2C9B62A3-E4F9-D74F-65A3-85BEF89B8F98}"/>
              </a:ext>
            </a:extLst>
          </p:cNvPr>
          <p:cNvSpPr txBox="1"/>
          <p:nvPr/>
        </p:nvSpPr>
        <p:spPr>
          <a:xfrm>
            <a:off x="37084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90B11AE0-B9EC-F896-19B5-5136D9881E85}"/>
              </a:ext>
            </a:extLst>
          </p:cNvPr>
          <p:cNvSpPr txBox="1"/>
          <p:nvPr/>
        </p:nvSpPr>
        <p:spPr>
          <a:xfrm>
            <a:off x="37084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GHI EMR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233BFB6E-BCF4-EAD9-C31F-CE74EF7B8A60}"/>
              </a:ext>
            </a:extLst>
          </p:cNvPr>
          <p:cNvSpPr txBox="1"/>
          <p:nvPr/>
        </p:nvSpPr>
        <p:spPr>
          <a:xfrm>
            <a:off x="37084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Bác sĩ lưu ghi nhận khám và dịch vụ chỉ định.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DE2D5B35-B443-B32E-14AD-01C57BCD33FF}"/>
              </a:ext>
            </a:extLst>
          </p:cNvPr>
          <p:cNvSpPr/>
          <p:nvPr/>
        </p:nvSpPr>
        <p:spPr>
          <a:xfrm>
            <a:off x="63881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6D23270B-73A2-5715-BC85-F6B763914B9D}"/>
              </a:ext>
            </a:extLst>
          </p:cNvPr>
          <p:cNvSpPr txBox="1"/>
          <p:nvPr/>
        </p:nvSpPr>
        <p:spPr>
          <a:xfrm>
            <a:off x="66040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8CDE88C2-C15C-0BFE-5E1D-D7B40600B28B}"/>
              </a:ext>
            </a:extLst>
          </p:cNvPr>
          <p:cNvSpPr txBox="1"/>
          <p:nvPr/>
        </p:nvSpPr>
        <p:spPr>
          <a:xfrm>
            <a:off x="66040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THANH TOÁN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5C86644B-1AD6-FAC0-D132-85132E790359}"/>
              </a:ext>
            </a:extLst>
          </p:cNvPr>
          <p:cNvSpPr txBox="1"/>
          <p:nvPr/>
        </p:nvSpPr>
        <p:spPr>
          <a:xfrm>
            <a:off x="66040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Mở hóa đơn; minh họa hộp thoại tiền mặt.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A6C602D8-58EE-F4C6-F3E2-72247F56EE37}"/>
              </a:ext>
            </a:extLst>
          </p:cNvPr>
          <p:cNvSpPr/>
          <p:nvPr/>
        </p:nvSpPr>
        <p:spPr>
          <a:xfrm>
            <a:off x="9283700" y="2197100"/>
            <a:ext cx="2527300" cy="21209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4D96289B-6979-0B8C-F3E7-A82DF7196ECC}"/>
              </a:ext>
            </a:extLst>
          </p:cNvPr>
          <p:cNvSpPr txBox="1"/>
          <p:nvPr/>
        </p:nvSpPr>
        <p:spPr>
          <a:xfrm>
            <a:off x="9499600" y="2425700"/>
            <a:ext cx="698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100" b="1">
                <a:solidFill>
                  <a:srgbClr val="D4A64A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22" name="Hộp Văn bản 21">
            <a:extLst>
              <a:ext uri="{FF2B5EF4-FFF2-40B4-BE49-F238E27FC236}">
                <a16:creationId xmlns:a16="http://schemas.microsoft.com/office/drawing/2014/main" id="{9252CC15-21E4-0635-D6D7-2ED106103716}"/>
              </a:ext>
            </a:extLst>
          </p:cNvPr>
          <p:cNvSpPr txBox="1"/>
          <p:nvPr/>
        </p:nvSpPr>
        <p:spPr>
          <a:xfrm>
            <a:off x="9499600" y="29464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 b="1">
                <a:solidFill>
                  <a:srgbClr val="17685D"/>
                </a:solidFill>
                <a:latin typeface="Aptos" panose="020B0004020202020204" pitchFamily="34" charset="0"/>
              </a:rPr>
              <a:t>CHATBOT</a:t>
            </a:r>
          </a:p>
        </p:txBody>
      </p: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04AF3A35-AE94-BAC5-A2EE-AA7B582255A8}"/>
              </a:ext>
            </a:extLst>
          </p:cNvPr>
          <p:cNvSpPr txBox="1"/>
          <p:nvPr/>
        </p:nvSpPr>
        <p:spPr>
          <a:xfrm>
            <a:off x="9499600" y="3390900"/>
            <a:ext cx="2108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Tra giá và nêu rõ giới hạn tư vấn.</a:t>
            </a:r>
          </a:p>
        </p:txBody>
      </p:sp>
      <p:sp>
        <p:nvSpPr>
          <p:cNvPr id="24" name="Hộp Văn bản 23">
            <a:extLst>
              <a:ext uri="{FF2B5EF4-FFF2-40B4-BE49-F238E27FC236}">
                <a16:creationId xmlns:a16="http://schemas.microsoft.com/office/drawing/2014/main" id="{4AFF467A-7B55-5F5C-E2A3-AB5736A63EC0}"/>
              </a:ext>
            </a:extLst>
          </p:cNvPr>
          <p:cNvSpPr txBox="1"/>
          <p:nvPr/>
        </p:nvSpPr>
        <p:spPr>
          <a:xfrm>
            <a:off x="698500" y="4775200"/>
            <a:ext cx="107823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Không trình diễn AI tóm tắt EMR hoặc gửi nhắc tái khám như chức năng đã có. Trình bày đó là đề xuất ở trang 10.</a:t>
            </a:r>
          </a:p>
        </p:txBody>
      </p:sp>
    </p:spTree>
    <p:extLst>
      <p:ext uri="{BB962C8B-B14F-4D97-AF65-F5344CB8AC3E}">
        <p14:creationId xmlns:p14="http://schemas.microsoft.com/office/powerpoint/2010/main" val="3096584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E990356F-9C3F-B22C-C5F3-1FA75F9DBDE5}"/>
              </a:ext>
            </a:extLst>
          </p:cNvPr>
          <p:cNvSpPr txBox="1"/>
          <p:nvPr/>
        </p:nvSpPr>
        <p:spPr>
          <a:xfrm>
            <a:off x="533400" y="254000"/>
            <a:ext cx="10795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900" b="1">
                <a:solidFill>
                  <a:srgbClr val="17685D"/>
                </a:solidFill>
                <a:latin typeface="Aptos" panose="020B0004020202020204" pitchFamily="34" charset="0"/>
              </a:rPr>
              <a:t>12 / CHẠY THỬ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AEC6ED75-106C-A5AF-692A-2B4CCE34E9AC}"/>
              </a:ext>
            </a:extLst>
          </p:cNvPr>
          <p:cNvSpPr txBox="1"/>
          <p:nvPr/>
        </p:nvSpPr>
        <p:spPr>
          <a:xfrm>
            <a:off x="533400" y="571500"/>
            <a:ext cx="111252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2200" b="1">
                <a:solidFill>
                  <a:srgbClr val="153F3A"/>
                </a:solidFill>
                <a:latin typeface="Aptos" panose="020B0004020202020204" pitchFamily="34" charset="0"/>
              </a:rPr>
              <a:t>Kịch bản trình bày 10 phút — nhóm chốt người nói</a:t>
            </a: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B2AC467-5F92-A6EC-B031-B10B74FA5AE0}"/>
              </a:ext>
            </a:extLst>
          </p:cNvPr>
          <p:cNvSpPr txBox="1"/>
          <p:nvPr/>
        </p:nvSpPr>
        <p:spPr>
          <a:xfrm>
            <a:off x="558800" y="1155700"/>
            <a:ext cx="109855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Phân vai gợi ý; thay bằng tên thành viên sau khi thống nhất.</a:t>
            </a:r>
          </a:p>
        </p:txBody>
      </p:sp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5B2B4751-43DB-6650-2DE8-B2893A9E6E65}"/>
              </a:ext>
            </a:extLst>
          </p:cNvPr>
          <p:cNvSpPr/>
          <p:nvPr/>
        </p:nvSpPr>
        <p:spPr>
          <a:xfrm>
            <a:off x="533400" y="6489700"/>
            <a:ext cx="11125200" cy="12700"/>
          </a:xfrm>
          <a:prstGeom prst="rect">
            <a:avLst/>
          </a:prstGeom>
          <a:solidFill>
            <a:srgbClr val="DCE4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83087726-FE9A-257D-B3C6-01E8733416F7}"/>
              </a:ext>
            </a:extLst>
          </p:cNvPr>
          <p:cNvSpPr txBox="1"/>
          <p:nvPr/>
        </p:nvSpPr>
        <p:spPr>
          <a:xfrm>
            <a:off x="546100" y="6565900"/>
            <a:ext cx="8890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800">
                <a:solidFill>
                  <a:srgbClr val="657875"/>
                </a:solidFill>
                <a:latin typeface="Aptos" panose="020B0004020202020204" pitchFamily="34" charset="0"/>
              </a:rPr>
              <a:t>DMS  •  Dental Management System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BD6FCC94-F544-13FE-15D2-C93D1DD1D625}"/>
              </a:ext>
            </a:extLst>
          </p:cNvPr>
          <p:cNvSpPr txBox="1"/>
          <p:nvPr/>
        </p:nvSpPr>
        <p:spPr>
          <a:xfrm>
            <a:off x="10883900" y="6553200"/>
            <a:ext cx="7747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spcAft>
                <a:spcPts val="400"/>
              </a:spcAft>
            </a:pPr>
            <a:r>
              <a:rPr lang="vi-VN" sz="900">
                <a:solidFill>
                  <a:srgbClr val="657875"/>
                </a:solidFill>
                <a:latin typeface="Aptos" panose="020B0004020202020204" pitchFamily="34" charset="0"/>
              </a:rPr>
              <a:t>13 / 13</a:t>
            </a:r>
          </a:p>
        </p:txBody>
      </p:sp>
      <p:sp>
        <p:nvSpPr>
          <p:cNvPr id="8" name="Hình chữ nhật: Góc Tròn 7">
            <a:extLst>
              <a:ext uri="{FF2B5EF4-FFF2-40B4-BE49-F238E27FC236}">
                <a16:creationId xmlns:a16="http://schemas.microsoft.com/office/drawing/2014/main" id="{78B88997-F553-4D20-0F90-C8E79F4B9172}"/>
              </a:ext>
            </a:extLst>
          </p:cNvPr>
          <p:cNvSpPr/>
          <p:nvPr/>
        </p:nvSpPr>
        <p:spPr>
          <a:xfrm>
            <a:off x="622300" y="2006600"/>
            <a:ext cx="33909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23B8870D-CEA5-18DA-1CF2-6FA3848B9DC2}"/>
              </a:ext>
            </a:extLst>
          </p:cNvPr>
          <p:cNvSpPr/>
          <p:nvPr/>
        </p:nvSpPr>
        <p:spPr>
          <a:xfrm>
            <a:off x="622300" y="2006600"/>
            <a:ext cx="63500" cy="2209800"/>
          </a:xfrm>
          <a:prstGeom prst="rect">
            <a:avLst/>
          </a:prstGeom>
          <a:solidFill>
            <a:srgbClr val="1768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B566BE51-E6E3-3C5F-C6C2-53FD502AE0EE}"/>
              </a:ext>
            </a:extLst>
          </p:cNvPr>
          <p:cNvSpPr txBox="1"/>
          <p:nvPr/>
        </p:nvSpPr>
        <p:spPr>
          <a:xfrm>
            <a:off x="812800" y="21463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400" b="1">
                <a:solidFill>
                  <a:srgbClr val="153F3A"/>
                </a:solidFill>
                <a:latin typeface="Aptos" panose="020B0004020202020204" pitchFamily="34" charset="0"/>
              </a:rPr>
              <a:t>THÀNH VIÊN A · 3 PHÚT</a:t>
            </a:r>
            <a:endParaRPr lang="vi-VN" sz="1400" b="1">
              <a:solidFill>
                <a:srgbClr val="153F3A"/>
              </a:solidFill>
              <a:latin typeface="Aptos" panose="020B0004020202020204" pitchFamily="34" charset="0"/>
            </a:endParaRP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22A36704-370C-9E94-647C-F3F45430581A}"/>
              </a:ext>
            </a:extLst>
          </p:cNvPr>
          <p:cNvSpPr txBox="1"/>
          <p:nvPr/>
        </p:nvSpPr>
        <p:spPr>
          <a:xfrm>
            <a:off x="812800" y="25400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Bài toán, phạm vi, kiến trúc và dữ liệu (trang 1–5). Người trình bày: ________</a:t>
            </a:r>
          </a:p>
        </p:txBody>
      </p:sp>
      <p:sp>
        <p:nvSpPr>
          <p:cNvPr id="12" name="Hình chữ nhật: Góc Tròn 11">
            <a:extLst>
              <a:ext uri="{FF2B5EF4-FFF2-40B4-BE49-F238E27FC236}">
                <a16:creationId xmlns:a16="http://schemas.microsoft.com/office/drawing/2014/main" id="{CA917AF5-B36F-1A3C-0DCB-E571FDBC94FA}"/>
              </a:ext>
            </a:extLst>
          </p:cNvPr>
          <p:cNvSpPr/>
          <p:nvPr/>
        </p:nvSpPr>
        <p:spPr>
          <a:xfrm>
            <a:off x="4394200" y="2006600"/>
            <a:ext cx="33909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1972A591-CF8C-B1AD-A4BA-54B1CB01A5DE}"/>
              </a:ext>
            </a:extLst>
          </p:cNvPr>
          <p:cNvSpPr/>
          <p:nvPr/>
        </p:nvSpPr>
        <p:spPr>
          <a:xfrm>
            <a:off x="4394200" y="2006600"/>
            <a:ext cx="63500" cy="2209800"/>
          </a:xfrm>
          <a:prstGeom prst="rect">
            <a:avLst/>
          </a:prstGeom>
          <a:solidFill>
            <a:srgbClr val="D4A6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ECD11F75-DE9C-1583-E2E9-D577E8F0CF71}"/>
              </a:ext>
            </a:extLst>
          </p:cNvPr>
          <p:cNvSpPr txBox="1"/>
          <p:nvPr/>
        </p:nvSpPr>
        <p:spPr>
          <a:xfrm>
            <a:off x="4584700" y="21463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THÀNH VIÊN B · 3 PHÚT</a:t>
            </a:r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24EEDBFF-7284-2334-C21F-5FA1E56D9B57}"/>
              </a:ext>
            </a:extLst>
          </p:cNvPr>
          <p:cNvSpPr txBox="1"/>
          <p:nvPr/>
        </p:nvSpPr>
        <p:spPr>
          <a:xfrm>
            <a:off x="4584700" y="25400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Đặt lịch, khám, EMR; dẫn demo (trang 6–7, 12). Người trình bày: ________</a:t>
            </a:r>
          </a:p>
        </p:txBody>
      </p: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20C9498D-FB13-C622-B148-EC3C4AC974D4}"/>
              </a:ext>
            </a:extLst>
          </p:cNvPr>
          <p:cNvSpPr/>
          <p:nvPr/>
        </p:nvSpPr>
        <p:spPr>
          <a:xfrm>
            <a:off x="8166100" y="2006600"/>
            <a:ext cx="3390900" cy="2209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4211B158-70C2-30B3-5095-DE699C30A078}"/>
              </a:ext>
            </a:extLst>
          </p:cNvPr>
          <p:cNvSpPr/>
          <p:nvPr/>
        </p:nvSpPr>
        <p:spPr>
          <a:xfrm>
            <a:off x="8166100" y="2006600"/>
            <a:ext cx="63500" cy="2209800"/>
          </a:xfrm>
          <a:prstGeom prst="rect">
            <a:avLst/>
          </a:prstGeom>
          <a:solidFill>
            <a:srgbClr val="CF755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8507BF57-2363-2224-4FBC-574D31697D06}"/>
              </a:ext>
            </a:extLst>
          </p:cNvPr>
          <p:cNvSpPr txBox="1"/>
          <p:nvPr/>
        </p:nvSpPr>
        <p:spPr>
          <a:xfrm>
            <a:off x="8356600" y="21463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400" b="1">
                <a:solidFill>
                  <a:srgbClr val="153F3A"/>
                </a:solidFill>
                <a:latin typeface="Aptos" panose="020B0004020202020204" pitchFamily="34" charset="0"/>
              </a:rPr>
              <a:t>THÀNH VIÊN C · 4 PHÚT</a:t>
            </a:r>
          </a:p>
        </p:txBody>
      </p:sp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D0EA77E1-94E8-8F27-5877-332630167572}"/>
              </a:ext>
            </a:extLst>
          </p:cNvPr>
          <p:cNvSpPr txBox="1"/>
          <p:nvPr/>
        </p:nvSpPr>
        <p:spPr>
          <a:xfrm>
            <a:off x="8356600" y="2540000"/>
            <a:ext cx="30480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vi-VN" sz="1100">
                <a:solidFill>
                  <a:srgbClr val="657875"/>
                </a:solidFill>
                <a:latin typeface="Aptos" panose="020B0004020202020204" pitchFamily="34" charset="0"/>
              </a:rPr>
              <a:t>Thanh toán, chatbot, an toàn AI (trang 8–11, 13). Người trình bày: ________</a:t>
            </a:r>
          </a:p>
        </p:txBody>
      </p:sp>
      <p:sp>
        <p:nvSpPr>
          <p:cNvPr id="20" name="Hình chữ nhật: Góc Tròn 19">
            <a:extLst>
              <a:ext uri="{FF2B5EF4-FFF2-40B4-BE49-F238E27FC236}">
                <a16:creationId xmlns:a16="http://schemas.microsoft.com/office/drawing/2014/main" id="{46DC4C10-0968-ED1D-64D0-2AA78ABADC7F}"/>
              </a:ext>
            </a:extLst>
          </p:cNvPr>
          <p:cNvSpPr/>
          <p:nvPr/>
        </p:nvSpPr>
        <p:spPr>
          <a:xfrm>
            <a:off x="647700" y="4597400"/>
            <a:ext cx="10896600" cy="1193800"/>
          </a:xfrm>
          <a:prstGeom prst="roundRect">
            <a:avLst/>
          </a:prstGeom>
          <a:solidFill>
            <a:srgbClr val="102D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ộp Văn bản 20">
            <a:extLst>
              <a:ext uri="{FF2B5EF4-FFF2-40B4-BE49-F238E27FC236}">
                <a16:creationId xmlns:a16="http://schemas.microsoft.com/office/drawing/2014/main" id="{A17A3F16-59A6-02E3-E8DF-EE36EE1FBB7A}"/>
              </a:ext>
            </a:extLst>
          </p:cNvPr>
          <p:cNvSpPr txBox="1"/>
          <p:nvPr/>
        </p:nvSpPr>
        <p:spPr>
          <a:xfrm>
            <a:off x="939800" y="4876800"/>
            <a:ext cx="10312400" cy="2160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>
              <a:spcAft>
                <a:spcPts val="400"/>
              </a:spcAft>
            </a:pPr>
            <a:r>
              <a:rPr lang="vi-VN" sz="1300">
                <a:solidFill>
                  <a:srgbClr val="FFFFFF"/>
                </a:solidFill>
                <a:latin typeface="Aptos" panose="020B0004020202020204" pitchFamily="34" charset="0"/>
              </a:rPr>
              <a:t>Tập dượt: 1 phút chuyển cảnh + 3 phút demo + 6 phút nội dung. Rà chính tả, thuật ngữ, hình ảnh, cỡ chữ và thời lượng.</a:t>
            </a:r>
          </a:p>
        </p:txBody>
      </p:sp>
    </p:spTree>
    <p:extLst>
      <p:ext uri="{BB962C8B-B14F-4D97-AF65-F5344CB8AC3E}">
        <p14:creationId xmlns:p14="http://schemas.microsoft.com/office/powerpoint/2010/main" val="3249573604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1512</Words>
  <Application>Microsoft Office PowerPoint</Application>
  <PresentationFormat>Tùy chỉnh</PresentationFormat>
  <Paragraphs>211</Paragraphs>
  <Slides>13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13</vt:i4>
      </vt:variant>
    </vt:vector>
  </HeadingPairs>
  <TitlesOfParts>
    <vt:vector size="17" baseType="lpstr">
      <vt:lpstr>Aptos</vt:lpstr>
      <vt:lpstr>Arial</vt:lpstr>
      <vt:lpstr>Times New Roman</vt:lpstr>
      <vt:lpstr>Chủ đề Office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Ngân Đỗ</dc:creator>
  <cp:lastModifiedBy>Ngân Đỗ</cp:lastModifiedBy>
  <cp:revision>1</cp:revision>
  <dcterms:created xsi:type="dcterms:W3CDTF">2026-10-18T02:00:41Z</dcterms:created>
  <dcterms:modified xsi:type="dcterms:W3CDTF">2026-10-18T02:00:41Z</dcterms:modified>
</cp:coreProperties>
</file>