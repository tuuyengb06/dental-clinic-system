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vi-VN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7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47B60B9-1780-EFAD-CC0C-76B3EF1EEF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0B2840CE-26AA-289D-6E7A-BEDE59057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vi-VN"/>
              <a:t>Bấm để chỉnh sửa kiểu tiêu đề phụ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05C90F22-CF3D-9EF8-A64F-DE878F6CD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69272B15-48A6-EE84-3493-4419C9687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C2D1BDA4-B6FE-1DE2-F99B-A438E6649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56873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25C4ACD-20D9-F63A-C501-D1DFABB8C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9B36183D-FB56-99AB-F3A9-32B11293A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1CE1EBF3-D0E3-0584-F8B2-38BDA5E33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9AF76373-ECEB-6529-AF7A-A6ADF8212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33DB131-04BD-2B62-38F5-35F6BD38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19412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F002784-8C25-FE3F-BA40-2A570575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AEB6BF32-26D1-BD27-12E4-4D14A3547F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90C06895-752E-FD72-44B1-795B3326A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6CE77149-5284-A5E4-79A1-288246AE5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8972522D-F68B-6526-3C0D-4FC04009D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71780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E02C192-6E14-CEC4-4E3B-E7328908A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E2729160-1C22-4A03-3A4B-0F253A8B97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7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A12CCBA-B2D9-0F51-B98D-B186F4656D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7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273CA9D0-622C-057C-AE88-960728A33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A571B3F3-31ED-51D8-85FE-689383DB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4F17399C-1FAD-41E3-898A-DD4E756C8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76490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3D59D18-8ADE-0565-33F0-352095822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C93B0984-F3DE-4481-FDCF-BCDC2F88D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4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73D867AE-9BF9-6CC2-07B7-E42386715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6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EF75A8A5-BD24-A88F-7663-A3002785F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4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5E64F6E4-01E5-2499-CE65-87C1C30168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6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F85BFA5A-A9A3-3F26-DCDD-FC8096C71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79B7E381-DEF3-D5A2-1B8A-4198A49A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FD84674E-EDAF-AAE9-562C-4C8A7274C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4253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9D4150D-CB0E-3AE1-3AF4-E314B8F34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685D4C9E-DE78-27CF-5561-657DA0142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09C58AC0-F038-9373-82E3-938FD721A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BB61D831-E51F-2764-1F3A-7C27E71F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23588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CF988EB6-F185-421B-F2EA-F795B5701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E1AF201E-E6AF-87B0-E4B4-523381386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38D755-1DCC-1373-F7C0-22BD5F93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13543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961A397-83C0-33A0-3A2A-91B6523CD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36487D19-3AE0-AC54-6BEA-E56CE4088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738345E5-1939-CC40-456B-9CAB9FEBED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C34CA9A1-0E0A-8D4E-06CB-BA66461C7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75B98C8C-E64F-16D7-8D14-B81CE7DE6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E6FEFDC4-2FE7-010D-D409-ED226D1B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41840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4E27209-009B-4A77-F5E8-5A59FF164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5349951D-3C33-A8F5-1DA4-F97D30BF4C7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vi-VN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E2401BA7-5B99-9C36-4A7D-8B0898D60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6F4E8CB3-806D-E4B3-D19E-36119C17F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1FD99099-37C0-F920-AE59-A5F05D74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F099ABA9-7E6F-48AF-C486-04D28085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14553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CE9BF3E-1005-CBA6-1F8B-25A6A8D1F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8246C1E6-A1B2-D655-84C2-615BD02BF3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3D1C91B2-7FBD-C7F4-3A1A-E1B48B34C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A92368BA-CBC0-F6E9-9002-83D11859E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E006AF5B-DCFE-C57A-C810-4620AE60A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6333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14B92B92-A3D6-9694-49C7-3747E7CB4E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F8E03225-D89F-41FD-78E7-F8617DB65D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2C961FC3-9C13-4146-4FC1-4E218EADE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1CDA6838-6544-C5DC-B6B3-FDACDD63E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47E35A9C-713A-F6D1-23E2-D401293FD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60184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7946D0F9-8BB9-724B-4CD7-4609F54D5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BBF22DDF-FABF-84F4-DC70-7042F552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01E2253B-92D2-555C-DCD7-4F27B210D6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86470-4349-47FE-9583-3F8A6EA241D7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CB05AE87-C5C1-6B75-F212-2C78F5919F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5DA9DDCB-8937-4564-2B39-8EEA6285C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1AEF7-2044-4839-8C56-918BADCD9CB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59987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2683630D-F01A-BFE2-5A89-0D254335E0BC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: Góc Tròn 2">
            <a:extLst>
              <a:ext uri="{FF2B5EF4-FFF2-40B4-BE49-F238E27FC236}">
                <a16:creationId xmlns:a16="http://schemas.microsoft.com/office/drawing/2014/main" id="{400C46C1-164E-E8E4-33C9-E62C94D8AF2A}"/>
              </a:ext>
            </a:extLst>
          </p:cNvPr>
          <p:cNvSpPr/>
          <p:nvPr/>
        </p:nvSpPr>
        <p:spPr>
          <a:xfrm>
            <a:off x="609600" y="546100"/>
            <a:ext cx="22860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5777D749-FB92-B3BF-DFFB-85522E614460}"/>
              </a:ext>
            </a:extLst>
          </p:cNvPr>
          <p:cNvSpPr txBox="1"/>
          <p:nvPr/>
        </p:nvSpPr>
        <p:spPr>
          <a:xfrm>
            <a:off x="685800" y="584200"/>
            <a:ext cx="2133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TỔNG QUAN DỰ ÁN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750B6C1F-1724-F390-81F4-2EDAABB4CCC3}"/>
              </a:ext>
            </a:extLst>
          </p:cNvPr>
          <p:cNvSpPr txBox="1"/>
          <p:nvPr/>
        </p:nvSpPr>
        <p:spPr>
          <a:xfrm>
            <a:off x="609600" y="1282700"/>
            <a:ext cx="450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3300" b="1">
                <a:solidFill>
                  <a:srgbClr val="153F3A"/>
                </a:solidFill>
                <a:latin typeface="Aptos" panose="020B0004020202020204" pitchFamily="34" charset="0"/>
              </a:rPr>
              <a:t>Quản lý nha khoa</a:t>
            </a:r>
          </a:p>
          <a:p>
            <a:pPr>
              <a:spcAft>
                <a:spcPts val="400"/>
              </a:spcAft>
            </a:pPr>
            <a:r>
              <a:rPr lang="vi-VN" sz="3300" b="1">
                <a:solidFill>
                  <a:srgbClr val="153F3A"/>
                </a:solidFill>
                <a:latin typeface="Aptos" panose="020B0004020202020204" pitchFamily="34" charset="0"/>
              </a:rPr>
              <a:t>liền mạch, rõ ràng</a:t>
            </a:r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C76B986-2162-9299-2E9E-6D1D114C6EFE}"/>
              </a:ext>
            </a:extLst>
          </p:cNvPr>
          <p:cNvSpPr txBox="1"/>
          <p:nvPr/>
        </p:nvSpPr>
        <p:spPr>
          <a:xfrm>
            <a:off x="635000" y="2819400"/>
            <a:ext cx="431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700" b="1">
                <a:solidFill>
                  <a:srgbClr val="17685D"/>
                </a:solidFill>
                <a:latin typeface="Aptos" panose="020B0004020202020204" pitchFamily="34" charset="0"/>
              </a:rPr>
              <a:t>Dental Management System (DMS)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E9ACC1FE-EE1B-32C2-F1D5-0D970CC4B327}"/>
              </a:ext>
            </a:extLst>
          </p:cNvPr>
          <p:cNvSpPr txBox="1"/>
          <p:nvPr/>
        </p:nvSpPr>
        <p:spPr>
          <a:xfrm>
            <a:off x="635000" y="3416300"/>
            <a:ext cx="4191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>
                <a:solidFill>
                  <a:srgbClr val="657875"/>
                </a:solidFill>
                <a:latin typeface="Aptos" panose="020B0004020202020204" pitchFamily="34" charset="0"/>
              </a:rPr>
              <a:t>Kết nối lịch hẹn, khám bệnh, hóa đơn và tư vấn thông tin.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1A4E9048-6C04-C0A5-E371-A8FAE9C69272}"/>
              </a:ext>
            </a:extLst>
          </p:cNvPr>
          <p:cNvSpPr/>
          <p:nvPr/>
        </p:nvSpPr>
        <p:spPr>
          <a:xfrm>
            <a:off x="609600" y="4851400"/>
            <a:ext cx="30734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0E6B2657-86EF-6DEE-EDE3-B3ECF80CD8A9}"/>
              </a:ext>
            </a:extLst>
          </p:cNvPr>
          <p:cNvSpPr txBox="1"/>
          <p:nvPr/>
        </p:nvSpPr>
        <p:spPr>
          <a:xfrm>
            <a:off x="685800" y="4889500"/>
            <a:ext cx="2921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NGHIỆP VỤ + AI TÙY CHỌN</a:t>
            </a:r>
          </a:p>
        </p:txBody>
      </p:sp>
      <p:sp>
        <p:nvSpPr>
          <p:cNvPr id="10" name="Hình chữ nhật: Góc Tròn 9">
            <a:extLst>
              <a:ext uri="{FF2B5EF4-FFF2-40B4-BE49-F238E27FC236}">
                <a16:creationId xmlns:a16="http://schemas.microsoft.com/office/drawing/2014/main" id="{164C50CC-C142-9421-6B6D-DA65AC6CB208}"/>
              </a:ext>
            </a:extLst>
          </p:cNvPr>
          <p:cNvSpPr/>
          <p:nvPr/>
        </p:nvSpPr>
        <p:spPr>
          <a:xfrm>
            <a:off x="5308600" y="1270000"/>
            <a:ext cx="6273800" cy="396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2" name="Hình ảnh 11">
            <a:extLst>
              <a:ext uri="{FF2B5EF4-FFF2-40B4-BE49-F238E27FC236}">
                <a16:creationId xmlns:a16="http://schemas.microsoft.com/office/drawing/2014/main" id="{C4C34D72-961F-00EC-7A5F-11B7A8C1960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1320800"/>
            <a:ext cx="6172200" cy="3860800"/>
          </a:xfrm>
          <a:prstGeom prst="rect">
            <a:avLst/>
          </a:prstGeom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26281422-5484-47CC-2952-41D630AC1CA3}"/>
              </a:ext>
            </a:extLst>
          </p:cNvPr>
          <p:cNvSpPr txBox="1"/>
          <p:nvPr/>
        </p:nvSpPr>
        <p:spPr>
          <a:xfrm>
            <a:off x="5384800" y="5334000"/>
            <a:ext cx="6057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Giao diện thật · dữ liệu demo</a:t>
            </a:r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CEB7F7CB-E482-8304-3EFA-492904AB82C2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023077F4-210B-5A4A-5461-23E1022E4B32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CE23F9D3-0A12-F03D-59FE-46DC185CCC17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01 / 13</a:t>
            </a:r>
          </a:p>
        </p:txBody>
      </p:sp>
    </p:spTree>
    <p:extLst>
      <p:ext uri="{BB962C8B-B14F-4D97-AF65-F5344CB8AC3E}">
        <p14:creationId xmlns:p14="http://schemas.microsoft.com/office/powerpoint/2010/main" val="2466369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EC801E1C-5348-5DB4-BBF7-024DEBFE3613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01 / BỐI CẢNH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A522F758-F571-6370-B1FE-CC940C1C5B8B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Từ thao tác rời rạc tới quy trình phối hợp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99FEBF7-5964-E335-2790-5448C5D4A19D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Dự án số hóa vận hành phòng khám và tạo dữ liệu nhất quán giữa các vai trò.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20E35455-1B3F-7F3C-79CE-4CB2927CD664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E7ACA612-597B-E92F-431F-1DC7DC5F5956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43245514-7455-1AAD-3806-559E03E100FA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02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7D7413B0-EEEE-5B1C-EF60-6B2A81E10061}"/>
              </a:ext>
            </a:extLst>
          </p:cNvPr>
          <p:cNvSpPr/>
          <p:nvPr/>
        </p:nvSpPr>
        <p:spPr>
          <a:xfrm>
            <a:off x="5842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D60E516D-EF4D-6E44-8489-4D4BDAF2E5CC}"/>
              </a:ext>
            </a:extLst>
          </p:cNvPr>
          <p:cNvSpPr/>
          <p:nvPr/>
        </p:nvSpPr>
        <p:spPr>
          <a:xfrm>
            <a:off x="584200" y="1917700"/>
            <a:ext cx="63500" cy="14224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49EA4315-F2F4-2901-5371-0743B25B54A3}"/>
              </a:ext>
            </a:extLst>
          </p:cNvPr>
          <p:cNvSpPr txBox="1"/>
          <p:nvPr/>
        </p:nvSpPr>
        <p:spPr>
          <a:xfrm>
            <a:off x="7747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Thách thức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EA169775-41C1-4ACF-378E-8ABF1A321ECD}"/>
              </a:ext>
            </a:extLst>
          </p:cNvPr>
          <p:cNvSpPr txBox="1"/>
          <p:nvPr/>
        </p:nvSpPr>
        <p:spPr>
          <a:xfrm>
            <a:off x="7747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Lịch, thông tin khám và thu phí cần phối hợp giữa lễ tân, bác sĩ và quản trị.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3A1DCA13-8A81-C68E-2BEC-E256E3E04FDC}"/>
              </a:ext>
            </a:extLst>
          </p:cNvPr>
          <p:cNvSpPr/>
          <p:nvPr/>
        </p:nvSpPr>
        <p:spPr>
          <a:xfrm>
            <a:off x="43815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8EBB74EA-59A1-22D3-F7F8-DC530940EA94}"/>
              </a:ext>
            </a:extLst>
          </p:cNvPr>
          <p:cNvSpPr/>
          <p:nvPr/>
        </p:nvSpPr>
        <p:spPr>
          <a:xfrm>
            <a:off x="4381500" y="1917700"/>
            <a:ext cx="63500" cy="14224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7D667916-7813-93A9-B271-F896ED1516E9}"/>
              </a:ext>
            </a:extLst>
          </p:cNvPr>
          <p:cNvSpPr txBox="1"/>
          <p:nvPr/>
        </p:nvSpPr>
        <p:spPr>
          <a:xfrm>
            <a:off x="45720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Giải pháp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3ED6183D-8FB3-045B-500F-B490D77CE984}"/>
              </a:ext>
            </a:extLst>
          </p:cNvPr>
          <p:cNvSpPr txBox="1"/>
          <p:nvPr/>
        </p:nvSpPr>
        <p:spPr>
          <a:xfrm>
            <a:off x="45720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Quản lý bệnh nhân, lịch, EMR, dịch vụ, hóa đơn, thanh toán và thống kê.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7AA86AB3-D848-2AB9-230B-3D74F953F424}"/>
              </a:ext>
            </a:extLst>
          </p:cNvPr>
          <p:cNvSpPr/>
          <p:nvPr/>
        </p:nvSpPr>
        <p:spPr>
          <a:xfrm>
            <a:off x="81788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6CF058C7-E580-769F-86AF-E434BC6C2B29}"/>
              </a:ext>
            </a:extLst>
          </p:cNvPr>
          <p:cNvSpPr/>
          <p:nvPr/>
        </p:nvSpPr>
        <p:spPr>
          <a:xfrm>
            <a:off x="8178800" y="1917700"/>
            <a:ext cx="63500" cy="14224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D4DB8DAE-85A0-4783-E6EF-B01F4159FB5E}"/>
              </a:ext>
            </a:extLst>
          </p:cNvPr>
          <p:cNvSpPr txBox="1"/>
          <p:nvPr/>
        </p:nvSpPr>
        <p:spPr>
          <a:xfrm>
            <a:off x="83693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Người dùng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25F9A628-AF6D-8980-3B71-272F4609260C}"/>
              </a:ext>
            </a:extLst>
          </p:cNvPr>
          <p:cNvSpPr txBox="1"/>
          <p:nvPr/>
        </p:nvSpPr>
        <p:spPr>
          <a:xfrm>
            <a:off x="83693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Quản trị, lễ tân và bác sĩ; quyền thao tác khác nhau theo vai trò.</a:t>
            </a:r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F8C2629B-C9AC-38C3-4C78-BD8013D8A552}"/>
              </a:ext>
            </a:extLst>
          </p:cNvPr>
          <p:cNvSpPr txBox="1"/>
          <p:nvPr/>
        </p:nvSpPr>
        <p:spPr>
          <a:xfrm>
            <a:off x="647700" y="3733800"/>
            <a:ext cx="5143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PHẠM VI CHỨC NĂNG</a:t>
            </a: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E06BBE36-4306-7591-EB00-E5A2A67230CD}"/>
              </a:ext>
            </a:extLst>
          </p:cNvPr>
          <p:cNvSpPr txBox="1"/>
          <p:nvPr/>
        </p:nvSpPr>
        <p:spPr>
          <a:xfrm>
            <a:off x="673100" y="4165600"/>
            <a:ext cx="4953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Bệnh nhân và lịch hẹn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EMR và dịch vụ chỉ định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Hóa đơn, tiền mặt, QR đối soát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Chatbot tra giá / khung giờ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Dashboard doanh thu / lượt khám</a:t>
            </a:r>
          </a:p>
        </p:txBody>
      </p:sp>
      <p:sp>
        <p:nvSpPr>
          <p:cNvPr id="22" name="Hình chữ nhật: Góc Tròn 21">
            <a:extLst>
              <a:ext uri="{FF2B5EF4-FFF2-40B4-BE49-F238E27FC236}">
                <a16:creationId xmlns:a16="http://schemas.microsoft.com/office/drawing/2014/main" id="{2A003D90-04C8-D49C-57F6-5ECC786C8DEE}"/>
              </a:ext>
            </a:extLst>
          </p:cNvPr>
          <p:cNvSpPr/>
          <p:nvPr/>
        </p:nvSpPr>
        <p:spPr>
          <a:xfrm>
            <a:off x="6223000" y="3848100"/>
            <a:ext cx="5359400" cy="18415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9C6C5B6B-B30B-91E1-E582-2F3413FCF780}"/>
              </a:ext>
            </a:extLst>
          </p:cNvPr>
          <p:cNvSpPr txBox="1"/>
          <p:nvPr/>
        </p:nvSpPr>
        <p:spPr>
          <a:xfrm>
            <a:off x="6515100" y="4102100"/>
            <a:ext cx="4749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500" b="1">
                <a:solidFill>
                  <a:srgbClr val="153F3A"/>
                </a:solidFill>
                <a:latin typeface="Aptos" panose="020B0004020202020204" pitchFamily="34" charset="0"/>
              </a:rPr>
              <a:t>Hiện trạng và tích hợp tùy chọn</a:t>
            </a:r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AEB7A17B-50D3-23B3-F468-A36BEA9628F3}"/>
              </a:ext>
            </a:extLst>
          </p:cNvPr>
          <p:cNvSpPr txBox="1"/>
          <p:nvPr/>
        </p:nvSpPr>
        <p:spPr>
          <a:xfrm>
            <a:off x="6515100" y="45339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657875"/>
                </a:solidFill>
                <a:latin typeface="Aptos" panose="020B0004020202020204" pitchFamily="34" charset="0"/>
              </a:rPr>
              <a:t>Chatbot tra cứu theo quy tắc. Tóm tắt EMR và nhắc tái khám đã có trong source; cần consent, cấu hình Gemini/Twilio và lịch gửi.</a:t>
            </a:r>
          </a:p>
        </p:txBody>
      </p:sp>
    </p:spTree>
    <p:extLst>
      <p:ext uri="{BB962C8B-B14F-4D97-AF65-F5344CB8AC3E}">
        <p14:creationId xmlns:p14="http://schemas.microsoft.com/office/powerpoint/2010/main" val="21040000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344B9FC7-140F-01CA-579B-FDD4B6112F4F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02 / QUY TRÌNH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FE902368-D209-5E8A-8243-D87B2F7828FD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Một hành trình dữ liệu, giá trị ở mỗi bước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1A7F1A8E-E438-BE9E-93FC-0750CF25D239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Các bước nối từ tiếp nhận tới thống kê, theo đúng quyền được cấp.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EB6A4D68-D0DB-2AC1-3B6E-2A1668534232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FB1BC25D-FCD6-AF48-2080-85F790F5CF8D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C70CD58D-38D3-F7D9-BDFA-A1F41A28635B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03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64911AEF-A719-4AFB-A06B-FF1D4BC63DBB}"/>
              </a:ext>
            </a:extLst>
          </p:cNvPr>
          <p:cNvSpPr/>
          <p:nvPr/>
        </p:nvSpPr>
        <p:spPr>
          <a:xfrm>
            <a:off x="6604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: Góc Tròn 8">
            <a:extLst>
              <a:ext uri="{FF2B5EF4-FFF2-40B4-BE49-F238E27FC236}">
                <a16:creationId xmlns:a16="http://schemas.microsoft.com/office/drawing/2014/main" id="{7D2473C1-A61B-32EE-D8CF-D409BD64B238}"/>
              </a:ext>
            </a:extLst>
          </p:cNvPr>
          <p:cNvSpPr/>
          <p:nvPr/>
        </p:nvSpPr>
        <p:spPr>
          <a:xfrm>
            <a:off x="8636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9908751C-AA57-5A11-1DFC-1B0A99A88A8B}"/>
              </a:ext>
            </a:extLst>
          </p:cNvPr>
          <p:cNvSpPr txBox="1"/>
          <p:nvPr/>
        </p:nvSpPr>
        <p:spPr>
          <a:xfrm>
            <a:off x="9398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LỄ TÂN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A694CAAD-4C7E-2DE6-2F30-80EC9E8B5C32}"/>
              </a:ext>
            </a:extLst>
          </p:cNvPr>
          <p:cNvSpPr txBox="1"/>
          <p:nvPr/>
        </p:nvSpPr>
        <p:spPr>
          <a:xfrm>
            <a:off x="8636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Tra hồ sơ, xem ca làm, đặt lịch hẹn.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88BDB216-68B7-D6A5-0092-45EF5BCA066F}"/>
              </a:ext>
            </a:extLst>
          </p:cNvPr>
          <p:cNvSpPr/>
          <p:nvPr/>
        </p:nvSpPr>
        <p:spPr>
          <a:xfrm>
            <a:off x="28575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55070CD1-BA74-25D6-6FF9-D0B7246B46CF}"/>
              </a:ext>
            </a:extLst>
          </p:cNvPr>
          <p:cNvSpPr/>
          <p:nvPr/>
        </p:nvSpPr>
        <p:spPr>
          <a:xfrm>
            <a:off x="35560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ình chữ nhật: Góc Tròn 13">
            <a:extLst>
              <a:ext uri="{FF2B5EF4-FFF2-40B4-BE49-F238E27FC236}">
                <a16:creationId xmlns:a16="http://schemas.microsoft.com/office/drawing/2014/main" id="{315C01A5-D811-D0C4-2952-C37BB4641129}"/>
              </a:ext>
            </a:extLst>
          </p:cNvPr>
          <p:cNvSpPr/>
          <p:nvPr/>
        </p:nvSpPr>
        <p:spPr>
          <a:xfrm>
            <a:off x="37592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7914E27F-286E-1980-B395-815CFB600452}"/>
              </a:ext>
            </a:extLst>
          </p:cNvPr>
          <p:cNvSpPr txBox="1"/>
          <p:nvPr/>
        </p:nvSpPr>
        <p:spPr>
          <a:xfrm>
            <a:off x="38354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BÁC SĨ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4E3EEC88-5E9B-006C-054A-B5AB21AA97B0}"/>
              </a:ext>
            </a:extLst>
          </p:cNvPr>
          <p:cNvSpPr txBox="1"/>
          <p:nvPr/>
        </p:nvSpPr>
        <p:spPr>
          <a:xfrm>
            <a:off x="37592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Khám, cập nhật EMR, chọn dịch vụ chỉ định.</a:t>
            </a: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0015EC4C-8616-8C2E-05F1-8D72F813F93E}"/>
              </a:ext>
            </a:extLst>
          </p:cNvPr>
          <p:cNvSpPr/>
          <p:nvPr/>
        </p:nvSpPr>
        <p:spPr>
          <a:xfrm>
            <a:off x="57531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ình chữ nhật: Góc Tròn 17">
            <a:extLst>
              <a:ext uri="{FF2B5EF4-FFF2-40B4-BE49-F238E27FC236}">
                <a16:creationId xmlns:a16="http://schemas.microsoft.com/office/drawing/2014/main" id="{95E7D419-AF2D-B2C9-5B9D-5A1B3C8EEDC9}"/>
              </a:ext>
            </a:extLst>
          </p:cNvPr>
          <p:cNvSpPr/>
          <p:nvPr/>
        </p:nvSpPr>
        <p:spPr>
          <a:xfrm>
            <a:off x="64516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ình chữ nhật: Góc Tròn 18">
            <a:extLst>
              <a:ext uri="{FF2B5EF4-FFF2-40B4-BE49-F238E27FC236}">
                <a16:creationId xmlns:a16="http://schemas.microsoft.com/office/drawing/2014/main" id="{1C7AF97D-19B2-583D-5795-13C0C012680D}"/>
              </a:ext>
            </a:extLst>
          </p:cNvPr>
          <p:cNvSpPr/>
          <p:nvPr/>
        </p:nvSpPr>
        <p:spPr>
          <a:xfrm>
            <a:off x="66548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16E9C3F6-54F4-BF91-932D-72023098B700}"/>
              </a:ext>
            </a:extLst>
          </p:cNvPr>
          <p:cNvSpPr txBox="1"/>
          <p:nvPr/>
        </p:nvSpPr>
        <p:spPr>
          <a:xfrm>
            <a:off x="67310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LỄ TÂN</a:t>
            </a: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0F276444-D19A-3B4A-3B1C-5073B56CA3AC}"/>
              </a:ext>
            </a:extLst>
          </p:cNvPr>
          <p:cNvSpPr txBox="1"/>
          <p:nvPr/>
        </p:nvSpPr>
        <p:spPr>
          <a:xfrm>
            <a:off x="66548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Tạo hóa đơn, nhận tiền hoặc đối soát QR.</a:t>
            </a:r>
          </a:p>
        </p:txBody>
      </p:sp>
      <p:sp>
        <p:nvSpPr>
          <p:cNvPr id="22" name="Hình chữ nhật 21">
            <a:extLst>
              <a:ext uri="{FF2B5EF4-FFF2-40B4-BE49-F238E27FC236}">
                <a16:creationId xmlns:a16="http://schemas.microsoft.com/office/drawing/2014/main" id="{132AF42B-9040-87C8-4442-DD9196D572AB}"/>
              </a:ext>
            </a:extLst>
          </p:cNvPr>
          <p:cNvSpPr/>
          <p:nvPr/>
        </p:nvSpPr>
        <p:spPr>
          <a:xfrm>
            <a:off x="86487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Hình chữ nhật: Góc Tròn 22">
            <a:extLst>
              <a:ext uri="{FF2B5EF4-FFF2-40B4-BE49-F238E27FC236}">
                <a16:creationId xmlns:a16="http://schemas.microsoft.com/office/drawing/2014/main" id="{D66F8E61-7CC1-4C58-6E0D-D3B4805A831F}"/>
              </a:ext>
            </a:extLst>
          </p:cNvPr>
          <p:cNvSpPr/>
          <p:nvPr/>
        </p:nvSpPr>
        <p:spPr>
          <a:xfrm>
            <a:off x="93472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Hình chữ nhật: Góc Tròn 23">
            <a:extLst>
              <a:ext uri="{FF2B5EF4-FFF2-40B4-BE49-F238E27FC236}">
                <a16:creationId xmlns:a16="http://schemas.microsoft.com/office/drawing/2014/main" id="{AA2EC251-3C18-C37B-FD7C-F126001D28BC}"/>
              </a:ext>
            </a:extLst>
          </p:cNvPr>
          <p:cNvSpPr/>
          <p:nvPr/>
        </p:nvSpPr>
        <p:spPr>
          <a:xfrm>
            <a:off x="95504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ộp Văn bản 24">
            <a:extLst>
              <a:ext uri="{FF2B5EF4-FFF2-40B4-BE49-F238E27FC236}">
                <a16:creationId xmlns:a16="http://schemas.microsoft.com/office/drawing/2014/main" id="{DB6CA56F-F40C-7E26-13AF-305612103C3A}"/>
              </a:ext>
            </a:extLst>
          </p:cNvPr>
          <p:cNvSpPr txBox="1"/>
          <p:nvPr/>
        </p:nvSpPr>
        <p:spPr>
          <a:xfrm>
            <a:off x="96266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QUẢN TRỊ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5D4E59C0-63BC-C40B-1BD4-5C657DFD99DF}"/>
              </a:ext>
            </a:extLst>
          </p:cNvPr>
          <p:cNvSpPr txBox="1"/>
          <p:nvPr/>
        </p:nvSpPr>
        <p:spPr>
          <a:xfrm>
            <a:off x="95504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Xem doanh thu và lượt khám theo thời gian.</a:t>
            </a:r>
          </a:p>
        </p:txBody>
      </p:sp>
      <p:sp>
        <p:nvSpPr>
          <p:cNvPr id="27" name="Hình chữ nhật: Góc Tròn 26">
            <a:extLst>
              <a:ext uri="{FF2B5EF4-FFF2-40B4-BE49-F238E27FC236}">
                <a16:creationId xmlns:a16="http://schemas.microsoft.com/office/drawing/2014/main" id="{27B7B76D-F22C-1B32-E3CD-51498D06D3E0}"/>
              </a:ext>
            </a:extLst>
          </p:cNvPr>
          <p:cNvSpPr/>
          <p:nvPr/>
        </p:nvSpPr>
        <p:spPr>
          <a:xfrm>
            <a:off x="863600" y="5016500"/>
            <a:ext cx="10464800" cy="876300"/>
          </a:xfrm>
          <a:prstGeom prst="roundRect">
            <a:avLst/>
          </a:prstGeom>
          <a:solidFill>
            <a:srgbClr val="102D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Hộp Văn bản 27">
            <a:extLst>
              <a:ext uri="{FF2B5EF4-FFF2-40B4-BE49-F238E27FC236}">
                <a16:creationId xmlns:a16="http://schemas.microsoft.com/office/drawing/2014/main" id="{85973A08-7338-9775-C153-EAE728D1C71D}"/>
              </a:ext>
            </a:extLst>
          </p:cNvPr>
          <p:cNvSpPr txBox="1"/>
          <p:nvPr/>
        </p:nvSpPr>
        <p:spPr>
          <a:xfrm>
            <a:off x="1092200" y="5308600"/>
            <a:ext cx="10007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700" b="1">
                <a:solidFill>
                  <a:srgbClr val="FFFFFF"/>
                </a:solidFill>
                <a:latin typeface="Aptos" panose="020B0004020202020204" pitchFamily="34" charset="0"/>
              </a:rPr>
              <a:t>Bệnh nhân → lịch → EMR → hóa đơn / giao dịch → dashboard</a:t>
            </a:r>
          </a:p>
        </p:txBody>
      </p:sp>
    </p:spTree>
    <p:extLst>
      <p:ext uri="{BB962C8B-B14F-4D97-AF65-F5344CB8AC3E}">
        <p14:creationId xmlns:p14="http://schemas.microsoft.com/office/powerpoint/2010/main" val="3011604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0C2518D-F384-A648-0B5C-6703E2396641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03 / KIẾN TRÚC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A8A0FE64-9D31-DEB8-64D7-EDE3359B9D54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Web, API, dữ liệu theo module nghiệp vụ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04041161-32DE-BB44-589B-7AF62AC7ACC1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Tóm lược cấu trúc frontend và backend trong repository.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955C9739-91C0-205C-6EF4-13890CE44D9F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4CE3EEC-C38C-E0C0-05D1-2E601289F396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6A3B005A-AD32-F87B-4086-A9D56D96C030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04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85821BD9-4752-4C6F-8898-7C2481A87448}"/>
              </a:ext>
            </a:extLst>
          </p:cNvPr>
          <p:cNvSpPr/>
          <p:nvPr/>
        </p:nvSpPr>
        <p:spPr>
          <a:xfrm>
            <a:off x="635000" y="2019300"/>
            <a:ext cx="2413000" cy="1651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9865EDE7-6624-6DEA-D3B4-D85DE9F2C584}"/>
              </a:ext>
            </a:extLst>
          </p:cNvPr>
          <p:cNvSpPr txBox="1"/>
          <p:nvPr/>
        </p:nvSpPr>
        <p:spPr>
          <a:xfrm>
            <a:off x="825500" y="2273300"/>
            <a:ext cx="2032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FRONTEND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F33B4669-006E-3D07-AE11-5E5DFB738599}"/>
              </a:ext>
            </a:extLst>
          </p:cNvPr>
          <p:cNvSpPr txBox="1"/>
          <p:nvPr/>
        </p:nvSpPr>
        <p:spPr>
          <a:xfrm>
            <a:off x="825500" y="2743200"/>
            <a:ext cx="2032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600" b="1">
                <a:solidFill>
                  <a:srgbClr val="153F3A"/>
                </a:solidFill>
                <a:latin typeface="Aptos" panose="020B0004020202020204" pitchFamily="34" charset="0"/>
              </a:rPr>
              <a:t>React UI</a:t>
            </a:r>
          </a:p>
          <a:p>
            <a:pPr algn="ctr">
              <a:spcAft>
                <a:spcPts val="400"/>
              </a:spcAft>
            </a:pPr>
            <a:r>
              <a:rPr lang="vi-VN" sz="1600" b="1">
                <a:solidFill>
                  <a:srgbClr val="153F3A"/>
                </a:solidFill>
                <a:latin typeface="Aptos" panose="020B0004020202020204" pitchFamily="34" charset="0"/>
              </a:rPr>
              <a:t>Vite · trình duyệt</a:t>
            </a:r>
          </a:p>
        </p:txBody>
      </p:sp>
      <p:sp>
        <p:nvSpPr>
          <p:cNvPr id="11" name="Hình chữ nhật: Góc Tròn 10">
            <a:extLst>
              <a:ext uri="{FF2B5EF4-FFF2-40B4-BE49-F238E27FC236}">
                <a16:creationId xmlns:a16="http://schemas.microsoft.com/office/drawing/2014/main" id="{9CD4BA17-2DE5-CBED-EC87-2024D9248A82}"/>
              </a:ext>
            </a:extLst>
          </p:cNvPr>
          <p:cNvSpPr/>
          <p:nvPr/>
        </p:nvSpPr>
        <p:spPr>
          <a:xfrm>
            <a:off x="3619500" y="2019300"/>
            <a:ext cx="4610100" cy="16510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8E741078-24CE-5D39-EB5C-546FF1E29797}"/>
              </a:ext>
            </a:extLst>
          </p:cNvPr>
          <p:cNvSpPr txBox="1"/>
          <p:nvPr/>
        </p:nvSpPr>
        <p:spPr>
          <a:xfrm>
            <a:off x="3810000" y="2273300"/>
            <a:ext cx="4216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DJANGO REST API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47309369-9DA9-EB16-7844-3E6735DB6983}"/>
              </a:ext>
            </a:extLst>
          </p:cNvPr>
          <p:cNvSpPr txBox="1"/>
          <p:nvPr/>
        </p:nvSpPr>
        <p:spPr>
          <a:xfrm>
            <a:off x="3810000" y="2730500"/>
            <a:ext cx="4216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en-US" sz="1300" b="1">
                <a:solidFill>
                  <a:srgbClr val="153F3A"/>
                </a:solidFill>
                <a:latin typeface="Aptos" panose="020B0004020202020204" pitchFamily="34" charset="0"/>
              </a:rPr>
              <a:t>authentication · clinic</a:t>
            </a:r>
          </a:p>
          <a:p>
            <a:pPr algn="ctr">
              <a:spcAft>
                <a:spcPts val="400"/>
              </a:spcAft>
            </a:pPr>
            <a:r>
              <a:rPr lang="en-US" sz="1300" b="1">
                <a:solidFill>
                  <a:srgbClr val="153F3A"/>
                </a:solidFill>
                <a:latin typeface="Aptos" panose="020B0004020202020204" pitchFamily="34" charset="0"/>
              </a:rPr>
              <a:t>appointments · chatbot/dashboard</a:t>
            </a:r>
            <a:endParaRPr lang="vi-VN" sz="1300" b="1">
              <a:solidFill>
                <a:srgbClr val="153F3A"/>
              </a:solidFill>
              <a:latin typeface="Aptos" panose="020B0004020202020204" pitchFamily="34" charset="0"/>
            </a:endParaRPr>
          </a:p>
        </p:txBody>
      </p:sp>
      <p:sp>
        <p:nvSpPr>
          <p:cNvPr id="14" name="Hình chữ nhật: Góc Tròn 13">
            <a:extLst>
              <a:ext uri="{FF2B5EF4-FFF2-40B4-BE49-F238E27FC236}">
                <a16:creationId xmlns:a16="http://schemas.microsoft.com/office/drawing/2014/main" id="{3F3AF5AF-D6CA-F308-14FD-DB40B9636CB0}"/>
              </a:ext>
            </a:extLst>
          </p:cNvPr>
          <p:cNvSpPr/>
          <p:nvPr/>
        </p:nvSpPr>
        <p:spPr>
          <a:xfrm>
            <a:off x="8813800" y="2019300"/>
            <a:ext cx="2743200" cy="1651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26A90DC8-0E83-8FB8-8956-83948FB125AE}"/>
              </a:ext>
            </a:extLst>
          </p:cNvPr>
          <p:cNvSpPr txBox="1"/>
          <p:nvPr/>
        </p:nvSpPr>
        <p:spPr>
          <a:xfrm>
            <a:off x="8991600" y="2273300"/>
            <a:ext cx="2374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CƠ SỞ DỮ LIỆU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6A362511-B3AD-6339-60EB-D44FFC4B1AEB}"/>
              </a:ext>
            </a:extLst>
          </p:cNvPr>
          <p:cNvSpPr txBox="1"/>
          <p:nvPr/>
        </p:nvSpPr>
        <p:spPr>
          <a:xfrm>
            <a:off x="8991600" y="2743200"/>
            <a:ext cx="2374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300" b="1">
                <a:solidFill>
                  <a:srgbClr val="153F3A"/>
                </a:solidFill>
                <a:latin typeface="Aptos" panose="020B0004020202020204" pitchFamily="34" charset="0"/>
              </a:rPr>
              <a:t>SQLite mặc định</a:t>
            </a:r>
          </a:p>
          <a:p>
            <a:pPr algn="ctr">
              <a:spcAft>
                <a:spcPts val="400"/>
              </a:spcAft>
            </a:pPr>
            <a:r>
              <a:rPr lang="vi-VN" sz="1300" b="1">
                <a:solidFill>
                  <a:srgbClr val="153F3A"/>
                </a:solidFill>
                <a:latin typeface="Aptos" panose="020B0004020202020204" pitchFamily="34" charset="0"/>
              </a:rPr>
              <a:t>SQL Server tùy chọn</a:t>
            </a: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4E4B6440-0E4C-D584-48E6-213A167A2BCF}"/>
              </a:ext>
            </a:extLst>
          </p:cNvPr>
          <p:cNvSpPr/>
          <p:nvPr/>
        </p:nvSpPr>
        <p:spPr>
          <a:xfrm>
            <a:off x="3048000" y="2819400"/>
            <a:ext cx="5715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940F5202-62BF-B584-248F-FB8DEC398A89}"/>
              </a:ext>
            </a:extLst>
          </p:cNvPr>
          <p:cNvSpPr/>
          <p:nvPr/>
        </p:nvSpPr>
        <p:spPr>
          <a:xfrm>
            <a:off x="8229600" y="2819400"/>
            <a:ext cx="5842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ình chữ nhật: Góc Tròn 18">
            <a:extLst>
              <a:ext uri="{FF2B5EF4-FFF2-40B4-BE49-F238E27FC236}">
                <a16:creationId xmlns:a16="http://schemas.microsoft.com/office/drawing/2014/main" id="{FCDA23FC-2C20-B4AE-CFB3-36CB44396DC5}"/>
              </a:ext>
            </a:extLst>
          </p:cNvPr>
          <p:cNvSpPr/>
          <p:nvPr/>
        </p:nvSpPr>
        <p:spPr>
          <a:xfrm>
            <a:off x="6350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ình chữ nhật 19">
            <a:extLst>
              <a:ext uri="{FF2B5EF4-FFF2-40B4-BE49-F238E27FC236}">
                <a16:creationId xmlns:a16="http://schemas.microsoft.com/office/drawing/2014/main" id="{3A923739-6F07-19D5-53A8-9ACF90E48A3E}"/>
              </a:ext>
            </a:extLst>
          </p:cNvPr>
          <p:cNvSpPr/>
          <p:nvPr/>
        </p:nvSpPr>
        <p:spPr>
          <a:xfrm>
            <a:off x="635000" y="4013200"/>
            <a:ext cx="63500" cy="14732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2EE4A54B-130A-8396-FC9E-06F6C8E18C96}"/>
              </a:ext>
            </a:extLst>
          </p:cNvPr>
          <p:cNvSpPr txBox="1"/>
          <p:nvPr/>
        </p:nvSpPr>
        <p:spPr>
          <a:xfrm>
            <a:off x="8255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QR</a:t>
            </a:r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8407C79D-BCD0-9B4E-D001-4276CA0C35FA}"/>
              </a:ext>
            </a:extLst>
          </p:cNvPr>
          <p:cNvSpPr txBox="1"/>
          <p:nvPr/>
        </p:nvSpPr>
        <p:spPr>
          <a:xfrm>
            <a:off x="8255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VietQR tạo ảnh; không có webhook hay xác minh ngân hàng tự động.</a:t>
            </a:r>
          </a:p>
        </p:txBody>
      </p:sp>
      <p:sp>
        <p:nvSpPr>
          <p:cNvPr id="23" name="Hình chữ nhật: Góc Tròn 22">
            <a:extLst>
              <a:ext uri="{FF2B5EF4-FFF2-40B4-BE49-F238E27FC236}">
                <a16:creationId xmlns:a16="http://schemas.microsoft.com/office/drawing/2014/main" id="{79ABB6E6-73F1-5F14-CD07-61192375DB07}"/>
              </a:ext>
            </a:extLst>
          </p:cNvPr>
          <p:cNvSpPr/>
          <p:nvPr/>
        </p:nvSpPr>
        <p:spPr>
          <a:xfrm>
            <a:off x="44323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Hình chữ nhật 23">
            <a:extLst>
              <a:ext uri="{FF2B5EF4-FFF2-40B4-BE49-F238E27FC236}">
                <a16:creationId xmlns:a16="http://schemas.microsoft.com/office/drawing/2014/main" id="{5877B74F-0A6B-E0EA-B213-CAB9CDBCC655}"/>
              </a:ext>
            </a:extLst>
          </p:cNvPr>
          <p:cNvSpPr/>
          <p:nvPr/>
        </p:nvSpPr>
        <p:spPr>
          <a:xfrm>
            <a:off x="4432300" y="4013200"/>
            <a:ext cx="63500" cy="14732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ộp Văn bản 24">
            <a:extLst>
              <a:ext uri="{FF2B5EF4-FFF2-40B4-BE49-F238E27FC236}">
                <a16:creationId xmlns:a16="http://schemas.microsoft.com/office/drawing/2014/main" id="{1645C8A5-2A33-725F-2BC4-9BF3E523DCBF}"/>
              </a:ext>
            </a:extLst>
          </p:cNvPr>
          <p:cNvSpPr txBox="1"/>
          <p:nvPr/>
        </p:nvSpPr>
        <p:spPr>
          <a:xfrm>
            <a:off x="46228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Chatbot hiện hành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156A474C-CBC3-11C7-9D1A-8B0D2C41A06D}"/>
              </a:ext>
            </a:extLst>
          </p:cNvPr>
          <p:cNvSpPr txBox="1"/>
          <p:nvPr/>
        </p:nvSpPr>
        <p:spPr>
          <a:xfrm>
            <a:off x="46228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Quy tắc + truy vấn dịch vụ/lịch trong cơ sở dữ liệu.</a:t>
            </a:r>
          </a:p>
        </p:txBody>
      </p:sp>
      <p:sp>
        <p:nvSpPr>
          <p:cNvPr id="27" name="Hình chữ nhật: Góc Tròn 26">
            <a:extLst>
              <a:ext uri="{FF2B5EF4-FFF2-40B4-BE49-F238E27FC236}">
                <a16:creationId xmlns:a16="http://schemas.microsoft.com/office/drawing/2014/main" id="{AB2E5F9C-337F-65BE-FAAD-62C53B87CAFA}"/>
              </a:ext>
            </a:extLst>
          </p:cNvPr>
          <p:cNvSpPr/>
          <p:nvPr/>
        </p:nvSpPr>
        <p:spPr>
          <a:xfrm>
            <a:off x="82296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Hình chữ nhật 27">
            <a:extLst>
              <a:ext uri="{FF2B5EF4-FFF2-40B4-BE49-F238E27FC236}">
                <a16:creationId xmlns:a16="http://schemas.microsoft.com/office/drawing/2014/main" id="{F03847C2-9D2C-81B8-93C8-0C0E7CE9C7FF}"/>
              </a:ext>
            </a:extLst>
          </p:cNvPr>
          <p:cNvSpPr/>
          <p:nvPr/>
        </p:nvSpPr>
        <p:spPr>
          <a:xfrm>
            <a:off x="8229600" y="4013200"/>
            <a:ext cx="63500" cy="14732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Hộp Văn bản 28">
            <a:extLst>
              <a:ext uri="{FF2B5EF4-FFF2-40B4-BE49-F238E27FC236}">
                <a16:creationId xmlns:a16="http://schemas.microsoft.com/office/drawing/2014/main" id="{CDC9F63F-B6FD-8861-0F9C-5F202BBDBF3C}"/>
              </a:ext>
            </a:extLst>
          </p:cNvPr>
          <p:cNvSpPr txBox="1"/>
          <p:nvPr/>
        </p:nvSpPr>
        <p:spPr>
          <a:xfrm>
            <a:off x="84201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AI / SMS tùy chọn</a:t>
            </a:r>
          </a:p>
        </p:txBody>
      </p:sp>
      <p:sp>
        <p:nvSpPr>
          <p:cNvPr id="30" name="Hộp Văn bản 29">
            <a:extLst>
              <a:ext uri="{FF2B5EF4-FFF2-40B4-BE49-F238E27FC236}">
                <a16:creationId xmlns:a16="http://schemas.microsoft.com/office/drawing/2014/main" id="{FEEC45E3-9124-DE5B-A045-384CFE9E55C6}"/>
              </a:ext>
            </a:extLst>
          </p:cNvPr>
          <p:cNvSpPr txBox="1"/>
          <p:nvPr/>
        </p:nvSpPr>
        <p:spPr>
          <a:xfrm>
            <a:off x="84201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Gemini tạo bản nháp EMR/lời nhắc chung; Twilio gửi SMS. Cần consent, credentials và Task Scheduler.</a:t>
            </a:r>
          </a:p>
        </p:txBody>
      </p:sp>
    </p:spTree>
    <p:extLst>
      <p:ext uri="{BB962C8B-B14F-4D97-AF65-F5344CB8AC3E}">
        <p14:creationId xmlns:p14="http://schemas.microsoft.com/office/powerpoint/2010/main" val="2862947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DE5EB80-3D1D-C01A-89D9-8B7DEC572EA2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04 / THIẾT KẾ DỮ LIỆU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12C30E22-B787-DA4B-E23F-BEEFD7D9CBEB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Các thực thể chính nối thành chuỗi nghiệp vụ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D7647F3-65A9-6907-F005-2A3A2F171A00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Sơ đồ rút gọn theo model hiện hành; các trường chỉ liệt kê để minh họa.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ABCC6146-4DAE-FE4E-F08B-898BBB5D115C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497B27B-4918-0C34-74A7-A3742ED3EB71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BE74110E-6A47-2DD5-C3D7-DB013C7223F7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05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5B897797-324F-6D50-704A-A7F5A4329B69}"/>
              </a:ext>
            </a:extLst>
          </p:cNvPr>
          <p:cNvSpPr/>
          <p:nvPr/>
        </p:nvSpPr>
        <p:spPr>
          <a:xfrm>
            <a:off x="635000" y="2336800"/>
            <a:ext cx="2159000" cy="1270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886E548B-97F1-D11C-9D8E-A1E1C60FF65C}"/>
              </a:ext>
            </a:extLst>
          </p:cNvPr>
          <p:cNvSpPr/>
          <p:nvPr/>
        </p:nvSpPr>
        <p:spPr>
          <a:xfrm>
            <a:off x="635000" y="2336800"/>
            <a:ext cx="63500" cy="12700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3A5326B6-BC6A-59AB-AFBD-2F53978A5D4A}"/>
              </a:ext>
            </a:extLst>
          </p:cNvPr>
          <p:cNvSpPr txBox="1"/>
          <p:nvPr/>
        </p:nvSpPr>
        <p:spPr>
          <a:xfrm>
            <a:off x="825500" y="24765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PATIENT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CF447CD6-FC6E-F5AD-79F4-3FD4174CDE46}"/>
              </a:ext>
            </a:extLst>
          </p:cNvPr>
          <p:cNvSpPr txBox="1"/>
          <p:nvPr/>
        </p:nvSpPr>
        <p:spPr>
          <a:xfrm>
            <a:off x="825500" y="28702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code · name · phone · AI/SMS consent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0AE1EE43-96F9-4BD2-CD29-D050F8FE1AD3}"/>
              </a:ext>
            </a:extLst>
          </p:cNvPr>
          <p:cNvSpPr/>
          <p:nvPr/>
        </p:nvSpPr>
        <p:spPr>
          <a:xfrm>
            <a:off x="3556000" y="2336800"/>
            <a:ext cx="2159000" cy="1270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C4A1A113-F655-7EA3-9A4B-631413336F26}"/>
              </a:ext>
            </a:extLst>
          </p:cNvPr>
          <p:cNvSpPr/>
          <p:nvPr/>
        </p:nvSpPr>
        <p:spPr>
          <a:xfrm>
            <a:off x="3556000" y="2336800"/>
            <a:ext cx="63500" cy="12700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6AC622A1-4F34-8D42-F9BC-060D7D74F607}"/>
              </a:ext>
            </a:extLst>
          </p:cNvPr>
          <p:cNvSpPr txBox="1"/>
          <p:nvPr/>
        </p:nvSpPr>
        <p:spPr>
          <a:xfrm>
            <a:off x="3746500" y="24765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APPOINTMENT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A8A2E601-135A-5E57-3785-93615632FD15}"/>
              </a:ext>
            </a:extLst>
          </p:cNvPr>
          <p:cNvSpPr txBox="1"/>
          <p:nvPr/>
        </p:nvSpPr>
        <p:spPr>
          <a:xfrm>
            <a:off x="3746500" y="28702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patient · doctor · service · time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9A27290A-1DA8-3B52-D02F-301EE2D1D0DE}"/>
              </a:ext>
            </a:extLst>
          </p:cNvPr>
          <p:cNvSpPr/>
          <p:nvPr/>
        </p:nvSpPr>
        <p:spPr>
          <a:xfrm>
            <a:off x="6477000" y="2336800"/>
            <a:ext cx="2159000" cy="1270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549055C7-9681-8EED-99DE-CB2A01C286A8}"/>
              </a:ext>
            </a:extLst>
          </p:cNvPr>
          <p:cNvSpPr/>
          <p:nvPr/>
        </p:nvSpPr>
        <p:spPr>
          <a:xfrm>
            <a:off x="6477000" y="2336800"/>
            <a:ext cx="63500" cy="12700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A3DE9BC1-1063-DE74-B09C-491D6F1C05D1}"/>
              </a:ext>
            </a:extLst>
          </p:cNvPr>
          <p:cNvSpPr txBox="1"/>
          <p:nvPr/>
        </p:nvSpPr>
        <p:spPr>
          <a:xfrm>
            <a:off x="6667500" y="24765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MEDICAL RECORD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8BC7F43B-87B3-19A3-8C61-DE77AEA8171D}"/>
              </a:ext>
            </a:extLst>
          </p:cNvPr>
          <p:cNvSpPr txBox="1"/>
          <p:nvPr/>
        </p:nvSpPr>
        <p:spPr>
          <a:xfrm>
            <a:off x="6667500" y="28702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100">
                <a:solidFill>
                  <a:srgbClr val="657875"/>
                </a:solidFill>
                <a:latin typeface="Aptos" panose="020B0004020202020204" pitchFamily="34" charset="0"/>
              </a:rPr>
              <a:t>appointment · diagnosis · plan · follow-up date</a:t>
            </a:r>
            <a:endParaRPr lang="vi-VN" sz="1100">
              <a:solidFill>
                <a:srgbClr val="657875"/>
              </a:solidFill>
              <a:latin typeface="Aptos" panose="020B0004020202020204" pitchFamily="34" charset="0"/>
            </a:endParaRP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0F19D517-9173-3E5E-9FEC-8B6BEBD61895}"/>
              </a:ext>
            </a:extLst>
          </p:cNvPr>
          <p:cNvSpPr/>
          <p:nvPr/>
        </p:nvSpPr>
        <p:spPr>
          <a:xfrm>
            <a:off x="9398000" y="2336800"/>
            <a:ext cx="2159000" cy="1270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7E93A1C3-AE7A-380B-707F-0362A633303C}"/>
              </a:ext>
            </a:extLst>
          </p:cNvPr>
          <p:cNvSpPr/>
          <p:nvPr/>
        </p:nvSpPr>
        <p:spPr>
          <a:xfrm>
            <a:off x="9398000" y="2336800"/>
            <a:ext cx="63500" cy="12700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DDE00ACE-03AB-4A05-B963-A49C8699C393}"/>
              </a:ext>
            </a:extLst>
          </p:cNvPr>
          <p:cNvSpPr txBox="1"/>
          <p:nvPr/>
        </p:nvSpPr>
        <p:spPr>
          <a:xfrm>
            <a:off x="9588500" y="24765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INVOICE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632A4485-39B0-D024-3EAA-8180E42537F0}"/>
              </a:ext>
            </a:extLst>
          </p:cNvPr>
          <p:cNvSpPr txBox="1"/>
          <p:nvPr/>
        </p:nvSpPr>
        <p:spPr>
          <a:xfrm>
            <a:off x="9588500" y="28702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100">
                <a:solidFill>
                  <a:srgbClr val="657875"/>
                </a:solidFill>
                <a:latin typeface="Aptos" panose="020B0004020202020204" pitchFamily="34" charset="0"/>
              </a:rPr>
              <a:t>patient · medical_record · total/status</a:t>
            </a:r>
            <a:endParaRPr lang="vi-VN" sz="1100">
              <a:solidFill>
                <a:srgbClr val="657875"/>
              </a:solidFill>
              <a:latin typeface="Aptos" panose="020B0004020202020204" pitchFamily="34" charset="0"/>
            </a:endParaRPr>
          </a:p>
        </p:txBody>
      </p:sp>
      <p:sp>
        <p:nvSpPr>
          <p:cNvPr id="24" name="Hình chữ nhật 23">
            <a:extLst>
              <a:ext uri="{FF2B5EF4-FFF2-40B4-BE49-F238E27FC236}">
                <a16:creationId xmlns:a16="http://schemas.microsoft.com/office/drawing/2014/main" id="{FD635AE9-2A64-8110-338B-AA0C3359D06A}"/>
              </a:ext>
            </a:extLst>
          </p:cNvPr>
          <p:cNvSpPr/>
          <p:nvPr/>
        </p:nvSpPr>
        <p:spPr>
          <a:xfrm>
            <a:off x="2794000" y="2946400"/>
            <a:ext cx="7620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ình chữ nhật 24">
            <a:extLst>
              <a:ext uri="{FF2B5EF4-FFF2-40B4-BE49-F238E27FC236}">
                <a16:creationId xmlns:a16="http://schemas.microsoft.com/office/drawing/2014/main" id="{E9FC35F2-3F4D-0BB1-49B1-D94B7D4B4A0B}"/>
              </a:ext>
            </a:extLst>
          </p:cNvPr>
          <p:cNvSpPr/>
          <p:nvPr/>
        </p:nvSpPr>
        <p:spPr>
          <a:xfrm>
            <a:off x="5715000" y="2946400"/>
            <a:ext cx="7620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6" name="Hình chữ nhật 25">
            <a:extLst>
              <a:ext uri="{FF2B5EF4-FFF2-40B4-BE49-F238E27FC236}">
                <a16:creationId xmlns:a16="http://schemas.microsoft.com/office/drawing/2014/main" id="{DDAEE7B2-6958-6FE0-6CE6-B83CB592664D}"/>
              </a:ext>
            </a:extLst>
          </p:cNvPr>
          <p:cNvSpPr/>
          <p:nvPr/>
        </p:nvSpPr>
        <p:spPr>
          <a:xfrm>
            <a:off x="8636000" y="2946400"/>
            <a:ext cx="7620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7" name="Hộp Văn bản 26">
            <a:extLst>
              <a:ext uri="{FF2B5EF4-FFF2-40B4-BE49-F238E27FC236}">
                <a16:creationId xmlns:a16="http://schemas.microsoft.com/office/drawing/2014/main" id="{F9D0EB04-16C0-57A1-55E4-061A21D899F7}"/>
              </a:ext>
            </a:extLst>
          </p:cNvPr>
          <p:cNvSpPr txBox="1"/>
          <p:nvPr/>
        </p:nvSpPr>
        <p:spPr>
          <a:xfrm>
            <a:off x="2832100" y="2628900"/>
            <a:ext cx="685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1:N</a:t>
            </a:r>
          </a:p>
        </p:txBody>
      </p:sp>
      <p:sp>
        <p:nvSpPr>
          <p:cNvPr id="28" name="Hộp Văn bản 27">
            <a:extLst>
              <a:ext uri="{FF2B5EF4-FFF2-40B4-BE49-F238E27FC236}">
                <a16:creationId xmlns:a16="http://schemas.microsoft.com/office/drawing/2014/main" id="{3CEE4C5A-4D04-20A6-3F6A-FA2B250EBA97}"/>
              </a:ext>
            </a:extLst>
          </p:cNvPr>
          <p:cNvSpPr txBox="1"/>
          <p:nvPr/>
        </p:nvSpPr>
        <p:spPr>
          <a:xfrm>
            <a:off x="5753100" y="2628900"/>
            <a:ext cx="685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1:0..1</a:t>
            </a:r>
          </a:p>
        </p:txBody>
      </p:sp>
      <p:sp>
        <p:nvSpPr>
          <p:cNvPr id="29" name="Hộp Văn bản 28">
            <a:extLst>
              <a:ext uri="{FF2B5EF4-FFF2-40B4-BE49-F238E27FC236}">
                <a16:creationId xmlns:a16="http://schemas.microsoft.com/office/drawing/2014/main" id="{979A5232-D02C-DE53-D93C-AE11218761F9}"/>
              </a:ext>
            </a:extLst>
          </p:cNvPr>
          <p:cNvSpPr txBox="1"/>
          <p:nvPr/>
        </p:nvSpPr>
        <p:spPr>
          <a:xfrm>
            <a:off x="8674100" y="2628900"/>
            <a:ext cx="685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800" b="1">
                <a:solidFill>
                  <a:srgbClr val="17685D"/>
                </a:solidFill>
                <a:latin typeface="Aptos" panose="020B0004020202020204" pitchFamily="34" charset="0"/>
              </a:rPr>
              <a:t>0..1:0..1</a:t>
            </a:r>
          </a:p>
        </p:txBody>
      </p:sp>
      <p:sp>
        <p:nvSpPr>
          <p:cNvPr id="30" name="Hình chữ nhật 29">
            <a:extLst>
              <a:ext uri="{FF2B5EF4-FFF2-40B4-BE49-F238E27FC236}">
                <a16:creationId xmlns:a16="http://schemas.microsoft.com/office/drawing/2014/main" id="{FA1950A9-AB2C-30BF-2239-BC0F31501C38}"/>
              </a:ext>
            </a:extLst>
          </p:cNvPr>
          <p:cNvSpPr/>
          <p:nvPr/>
        </p:nvSpPr>
        <p:spPr>
          <a:xfrm>
            <a:off x="10477500" y="3606800"/>
            <a:ext cx="38100" cy="3810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1" name="Hình chữ nhật 30">
            <a:extLst>
              <a:ext uri="{FF2B5EF4-FFF2-40B4-BE49-F238E27FC236}">
                <a16:creationId xmlns:a16="http://schemas.microsoft.com/office/drawing/2014/main" id="{04268D2C-60A9-3FC2-ADC2-4CD07DAF179D}"/>
              </a:ext>
            </a:extLst>
          </p:cNvPr>
          <p:cNvSpPr/>
          <p:nvPr/>
        </p:nvSpPr>
        <p:spPr>
          <a:xfrm>
            <a:off x="6019800" y="3987800"/>
            <a:ext cx="44704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2" name="Hình chữ nhật 31">
            <a:extLst>
              <a:ext uri="{FF2B5EF4-FFF2-40B4-BE49-F238E27FC236}">
                <a16:creationId xmlns:a16="http://schemas.microsoft.com/office/drawing/2014/main" id="{98EEF36E-B446-B453-0755-C641DE4E0CFD}"/>
              </a:ext>
            </a:extLst>
          </p:cNvPr>
          <p:cNvSpPr/>
          <p:nvPr/>
        </p:nvSpPr>
        <p:spPr>
          <a:xfrm>
            <a:off x="6019800" y="3987800"/>
            <a:ext cx="38100" cy="3302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3" name="Hình chữ nhật 32">
            <a:extLst>
              <a:ext uri="{FF2B5EF4-FFF2-40B4-BE49-F238E27FC236}">
                <a16:creationId xmlns:a16="http://schemas.microsoft.com/office/drawing/2014/main" id="{B9DB70FE-5FCD-4FD0-7EC5-4743A8715862}"/>
              </a:ext>
            </a:extLst>
          </p:cNvPr>
          <p:cNvSpPr/>
          <p:nvPr/>
        </p:nvSpPr>
        <p:spPr>
          <a:xfrm>
            <a:off x="10464800" y="3987800"/>
            <a:ext cx="38100" cy="3302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4" name="Hình chữ nhật: Góc Tròn 33">
            <a:extLst>
              <a:ext uri="{FF2B5EF4-FFF2-40B4-BE49-F238E27FC236}">
                <a16:creationId xmlns:a16="http://schemas.microsoft.com/office/drawing/2014/main" id="{490D2D13-8DE5-D17C-101D-70249077A8DD}"/>
              </a:ext>
            </a:extLst>
          </p:cNvPr>
          <p:cNvSpPr/>
          <p:nvPr/>
        </p:nvSpPr>
        <p:spPr>
          <a:xfrm>
            <a:off x="4889500" y="4318000"/>
            <a:ext cx="2286000" cy="11176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Hình chữ nhật 34">
            <a:extLst>
              <a:ext uri="{FF2B5EF4-FFF2-40B4-BE49-F238E27FC236}">
                <a16:creationId xmlns:a16="http://schemas.microsoft.com/office/drawing/2014/main" id="{0C772AEE-D1F4-B5D9-2DE7-088CB1BC006B}"/>
              </a:ext>
            </a:extLst>
          </p:cNvPr>
          <p:cNvSpPr/>
          <p:nvPr/>
        </p:nvSpPr>
        <p:spPr>
          <a:xfrm>
            <a:off x="4889500" y="4318000"/>
            <a:ext cx="63500" cy="11176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2162DFA3-37CD-5487-28B8-931FDF47F308}"/>
              </a:ext>
            </a:extLst>
          </p:cNvPr>
          <p:cNvSpPr txBox="1"/>
          <p:nvPr/>
        </p:nvSpPr>
        <p:spPr>
          <a:xfrm>
            <a:off x="5080000" y="4457700"/>
            <a:ext cx="194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INVOICE ITEM</a:t>
            </a:r>
          </a:p>
        </p:txBody>
      </p:sp>
      <p:sp>
        <p:nvSpPr>
          <p:cNvPr id="37" name="Hộp Văn bản 36">
            <a:extLst>
              <a:ext uri="{FF2B5EF4-FFF2-40B4-BE49-F238E27FC236}">
                <a16:creationId xmlns:a16="http://schemas.microsoft.com/office/drawing/2014/main" id="{888DFA41-97B4-72C4-9A41-39D5863C257A}"/>
              </a:ext>
            </a:extLst>
          </p:cNvPr>
          <p:cNvSpPr txBox="1"/>
          <p:nvPr/>
        </p:nvSpPr>
        <p:spPr>
          <a:xfrm>
            <a:off x="5080000" y="4851400"/>
            <a:ext cx="194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100">
                <a:solidFill>
                  <a:srgbClr val="657875"/>
                </a:solidFill>
                <a:latin typeface="Aptos" panose="020B0004020202020204" pitchFamily="34" charset="0"/>
              </a:rPr>
              <a:t>service · quantity · unit_price · amount</a:t>
            </a:r>
            <a:endParaRPr lang="vi-VN" sz="1100">
              <a:solidFill>
                <a:srgbClr val="657875"/>
              </a:solidFill>
              <a:latin typeface="Aptos" panose="020B0004020202020204" pitchFamily="34" charset="0"/>
            </a:endParaRPr>
          </a:p>
        </p:txBody>
      </p:sp>
      <p:sp>
        <p:nvSpPr>
          <p:cNvPr id="38" name="Hình chữ nhật: Góc Tròn 37">
            <a:extLst>
              <a:ext uri="{FF2B5EF4-FFF2-40B4-BE49-F238E27FC236}">
                <a16:creationId xmlns:a16="http://schemas.microsoft.com/office/drawing/2014/main" id="{86142200-A352-C36A-E897-B95F468F47D5}"/>
              </a:ext>
            </a:extLst>
          </p:cNvPr>
          <p:cNvSpPr/>
          <p:nvPr/>
        </p:nvSpPr>
        <p:spPr>
          <a:xfrm>
            <a:off x="9334500" y="4318000"/>
            <a:ext cx="2286000" cy="11176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9" name="Hình chữ nhật 38">
            <a:extLst>
              <a:ext uri="{FF2B5EF4-FFF2-40B4-BE49-F238E27FC236}">
                <a16:creationId xmlns:a16="http://schemas.microsoft.com/office/drawing/2014/main" id="{63E5CE62-8B29-3538-BEFD-ADFBB4A6CDBC}"/>
              </a:ext>
            </a:extLst>
          </p:cNvPr>
          <p:cNvSpPr/>
          <p:nvPr/>
        </p:nvSpPr>
        <p:spPr>
          <a:xfrm>
            <a:off x="9334500" y="4318000"/>
            <a:ext cx="63500" cy="11176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0" name="Hộp Văn bản 39">
            <a:extLst>
              <a:ext uri="{FF2B5EF4-FFF2-40B4-BE49-F238E27FC236}">
                <a16:creationId xmlns:a16="http://schemas.microsoft.com/office/drawing/2014/main" id="{30EF0FC2-F939-7B0C-8FED-095BD3FA25F6}"/>
              </a:ext>
            </a:extLst>
          </p:cNvPr>
          <p:cNvSpPr txBox="1"/>
          <p:nvPr/>
        </p:nvSpPr>
        <p:spPr>
          <a:xfrm>
            <a:off x="9525000" y="4457700"/>
            <a:ext cx="194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PAYMENT</a:t>
            </a:r>
          </a:p>
        </p:txBody>
      </p:sp>
      <p:sp>
        <p:nvSpPr>
          <p:cNvPr id="41" name="Hộp Văn bản 40">
            <a:extLst>
              <a:ext uri="{FF2B5EF4-FFF2-40B4-BE49-F238E27FC236}">
                <a16:creationId xmlns:a16="http://schemas.microsoft.com/office/drawing/2014/main" id="{E55F5371-9423-8939-11A5-ED5CC7D250C1}"/>
              </a:ext>
            </a:extLst>
          </p:cNvPr>
          <p:cNvSpPr txBox="1"/>
          <p:nvPr/>
        </p:nvSpPr>
        <p:spPr>
          <a:xfrm>
            <a:off x="9525000" y="4851400"/>
            <a:ext cx="194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invoice · amount · method · status</a:t>
            </a:r>
          </a:p>
        </p:txBody>
      </p:sp>
      <p:sp>
        <p:nvSpPr>
          <p:cNvPr id="42" name="Hộp Văn bản 41">
            <a:extLst>
              <a:ext uri="{FF2B5EF4-FFF2-40B4-BE49-F238E27FC236}">
                <a16:creationId xmlns:a16="http://schemas.microsoft.com/office/drawing/2014/main" id="{7069D877-0C90-CD35-F6FE-2EE2C52251FE}"/>
              </a:ext>
            </a:extLst>
          </p:cNvPr>
          <p:cNvSpPr txBox="1"/>
          <p:nvPr/>
        </p:nvSpPr>
        <p:spPr>
          <a:xfrm>
            <a:off x="6032500" y="40640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1:N</a:t>
            </a:r>
          </a:p>
        </p:txBody>
      </p:sp>
      <p:sp>
        <p:nvSpPr>
          <p:cNvPr id="43" name="Hộp Văn bản 42">
            <a:extLst>
              <a:ext uri="{FF2B5EF4-FFF2-40B4-BE49-F238E27FC236}">
                <a16:creationId xmlns:a16="http://schemas.microsoft.com/office/drawing/2014/main" id="{E425E361-834D-F9D6-69E6-18430D146790}"/>
              </a:ext>
            </a:extLst>
          </p:cNvPr>
          <p:cNvSpPr txBox="1"/>
          <p:nvPr/>
        </p:nvSpPr>
        <p:spPr>
          <a:xfrm>
            <a:off x="10477500" y="40640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1:N</a:t>
            </a:r>
          </a:p>
        </p:txBody>
      </p:sp>
      <p:sp>
        <p:nvSpPr>
          <p:cNvPr id="44" name="Hình chữ nhật: Góc Tròn 43">
            <a:extLst>
              <a:ext uri="{FF2B5EF4-FFF2-40B4-BE49-F238E27FC236}">
                <a16:creationId xmlns:a16="http://schemas.microsoft.com/office/drawing/2014/main" id="{F96195A1-5447-8313-C886-59A12C730396}"/>
              </a:ext>
            </a:extLst>
          </p:cNvPr>
          <p:cNvSpPr/>
          <p:nvPr/>
        </p:nvSpPr>
        <p:spPr>
          <a:xfrm>
            <a:off x="609600" y="4686300"/>
            <a:ext cx="38100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5" name="Hộp Văn bản 44">
            <a:extLst>
              <a:ext uri="{FF2B5EF4-FFF2-40B4-BE49-F238E27FC236}">
                <a16:creationId xmlns:a16="http://schemas.microsoft.com/office/drawing/2014/main" id="{F0D3A7C6-8FAA-1927-96E1-AA205AA4C7AA}"/>
              </a:ext>
            </a:extLst>
          </p:cNvPr>
          <p:cNvSpPr txBox="1"/>
          <p:nvPr/>
        </p:nvSpPr>
        <p:spPr>
          <a:xfrm>
            <a:off x="685800" y="4724400"/>
            <a:ext cx="3657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EMR ↔ dịch vụ / răng: quan hệ nhiều-nhiều</a:t>
            </a:r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7D2E83AD-6F9C-3448-A439-78B5C40BCED8}"/>
              </a:ext>
            </a:extLst>
          </p:cNvPr>
          <p:cNvSpPr txBox="1"/>
          <p:nvPr/>
        </p:nvSpPr>
        <p:spPr>
          <a:xfrm>
            <a:off x="609600" y="5143500"/>
            <a:ext cx="381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000">
                <a:solidFill>
                  <a:srgbClr val="657875"/>
                </a:solidFill>
                <a:latin typeface="Aptos" panose="020B0004020202020204" pitchFamily="34" charset="0"/>
              </a:rPr>
              <a:t>FollowUpReminder theo dõi trạng thái gửi duy nhất theo EMR/ngày.</a:t>
            </a:r>
          </a:p>
        </p:txBody>
      </p:sp>
    </p:spTree>
    <p:extLst>
      <p:ext uri="{BB962C8B-B14F-4D97-AF65-F5344CB8AC3E}">
        <p14:creationId xmlns:p14="http://schemas.microsoft.com/office/powerpoint/2010/main" val="509967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F548BCB-99F1-E046-CC9C-156FE0060E8A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05 / ĐẶT LỊCH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6E06112C-BB84-8549-0B8F-483086236312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Kiểm tra lịch trước khi xác nhận đặt hẹn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7924E69-7B6E-A8BA-1155-9CCC804A4677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API kiểm tra ca làm, thời lượng dịch vụ và lịch bị trùng.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85495AA4-46E3-41C9-6E90-55D470B24357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59D9C428-0FF1-664A-9015-B5CAB3FB5E4D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19388347-4ADC-BC3A-5FAC-A8DA46518B05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06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9718E137-2241-899F-F0DC-949AF3153242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2D91CBED-335C-927A-114B-47DBC2370CC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AC47543E-A4C7-2591-0A53-720A20496D0B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Giao diện thật · dữ liệu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34DA7A1C-35AA-5810-B413-9B602E73BBB8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F306985D-DFA7-1698-28A1-7CE77074D431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8EF7110D-AFFE-4C37-C7A1-B170160AD609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Nhập thông tin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9D97AA83-3DBA-9BAA-7DBA-466B3E3E72B4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Bệnh nhân, bác sĩ, dịch vụ, ngày, giờ và lý do khám.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E6AECA7A-0E2C-CE4C-930E-63DAC2AE8C6F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62EBB501-8F6D-0FCF-0AEC-3514E8FB4240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62D82A7F-6873-E325-543A-62E230CA9670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Kiểm tra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50C72E03-8127-85B7-D2ED-CE4D6E8A6E86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Đúng ca làm, đủ thời lượng, không xung đột lịch.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83EC7245-4F9A-1BDA-8B80-9A45D21E3E36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F6BFBC7D-BB97-7486-E271-09ED575DE4F2}"/>
              </a:ext>
            </a:extLst>
          </p:cNvPr>
          <p:cNvSpPr/>
          <p:nvPr/>
        </p:nvSpPr>
        <p:spPr>
          <a:xfrm>
            <a:off x="8077200" y="46863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5ED31E5F-7413-25F1-B3BD-BEBF49B4CFAA}"/>
              </a:ext>
            </a:extLst>
          </p:cNvPr>
          <p:cNvSpPr txBox="1"/>
          <p:nvPr/>
        </p:nvSpPr>
        <p:spPr>
          <a:xfrm>
            <a:off x="8267700" y="48260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Kết quả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CAFCAAA4-C9A9-AD22-CD4B-29F6EFE699A1}"/>
              </a:ext>
            </a:extLst>
          </p:cNvPr>
          <p:cNvSpPr txBox="1"/>
          <p:nvPr/>
        </p:nvSpPr>
        <p:spPr>
          <a:xfrm>
            <a:off x="8267700" y="52197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Chỉ báo thành công khi API tạo lịch.</a:t>
            </a:r>
          </a:p>
        </p:txBody>
      </p:sp>
    </p:spTree>
    <p:extLst>
      <p:ext uri="{BB962C8B-B14F-4D97-AF65-F5344CB8AC3E}">
        <p14:creationId xmlns:p14="http://schemas.microsoft.com/office/powerpoint/2010/main" val="1937393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4B68E8AB-D443-225D-2723-9C090B210746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06 / KHÁM BỆNH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0A25DFC0-0269-CB79-D72E-3FBDF24683A1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Hồ sơ bệnh án điện tử (EMR) gắn với lịch hẹn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0BB1F813-66D9-5F1B-4822-103B4E113935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Bác sĩ ghi nhận nội dung khám và dịch vụ được chỉ định.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C05FE8FA-2ACF-0587-8818-E521B77D63AF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B8F5CEE9-80F2-4F67-715D-920C1F363D12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BDB9C57D-FECC-0ACE-9051-FDEFC8C2E37E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07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B85A8391-AA18-8EEE-0E67-4BFB7D0AEC1C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4F729F05-9FC4-31A8-4157-2950BFDBEB5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9BCFAEFC-902F-9A56-EE0F-D8CC6B6318A9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Giao diện EMR thật · hồ sơ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AE825BF4-3E35-E980-20EB-4D123FEBD3AA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9BA48238-823D-3C61-B834-43B76E163DCA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66DD68D3-FAB5-4994-57D1-587A0E829560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Liên kết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900A8F44-3D2F-E95A-364A-1734146A168B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Mỗi EMR gắn một-một với lịch hẹn.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377C7367-F671-A263-4216-B5ED89A85021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7E0BAC59-FC55-B285-7934-0DB6B8A6E087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6570D003-1F83-B1BC-ABED-C7C67AB93A57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Ghi nhận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51C3E0F9-50F4-6B76-5919-8E2D4E86725E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Chẩn đoán, hướng điều trị, răng và dịch vụ.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ABB5344C-2A08-08AA-C2FC-9559F793D831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: Góc Tròn 20">
            <a:extLst>
              <a:ext uri="{FF2B5EF4-FFF2-40B4-BE49-F238E27FC236}">
                <a16:creationId xmlns:a16="http://schemas.microsoft.com/office/drawing/2014/main" id="{D569B4F1-C703-B606-EDB4-29B81BA7E951}"/>
              </a:ext>
            </a:extLst>
          </p:cNvPr>
          <p:cNvSpPr/>
          <p:nvPr/>
        </p:nvSpPr>
        <p:spPr>
          <a:xfrm>
            <a:off x="8255000" y="4851400"/>
            <a:ext cx="26035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7E387749-4CAA-33C4-9888-E42526CEA893}"/>
              </a:ext>
            </a:extLst>
          </p:cNvPr>
          <p:cNvSpPr txBox="1"/>
          <p:nvPr/>
        </p:nvSpPr>
        <p:spPr>
          <a:xfrm>
            <a:off x="8331200" y="4889500"/>
            <a:ext cx="2451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AI SUMMARY · TÙY CHỌN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87CDC2DE-0492-5790-9FA5-68AB1176DA48}"/>
              </a:ext>
            </a:extLst>
          </p:cNvPr>
          <p:cNvSpPr txBox="1"/>
          <p:nvPr/>
        </p:nvSpPr>
        <p:spPr>
          <a:xfrm>
            <a:off x="8255000" y="5270500"/>
            <a:ext cx="3111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Cần consent + Gemini key; bác sĩ rà soát bản nháp.</a:t>
            </a:r>
          </a:p>
        </p:txBody>
      </p:sp>
    </p:spTree>
    <p:extLst>
      <p:ext uri="{BB962C8B-B14F-4D97-AF65-F5344CB8AC3E}">
        <p14:creationId xmlns:p14="http://schemas.microsoft.com/office/powerpoint/2010/main" val="524272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378226E7-D9A5-E50B-F806-81C782E33FF2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07 / THANH TOÁN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1D48468E-A9B5-BF4F-4DA8-7EE156BCEAE9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Tính tiền từ dịch vụ, lưu trạng thái giao dịch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4FD3178-8FBF-9EF8-8BA8-C22C63714E52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Hóa đơn giữ đơn giá tại thời điểm phát hành; giao dịch có phương thức và trạng thái.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4B8BCEC2-6603-72EB-A635-DFEDDFB44573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D3A59C49-B4B7-2720-CD7F-B620CD0FDD34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8C907A99-E24C-E6E6-2CB9-D433FADDD046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08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289C9A54-C829-CEBF-E7BF-BF333280A62D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911FF853-216E-0F44-A84C-2665A12C400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48C53B19-5286-7268-4109-E537153FBE13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Hộp thoại thật · hóa đơn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A51B5285-D030-456F-F5F7-D30CF20A1952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58E21AB0-9C02-6F83-7DB1-E21E08FC724B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43032CCE-592C-136D-E493-C9F2B2CB4D4C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Tiền mặt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4C4530AA-EFD2-57C6-1C4D-0FCED727E757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Xác nhận đủ số dư; ghi giao dịch COMPLETED.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7B39C9FB-2366-0D67-D535-0BDACD5858BC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DA609024-CA41-F164-95AB-34364564F645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842B1EC0-3EAD-8CBC-4EBC-453B985286FA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QR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22107760-D0EE-AD7B-B0B2-D24DEC885903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Tạo QR chỉ tạo giao dịch PENDING, chưa đồng nghĩa đã nhận tiền.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6AEB1E31-DA96-8074-DDF0-A1F728200614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968FBADE-2AA1-C52A-9C24-8280FC5631D7}"/>
              </a:ext>
            </a:extLst>
          </p:cNvPr>
          <p:cNvSpPr/>
          <p:nvPr/>
        </p:nvSpPr>
        <p:spPr>
          <a:xfrm>
            <a:off x="8077200" y="4686300"/>
            <a:ext cx="63500" cy="11303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40D42B57-70C0-1D26-A515-8444D6F3000E}"/>
              </a:ext>
            </a:extLst>
          </p:cNvPr>
          <p:cNvSpPr txBox="1"/>
          <p:nvPr/>
        </p:nvSpPr>
        <p:spPr>
          <a:xfrm>
            <a:off x="8267700" y="48260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Đối soát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56CB24CB-BAB3-FC5E-0515-95F1EACF9BB3}"/>
              </a:ext>
            </a:extLst>
          </p:cNvPr>
          <p:cNvSpPr txBox="1"/>
          <p:nvPr/>
        </p:nvSpPr>
        <p:spPr>
          <a:xfrm>
            <a:off x="8267700" y="52197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Nhân viên khớp tiền + mã tham chiếu, lưu người xác minh.</a:t>
            </a:r>
          </a:p>
        </p:txBody>
      </p:sp>
    </p:spTree>
    <p:extLst>
      <p:ext uri="{BB962C8B-B14F-4D97-AF65-F5344CB8AC3E}">
        <p14:creationId xmlns:p14="http://schemas.microsoft.com/office/powerpoint/2010/main" val="1533614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C617FF31-040F-33FD-5BAB-F042542FFF9C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08 / CHATBOT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2BB02636-8CC6-E6CA-FCEA-02E53AA65B35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Tra cứu theo dữ liệu; không tự bịa câu trả lời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DEB1B97-B949-ADF2-0024-5AAEB1BE7562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Ví dụ thật: giá dịch vụ lấy từ danh mục đang hoạt động.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B11405FA-3BF9-F431-85B2-AC55E3FF6230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258E1AB-EEE5-8437-C591-C63577451A0E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E2ADC6ED-C6A0-11AC-BBE0-3D2BE54D3658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09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92B3D505-6640-5E61-966D-DCD846ACD219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5CF27686-C095-59B4-CD1D-206D311C0C7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83E9CC5C-CEAD-E84B-E647-A4B4B25514FA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Chatbot với dữ liệu demo · ảnh thật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E00BAE3F-2849-5863-E983-BA537A84ED57}"/>
              </a:ext>
            </a:extLst>
          </p:cNvPr>
          <p:cNvSpPr/>
          <p:nvPr/>
        </p:nvSpPr>
        <p:spPr>
          <a:xfrm>
            <a:off x="8077200" y="1943100"/>
            <a:ext cx="3479800" cy="386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A74D608E-8C12-53A8-9585-D58AC0EAB404}"/>
              </a:ext>
            </a:extLst>
          </p:cNvPr>
          <p:cNvSpPr/>
          <p:nvPr/>
        </p:nvSpPr>
        <p:spPr>
          <a:xfrm>
            <a:off x="8280400" y="2159000"/>
            <a:ext cx="29845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ABBB02AF-C8DC-71AB-DD12-C9C75AADEDB3}"/>
              </a:ext>
            </a:extLst>
          </p:cNvPr>
          <p:cNvSpPr txBox="1"/>
          <p:nvPr/>
        </p:nvSpPr>
        <p:spPr>
          <a:xfrm>
            <a:off x="8356600" y="2197100"/>
            <a:ext cx="2832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THEO QUY TẮC · KHÔNG GỌI LLM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0B7DFBC7-B8C1-BFA7-A4EB-3484A9D9F8E9}"/>
              </a:ext>
            </a:extLst>
          </p:cNvPr>
          <p:cNvSpPr txBox="1"/>
          <p:nvPr/>
        </p:nvSpPr>
        <p:spPr>
          <a:xfrm>
            <a:off x="8293100" y="2679700"/>
            <a:ext cx="3022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HỖ TRỢ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Tra giá dịch vụ hoạt động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Gợi ý giờ theo lịch hiện có</a:t>
            </a:r>
          </a:p>
          <a:p>
            <a:pPr>
              <a:spcAft>
                <a:spcPts val="400"/>
              </a:spcAft>
            </a:pPr>
            <a:endParaRPr lang="vi-VN" sz="1200">
              <a:solidFill>
                <a:srgbClr val="153F3A"/>
              </a:solidFill>
              <a:latin typeface="Aptos" panose="020B0004020202020204" pitchFamily="34" charset="0"/>
            </a:endParaRP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GIỚI HẠN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Không chẩn đoán / xem EMR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Không đặt hoặc giữ lịch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Câu hỏi khác → liên hệ lễ tân</a:t>
            </a:r>
          </a:p>
        </p:txBody>
      </p:sp>
    </p:spTree>
    <p:extLst>
      <p:ext uri="{BB962C8B-B14F-4D97-AF65-F5344CB8AC3E}">
        <p14:creationId xmlns:p14="http://schemas.microsoft.com/office/powerpoint/2010/main" val="4634613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E99C391E-96A1-60BD-47E9-D8FE16B9497A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09 / AI TÙY CHỌN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0C3F82A2-AC11-2FBE-B7BD-33653E686DB4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Hai luồng đã có trong source, cần cấu hình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E734F9C-FA6F-E89B-7AC8-BB2E82C64D14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Gemini/Twilio chưa hoạt động nếu thiếu consent, credentials và lịch Task Scheduler.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36058E55-79A8-E025-DCD9-5B0B253F47F7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772E06FE-3501-EC14-D205-DE47AA496794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DE5AF7A4-6DAE-30B8-2BC7-216E3FB89C2F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10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9A16AD5D-AE90-4B2A-FD2F-7FABC217D289}"/>
              </a:ext>
            </a:extLst>
          </p:cNvPr>
          <p:cNvSpPr/>
          <p:nvPr/>
        </p:nvSpPr>
        <p:spPr>
          <a:xfrm>
            <a:off x="596900" y="1917700"/>
            <a:ext cx="5321300" cy="374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: Góc Tròn 8">
            <a:extLst>
              <a:ext uri="{FF2B5EF4-FFF2-40B4-BE49-F238E27FC236}">
                <a16:creationId xmlns:a16="http://schemas.microsoft.com/office/drawing/2014/main" id="{F1E574E0-9E44-6398-3D14-9084A53C592B}"/>
              </a:ext>
            </a:extLst>
          </p:cNvPr>
          <p:cNvSpPr/>
          <p:nvPr/>
        </p:nvSpPr>
        <p:spPr>
          <a:xfrm>
            <a:off x="838200" y="2133600"/>
            <a:ext cx="2362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745B973-347B-76B5-9412-4BE5966BB624}"/>
              </a:ext>
            </a:extLst>
          </p:cNvPr>
          <p:cNvSpPr txBox="1"/>
          <p:nvPr/>
        </p:nvSpPr>
        <p:spPr>
          <a:xfrm>
            <a:off x="914400" y="2171700"/>
            <a:ext cx="2209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TÓM TẮT EMR · GEMINI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A8FA7458-85E2-C1A8-14B2-0D873A63E6AA}"/>
              </a:ext>
            </a:extLst>
          </p:cNvPr>
          <p:cNvSpPr txBox="1"/>
          <p:nvPr/>
        </p:nvSpPr>
        <p:spPr>
          <a:xfrm>
            <a:off x="889000" y="2679700"/>
            <a:ext cx="4737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Bác sĩ chọn hồ sơ + đã có consent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API kiểm tra role / quyền hồ sơ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Lọc định danh theo mẫu → Gemini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Trả bản nháp cho bác sĩ rà soát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Không tự lưu vào bệnh án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9B088D06-B878-DFFF-FD5A-B62BD92F6770}"/>
              </a:ext>
            </a:extLst>
          </p:cNvPr>
          <p:cNvSpPr/>
          <p:nvPr/>
        </p:nvSpPr>
        <p:spPr>
          <a:xfrm>
            <a:off x="6261100" y="1917700"/>
            <a:ext cx="5321300" cy="374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5459D595-7C47-BD07-2AC2-B4CFDA90C7A0}"/>
              </a:ext>
            </a:extLst>
          </p:cNvPr>
          <p:cNvSpPr/>
          <p:nvPr/>
        </p:nvSpPr>
        <p:spPr>
          <a:xfrm>
            <a:off x="6489700" y="2133600"/>
            <a:ext cx="26670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EBD96928-3E63-F674-8C43-2CB08B5F38E0}"/>
              </a:ext>
            </a:extLst>
          </p:cNvPr>
          <p:cNvSpPr txBox="1"/>
          <p:nvPr/>
        </p:nvSpPr>
        <p:spPr>
          <a:xfrm>
            <a:off x="6565900" y="2171700"/>
            <a:ext cx="2514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TÁI KHÁM · GEMINI + TWILIO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8DAA31A0-3CC7-0697-19B7-5D095720EE19}"/>
              </a:ext>
            </a:extLst>
          </p:cNvPr>
          <p:cNvSpPr txBox="1"/>
          <p:nvPr/>
        </p:nvSpPr>
        <p:spPr>
          <a:xfrm>
            <a:off x="6553200" y="2679700"/>
            <a:ext cx="4737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Ngày tái khám + SMS consent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Task Scheduler gọi lệnh hằng ngày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Gemini soạn lời mời chung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Twilio gửi SMS + lưu trạng thái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Không gửi bệnh án; UNKNOWN không retry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67CF0161-43C5-79B0-D0BC-52778ED4A23E}"/>
              </a:ext>
            </a:extLst>
          </p:cNvPr>
          <p:cNvSpPr/>
          <p:nvPr/>
        </p:nvSpPr>
        <p:spPr>
          <a:xfrm>
            <a:off x="4152900" y="5867400"/>
            <a:ext cx="38862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87EABF06-9F58-DD91-7DC7-929FF71E9AE8}"/>
              </a:ext>
            </a:extLst>
          </p:cNvPr>
          <p:cNvSpPr txBox="1"/>
          <p:nvPr/>
        </p:nvSpPr>
        <p:spPr>
          <a:xfrm>
            <a:off x="4229100" y="5905500"/>
            <a:ext cx="3733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en-US" sz="900" b="1">
                <a:solidFill>
                  <a:srgbClr val="CF755F"/>
                </a:solidFill>
                <a:latin typeface="Aptos" panose="020B0004020202020204" pitchFamily="34" charset="0"/>
              </a:rPr>
              <a:t>TÙY CHỌN · CẦN API KEYS + TASK SCHEDULER</a:t>
            </a:r>
            <a:endParaRPr lang="vi-VN" sz="900" b="1">
              <a:solidFill>
                <a:srgbClr val="CF755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656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258574D-1F66-C536-0D64-CC7DBA4C0C3F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10 / AN TOÀN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B0BF9A6A-B8FD-04EB-143C-0B760F799A44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AI hỗ trợ hành chính, không thay bác sĩ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A5EE9EAE-1478-03C7-DD6F-A9597E244EC3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Biện pháp đang có và các điều kiện bắt buộc trước khi kích hoạt tích hợp.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7DD99FE3-5004-CB4A-EA52-0FE4CCD95670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F1BCAEB6-CE18-CFB4-89FF-886981EF8423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7303BA07-0173-C085-150C-0CF37727735E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11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92420AAD-C7F5-F6E5-A379-4E93268F3E8C}"/>
              </a:ext>
            </a:extLst>
          </p:cNvPr>
          <p:cNvSpPr/>
          <p:nvPr/>
        </p:nvSpPr>
        <p:spPr>
          <a:xfrm>
            <a:off x="609600" y="1917700"/>
            <a:ext cx="5283200" cy="38608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1552EA90-69E0-D345-B113-F3B81F875B72}"/>
              </a:ext>
            </a:extLst>
          </p:cNvPr>
          <p:cNvSpPr txBox="1"/>
          <p:nvPr/>
        </p:nvSpPr>
        <p:spPr>
          <a:xfrm>
            <a:off x="876300" y="2184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7685D"/>
                </a:solidFill>
                <a:latin typeface="Aptos" panose="020B0004020202020204" pitchFamily="34" charset="0"/>
              </a:rPr>
              <a:t>ĐANG CÓ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9BDAFFEC-A662-CFB6-D7D2-140E938D49EB}"/>
              </a:ext>
            </a:extLst>
          </p:cNvPr>
          <p:cNvSpPr txBox="1"/>
          <p:nvPr/>
        </p:nvSpPr>
        <p:spPr>
          <a:xfrm>
            <a:off x="876300" y="2692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Role + quyền hồ sơ; consent bắt buộc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Lọc định danh theo mẫu trước Gemini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Summary chỉ là bản nháp, không tự lưu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SMS chỉ là lời mời chung + ngày hẹn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Theo dõi trạng thái; UNKNOWN không retry</a:t>
            </a:r>
          </a:p>
        </p:txBody>
      </p:sp>
      <p:sp>
        <p:nvSpPr>
          <p:cNvPr id="11" name="Hình chữ nhật: Góc Tròn 10">
            <a:extLst>
              <a:ext uri="{FF2B5EF4-FFF2-40B4-BE49-F238E27FC236}">
                <a16:creationId xmlns:a16="http://schemas.microsoft.com/office/drawing/2014/main" id="{1524C78E-B7B5-535C-B208-D9C6EDDC9C7D}"/>
              </a:ext>
            </a:extLst>
          </p:cNvPr>
          <p:cNvSpPr/>
          <p:nvPr/>
        </p:nvSpPr>
        <p:spPr>
          <a:xfrm>
            <a:off x="6299200" y="1917700"/>
            <a:ext cx="5283200" cy="386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6543B2BF-07A1-1EE3-A1B6-63CC0337C472}"/>
              </a:ext>
            </a:extLst>
          </p:cNvPr>
          <p:cNvSpPr txBox="1"/>
          <p:nvPr/>
        </p:nvSpPr>
        <p:spPr>
          <a:xfrm>
            <a:off x="6578600" y="2184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CF755F"/>
                </a:solidFill>
                <a:latin typeface="Aptos" panose="020B0004020202020204" pitchFamily="34" charset="0"/>
              </a:rPr>
              <a:t>TRƯỚC KHI KÍCH HOẠT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49C28B94-9C66-65B2-A047-737B0C088C16}"/>
              </a:ext>
            </a:extLst>
          </p:cNvPr>
          <p:cNvSpPr txBox="1"/>
          <p:nvPr/>
        </p:nvSpPr>
        <p:spPr>
          <a:xfrm>
            <a:off x="6578600" y="2692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Phê duyệt xử lý dữ liệu sức khỏe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Cấu hình key Gemini / Twilio an toàn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Chạy dry-run và xác minh số gửi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Xác nhận tuyến SMS + chi phí Twilio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Tự cấu hình Task Scheduler; không bật sẵn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4E1705C8-51DB-C4A8-CBD2-394C80023500}"/>
              </a:ext>
            </a:extLst>
          </p:cNvPr>
          <p:cNvSpPr txBox="1"/>
          <p:nvPr/>
        </p:nvSpPr>
        <p:spPr>
          <a:xfrm>
            <a:off x="660400" y="5981700"/>
            <a:ext cx="1083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Không chẩn đoán hay quyết định điều trị bằng AI; bác sĩ chịu trách nhiệm chuyên môn.</a:t>
            </a:r>
          </a:p>
        </p:txBody>
      </p:sp>
    </p:spTree>
    <p:extLst>
      <p:ext uri="{BB962C8B-B14F-4D97-AF65-F5344CB8AC3E}">
        <p14:creationId xmlns:p14="http://schemas.microsoft.com/office/powerpoint/2010/main" val="899283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59EB209B-7BA7-092F-67E2-4C868B83AF7E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11 / DEMO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18B083F2-EC43-809B-FFBE-C4F32B4A3903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Một tình huống xuyên suốt hệ thống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23E3F3C-094F-8446-C15C-2F0F222C610B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Kịch bản gợi ý 3 phút; dùng dữ liệu demo, không cần giao dịch ngân hàng thật.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FBCAAC6F-A348-4F7A-6373-E98552F8F7CD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BE4CA1FF-6AB3-442F-982C-7DD96FAD22FA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518D9661-AEF3-AE6E-7040-D7A982CBA3FA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12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50868ABD-5627-0FDA-5000-74FF672027E9}"/>
              </a:ext>
            </a:extLst>
          </p:cNvPr>
          <p:cNvSpPr/>
          <p:nvPr/>
        </p:nvSpPr>
        <p:spPr>
          <a:xfrm>
            <a:off x="5969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64EF1677-F4C0-041E-3A3F-3EEB3F20A12E}"/>
              </a:ext>
            </a:extLst>
          </p:cNvPr>
          <p:cNvSpPr txBox="1"/>
          <p:nvPr/>
        </p:nvSpPr>
        <p:spPr>
          <a:xfrm>
            <a:off x="8128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81AFE059-950B-55AE-A5E5-9A77540123F1}"/>
              </a:ext>
            </a:extLst>
          </p:cNvPr>
          <p:cNvSpPr txBox="1"/>
          <p:nvPr/>
        </p:nvSpPr>
        <p:spPr>
          <a:xfrm>
            <a:off x="8128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ĐẶT HẸN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0713CF42-AB2F-E5C0-8E9D-1D535AEF4FAC}"/>
              </a:ext>
            </a:extLst>
          </p:cNvPr>
          <p:cNvSpPr txBox="1"/>
          <p:nvPr/>
        </p:nvSpPr>
        <p:spPr>
          <a:xfrm>
            <a:off x="8128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Chọn bệnh nhân, dịch vụ, bác sĩ và giờ hợp lệ.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187DCDA2-3842-132E-4FF2-E75C1ACB0606}"/>
              </a:ext>
            </a:extLst>
          </p:cNvPr>
          <p:cNvSpPr/>
          <p:nvPr/>
        </p:nvSpPr>
        <p:spPr>
          <a:xfrm>
            <a:off x="34925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C6E19829-0B50-5165-A728-83E2AB13866E}"/>
              </a:ext>
            </a:extLst>
          </p:cNvPr>
          <p:cNvSpPr txBox="1"/>
          <p:nvPr/>
        </p:nvSpPr>
        <p:spPr>
          <a:xfrm>
            <a:off x="37084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2CFE7A48-214A-C59D-EFE0-8BE259417003}"/>
              </a:ext>
            </a:extLst>
          </p:cNvPr>
          <p:cNvSpPr txBox="1"/>
          <p:nvPr/>
        </p:nvSpPr>
        <p:spPr>
          <a:xfrm>
            <a:off x="37084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GHI EMR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C34142C3-F289-CCF9-0CEA-8D848055E4DF}"/>
              </a:ext>
            </a:extLst>
          </p:cNvPr>
          <p:cNvSpPr txBox="1"/>
          <p:nvPr/>
        </p:nvSpPr>
        <p:spPr>
          <a:xfrm>
            <a:off x="37084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Bác sĩ lưu ghi nhận khám và dịch vụ chỉ định.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3FAA3876-3FB6-A482-0CE4-FBA88E1963C3}"/>
              </a:ext>
            </a:extLst>
          </p:cNvPr>
          <p:cNvSpPr/>
          <p:nvPr/>
        </p:nvSpPr>
        <p:spPr>
          <a:xfrm>
            <a:off x="63881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870C105D-D2F7-8B71-87EB-2FB91A6BC355}"/>
              </a:ext>
            </a:extLst>
          </p:cNvPr>
          <p:cNvSpPr txBox="1"/>
          <p:nvPr/>
        </p:nvSpPr>
        <p:spPr>
          <a:xfrm>
            <a:off x="66040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08843267-A75F-BA1F-C89A-8DCED89ECAD5}"/>
              </a:ext>
            </a:extLst>
          </p:cNvPr>
          <p:cNvSpPr txBox="1"/>
          <p:nvPr/>
        </p:nvSpPr>
        <p:spPr>
          <a:xfrm>
            <a:off x="66040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THANH TOÁN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496B3813-6BA2-E11A-DFAE-A2791F6B686B}"/>
              </a:ext>
            </a:extLst>
          </p:cNvPr>
          <p:cNvSpPr txBox="1"/>
          <p:nvPr/>
        </p:nvSpPr>
        <p:spPr>
          <a:xfrm>
            <a:off x="66040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Mở hóa đơn; minh họa hộp thoại tiền mặt.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08F024B2-F488-27FC-78C3-B882B442BC4F}"/>
              </a:ext>
            </a:extLst>
          </p:cNvPr>
          <p:cNvSpPr/>
          <p:nvPr/>
        </p:nvSpPr>
        <p:spPr>
          <a:xfrm>
            <a:off x="92837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EADA7973-23E9-E1F5-F727-EED6E987F1CC}"/>
              </a:ext>
            </a:extLst>
          </p:cNvPr>
          <p:cNvSpPr txBox="1"/>
          <p:nvPr/>
        </p:nvSpPr>
        <p:spPr>
          <a:xfrm>
            <a:off x="94996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0B33C7CC-DA1D-BB3E-79E6-02FB8A551FF4}"/>
              </a:ext>
            </a:extLst>
          </p:cNvPr>
          <p:cNvSpPr txBox="1"/>
          <p:nvPr/>
        </p:nvSpPr>
        <p:spPr>
          <a:xfrm>
            <a:off x="94996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CHATBOT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2343D1EE-3927-8663-2054-6C2B26F9C114}"/>
              </a:ext>
            </a:extLst>
          </p:cNvPr>
          <p:cNvSpPr txBox="1"/>
          <p:nvPr/>
        </p:nvSpPr>
        <p:spPr>
          <a:xfrm>
            <a:off x="94996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Tra giá và nêu rõ giới hạn tư vấn.</a:t>
            </a:r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5F3AE1FF-4785-D2FE-DB3E-BF820051DADC}"/>
              </a:ext>
            </a:extLst>
          </p:cNvPr>
          <p:cNvSpPr txBox="1"/>
          <p:nvPr/>
        </p:nvSpPr>
        <p:spPr>
          <a:xfrm>
            <a:off x="698500" y="4775200"/>
            <a:ext cx="10782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AI/SMS đã có trong source nhưng chưa cấu hình ở môi trường demo: không khẳng định đã gọi Gemini/Twilio. Trình bày đây là tích hợp tùy chọn, cần consent và cấu hình vận hành.</a:t>
            </a:r>
          </a:p>
        </p:txBody>
      </p:sp>
    </p:spTree>
    <p:extLst>
      <p:ext uri="{BB962C8B-B14F-4D97-AF65-F5344CB8AC3E}">
        <p14:creationId xmlns:p14="http://schemas.microsoft.com/office/powerpoint/2010/main" val="3310595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D954A977-5143-8A50-D0B1-52E610F94482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12 / CHẠY THỬ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E54E4A9E-EF5C-B699-A7BC-1EC93D66D968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Kịch bản trình bày 10 phút — nhóm chốt người nói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5A950DF-F770-AA89-C624-62FF8A985109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Phân vai gợi ý; thay bằng tên thành viên sau khi thống nhất.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754B55E5-FC7C-1AAF-D993-68AC01F45453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CB82D30-43B9-5339-AABE-6AE35567F966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6DB2AF16-F603-6AD7-20BD-B579A0A5AA6A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13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10A2FC4C-005F-EE57-8987-B2951F866121}"/>
              </a:ext>
            </a:extLst>
          </p:cNvPr>
          <p:cNvSpPr/>
          <p:nvPr/>
        </p:nvSpPr>
        <p:spPr>
          <a:xfrm>
            <a:off x="6223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1986D320-17CA-2B1A-A58D-1759B10C7552}"/>
              </a:ext>
            </a:extLst>
          </p:cNvPr>
          <p:cNvSpPr/>
          <p:nvPr/>
        </p:nvSpPr>
        <p:spPr>
          <a:xfrm>
            <a:off x="622300" y="2006600"/>
            <a:ext cx="63500" cy="22098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776F82BD-FDDA-3CF1-A9A1-38F97D05A424}"/>
              </a:ext>
            </a:extLst>
          </p:cNvPr>
          <p:cNvSpPr txBox="1"/>
          <p:nvPr/>
        </p:nvSpPr>
        <p:spPr>
          <a:xfrm>
            <a:off x="8128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A · 3 PHÚT</a:t>
            </a:r>
            <a:endParaRPr lang="vi-VN" sz="1400" b="1">
              <a:solidFill>
                <a:srgbClr val="153F3A"/>
              </a:solidFill>
              <a:latin typeface="Aptos" panose="020B0004020202020204" pitchFamily="34" charset="0"/>
            </a:endParaRP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D44D5597-F371-BA09-EF5A-5BDDCA540433}"/>
              </a:ext>
            </a:extLst>
          </p:cNvPr>
          <p:cNvSpPr txBox="1"/>
          <p:nvPr/>
        </p:nvSpPr>
        <p:spPr>
          <a:xfrm>
            <a:off x="8128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Bài toán, phạm vi, kiến trúc và dữ liệu (trang 1–5). Người trình bày: ________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C5FF5C1E-018F-2F80-CE20-4F71524F3FC3}"/>
              </a:ext>
            </a:extLst>
          </p:cNvPr>
          <p:cNvSpPr/>
          <p:nvPr/>
        </p:nvSpPr>
        <p:spPr>
          <a:xfrm>
            <a:off x="43942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975F05C2-F13D-B7E8-7B44-0FE88EF0BEE5}"/>
              </a:ext>
            </a:extLst>
          </p:cNvPr>
          <p:cNvSpPr/>
          <p:nvPr/>
        </p:nvSpPr>
        <p:spPr>
          <a:xfrm>
            <a:off x="4394200" y="2006600"/>
            <a:ext cx="63500" cy="22098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40457EAB-79BD-926B-C62B-B3AA6181483C}"/>
              </a:ext>
            </a:extLst>
          </p:cNvPr>
          <p:cNvSpPr txBox="1"/>
          <p:nvPr/>
        </p:nvSpPr>
        <p:spPr>
          <a:xfrm>
            <a:off x="45847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B · 3 PHÚT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0C3115BD-4F56-09EE-FCCD-747AE2A4BABB}"/>
              </a:ext>
            </a:extLst>
          </p:cNvPr>
          <p:cNvSpPr txBox="1"/>
          <p:nvPr/>
        </p:nvSpPr>
        <p:spPr>
          <a:xfrm>
            <a:off x="45847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Đặt lịch, khám, EMR; dẫn demo (trang 6–7, 12). Người trình bày: ________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B34F900A-0261-AB17-39C8-5AEF6CDC6514}"/>
              </a:ext>
            </a:extLst>
          </p:cNvPr>
          <p:cNvSpPr/>
          <p:nvPr/>
        </p:nvSpPr>
        <p:spPr>
          <a:xfrm>
            <a:off x="81661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24165E2F-28B8-AAD4-773D-3FF7AEC922C1}"/>
              </a:ext>
            </a:extLst>
          </p:cNvPr>
          <p:cNvSpPr/>
          <p:nvPr/>
        </p:nvSpPr>
        <p:spPr>
          <a:xfrm>
            <a:off x="8166100" y="2006600"/>
            <a:ext cx="63500" cy="22098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E0BD6D2B-9245-31DC-B626-0D7FBED4A521}"/>
              </a:ext>
            </a:extLst>
          </p:cNvPr>
          <p:cNvSpPr txBox="1"/>
          <p:nvPr/>
        </p:nvSpPr>
        <p:spPr>
          <a:xfrm>
            <a:off x="83566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C · 4 PHÚT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D1F7D142-6EF1-81BC-347B-2D7D4A55720D}"/>
              </a:ext>
            </a:extLst>
          </p:cNvPr>
          <p:cNvSpPr txBox="1"/>
          <p:nvPr/>
        </p:nvSpPr>
        <p:spPr>
          <a:xfrm>
            <a:off x="83566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Thanh toán, chatbot, an toàn AI (trang 8–11, 13). Người trình bày: ________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18B4A9E5-1C16-2477-D181-EE177D21D2D9}"/>
              </a:ext>
            </a:extLst>
          </p:cNvPr>
          <p:cNvSpPr/>
          <p:nvPr/>
        </p:nvSpPr>
        <p:spPr>
          <a:xfrm>
            <a:off x="647700" y="4597400"/>
            <a:ext cx="10896600" cy="1193800"/>
          </a:xfrm>
          <a:prstGeom prst="roundRect">
            <a:avLst/>
          </a:prstGeom>
          <a:solidFill>
            <a:srgbClr val="102D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23C37116-A4C0-8FF7-5583-1CE256751D1E}"/>
              </a:ext>
            </a:extLst>
          </p:cNvPr>
          <p:cNvSpPr txBox="1"/>
          <p:nvPr/>
        </p:nvSpPr>
        <p:spPr>
          <a:xfrm>
            <a:off x="939800" y="4876800"/>
            <a:ext cx="10312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300">
                <a:solidFill>
                  <a:srgbClr val="FFFFFF"/>
                </a:solidFill>
                <a:latin typeface="Aptos" panose="020B0004020202020204" pitchFamily="34" charset="0"/>
              </a:rPr>
              <a:t>Tập dượt: 1 phút chuyển cảnh + 3 phút demo + 6 phút nội dung. Rà chính tả, thuật ngữ, hình ảnh, cỡ chữ và thời lượng.</a:t>
            </a:r>
          </a:p>
        </p:txBody>
      </p:sp>
    </p:spTree>
    <p:extLst>
      <p:ext uri="{BB962C8B-B14F-4D97-AF65-F5344CB8AC3E}">
        <p14:creationId xmlns:p14="http://schemas.microsoft.com/office/powerpoint/2010/main" val="1627229475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1555</Words>
  <Application>Microsoft Office PowerPoint</Application>
  <PresentationFormat>Tùy chỉnh</PresentationFormat>
  <Paragraphs>211</Paragraphs>
  <Slides>13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13</vt:i4>
      </vt:variant>
    </vt:vector>
  </HeadingPairs>
  <TitlesOfParts>
    <vt:vector size="17" baseType="lpstr">
      <vt:lpstr>Aptos</vt:lpstr>
      <vt:lpstr>Arial</vt:lpstr>
      <vt:lpstr>Times New Roman</vt:lpstr>
      <vt:lpstr>Chủ đề Office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Ngân Đỗ</dc:creator>
  <cp:lastModifiedBy>Ngân Đỗ</cp:lastModifiedBy>
  <cp:revision>1</cp:revision>
  <dcterms:created xsi:type="dcterms:W3CDTF">2026-10-18T02:27:15Z</dcterms:created>
  <dcterms:modified xsi:type="dcterms:W3CDTF">2026-10-18T02:27:15Z</dcterms:modified>
</cp:coreProperties>
</file>