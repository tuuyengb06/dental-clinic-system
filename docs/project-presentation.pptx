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sldSz cx="12192000" cy="6858000"/>
  <p:notesSz cx="6858000" cy="9144000"/>
  <p:defaultTextStyle>
    <a:defPPr>
      <a:defRPr lang="vi-VN"/>
    </a:defPPr>
    <a:lvl1pPr marL="0" algn="l" defTabSz="713232" rtl="0" eaLnBrk="1" latinLnBrk="0" hangingPunct="1">
      <a:defRPr sz="1404" kern="1200">
        <a:solidFill>
          <a:schemeClr val="tx1"/>
        </a:solidFill>
        <a:latin typeface="+mn-lt"/>
        <a:ea typeface="+mn-ea"/>
        <a:cs typeface="+mn-cs"/>
      </a:defRPr>
    </a:lvl1pPr>
    <a:lvl2pPr marL="356616" algn="l" defTabSz="713232" rtl="0" eaLnBrk="1" latinLnBrk="0" hangingPunct="1">
      <a:defRPr sz="1404" kern="1200">
        <a:solidFill>
          <a:schemeClr val="tx1"/>
        </a:solidFill>
        <a:latin typeface="+mn-lt"/>
        <a:ea typeface="+mn-ea"/>
        <a:cs typeface="+mn-cs"/>
      </a:defRPr>
    </a:lvl2pPr>
    <a:lvl3pPr marL="713232" algn="l" defTabSz="713232" rtl="0" eaLnBrk="1" latinLnBrk="0" hangingPunct="1">
      <a:defRPr sz="1404" kern="1200">
        <a:solidFill>
          <a:schemeClr val="tx1"/>
        </a:solidFill>
        <a:latin typeface="+mn-lt"/>
        <a:ea typeface="+mn-ea"/>
        <a:cs typeface="+mn-cs"/>
      </a:defRPr>
    </a:lvl3pPr>
    <a:lvl4pPr marL="1069848" algn="l" defTabSz="713232" rtl="0" eaLnBrk="1" latinLnBrk="0" hangingPunct="1">
      <a:defRPr sz="1404" kern="1200">
        <a:solidFill>
          <a:schemeClr val="tx1"/>
        </a:solidFill>
        <a:latin typeface="+mn-lt"/>
        <a:ea typeface="+mn-ea"/>
        <a:cs typeface="+mn-cs"/>
      </a:defRPr>
    </a:lvl4pPr>
    <a:lvl5pPr marL="1426464" algn="l" defTabSz="713232" rtl="0" eaLnBrk="1" latinLnBrk="0" hangingPunct="1">
      <a:defRPr sz="1404" kern="1200">
        <a:solidFill>
          <a:schemeClr val="tx1"/>
        </a:solidFill>
        <a:latin typeface="+mn-lt"/>
        <a:ea typeface="+mn-ea"/>
        <a:cs typeface="+mn-cs"/>
      </a:defRPr>
    </a:lvl5pPr>
    <a:lvl6pPr marL="1783080" algn="l" defTabSz="713232" rtl="0" eaLnBrk="1" latinLnBrk="0" hangingPunct="1">
      <a:defRPr sz="1404" kern="1200">
        <a:solidFill>
          <a:schemeClr val="tx1"/>
        </a:solidFill>
        <a:latin typeface="+mn-lt"/>
        <a:ea typeface="+mn-ea"/>
        <a:cs typeface="+mn-cs"/>
      </a:defRPr>
    </a:lvl6pPr>
    <a:lvl7pPr marL="2139696" algn="l" defTabSz="713232" rtl="0" eaLnBrk="1" latinLnBrk="0" hangingPunct="1">
      <a:defRPr sz="1404" kern="1200">
        <a:solidFill>
          <a:schemeClr val="tx1"/>
        </a:solidFill>
        <a:latin typeface="+mn-lt"/>
        <a:ea typeface="+mn-ea"/>
        <a:cs typeface="+mn-cs"/>
      </a:defRPr>
    </a:lvl7pPr>
    <a:lvl8pPr marL="2496312" algn="l" defTabSz="713232" rtl="0" eaLnBrk="1" latinLnBrk="0" hangingPunct="1">
      <a:defRPr sz="1404" kern="1200">
        <a:solidFill>
          <a:schemeClr val="tx1"/>
        </a:solidFill>
        <a:latin typeface="+mn-lt"/>
        <a:ea typeface="+mn-ea"/>
        <a:cs typeface="+mn-cs"/>
      </a:defRPr>
    </a:lvl8pPr>
    <a:lvl9pPr marL="2852928" algn="l" defTabSz="713232" rtl="0" eaLnBrk="1" latinLnBrk="0" hangingPunct="1">
      <a:defRPr sz="1404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49" d="100"/>
          <a:sy n="49" d="100"/>
        </p:scale>
        <p:origin x="72" y="67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tableStyles" Target="tableStyles.xml"/><Relationship Id="rId2" Type="http://schemas.openxmlformats.org/officeDocument/2006/relationships/slide" Target="slides/slide1.xml"/><Relationship Id="rId16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viewProps" Target="viewProp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presProps" Target="pres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êu đề Bản chiếu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êu đề 1">
            <a:extLst>
              <a:ext uri="{FF2B5EF4-FFF2-40B4-BE49-F238E27FC236}">
                <a16:creationId xmlns:a16="http://schemas.microsoft.com/office/drawing/2014/main" id="{B1BE7073-4C0C-70B3-26FB-B94E5CD69A0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4"/>
            <a:ext cx="9144000" cy="2387600"/>
          </a:xfrm>
        </p:spPr>
        <p:txBody>
          <a:bodyPr anchor="b"/>
          <a:lstStyle>
            <a:lvl1pPr algn="ctr">
              <a:defRPr sz="4500"/>
            </a:lvl1pPr>
          </a:lstStyle>
          <a:p>
            <a:r>
              <a:rPr lang="vi-VN"/>
              <a:t>Bấm để sửa kiểu tiêu đề Bản cái</a:t>
            </a:r>
          </a:p>
        </p:txBody>
      </p:sp>
      <p:sp>
        <p:nvSpPr>
          <p:cNvPr id="3" name="Tiêu đề phụ 2">
            <a:extLst>
              <a:ext uri="{FF2B5EF4-FFF2-40B4-BE49-F238E27FC236}">
                <a16:creationId xmlns:a16="http://schemas.microsoft.com/office/drawing/2014/main" id="{0CE17F1E-44B4-20AB-6829-4E12E157CE7A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1800"/>
            </a:lvl1pPr>
            <a:lvl2pPr marL="342900" indent="0" algn="ctr">
              <a:buNone/>
              <a:defRPr sz="1500"/>
            </a:lvl2pPr>
            <a:lvl3pPr marL="685800" indent="0" algn="ctr">
              <a:buNone/>
              <a:defRPr sz="1350"/>
            </a:lvl3pPr>
            <a:lvl4pPr marL="1028700" indent="0" algn="ctr">
              <a:buNone/>
              <a:defRPr sz="1200"/>
            </a:lvl4pPr>
            <a:lvl5pPr marL="1371600" indent="0" algn="ctr">
              <a:buNone/>
              <a:defRPr sz="1200"/>
            </a:lvl5pPr>
            <a:lvl6pPr marL="1714500" indent="0" algn="ctr">
              <a:buNone/>
              <a:defRPr sz="1200"/>
            </a:lvl6pPr>
            <a:lvl7pPr marL="2057400" indent="0" algn="ctr">
              <a:buNone/>
              <a:defRPr sz="1200"/>
            </a:lvl7pPr>
            <a:lvl8pPr marL="2400300" indent="0" algn="ctr">
              <a:buNone/>
              <a:defRPr sz="1200"/>
            </a:lvl8pPr>
            <a:lvl9pPr marL="2743200" indent="0" algn="ctr">
              <a:buNone/>
              <a:defRPr sz="1200"/>
            </a:lvl9pPr>
          </a:lstStyle>
          <a:p>
            <a:r>
              <a:rPr lang="vi-VN"/>
              <a:t>Bấm để chỉnh sửa kiểu tiêu đề phụ của Bản cái</a:t>
            </a:r>
          </a:p>
        </p:txBody>
      </p:sp>
      <p:sp>
        <p:nvSpPr>
          <p:cNvPr id="4" name="Chỗ dành sẵn cho Ngày tháng 3">
            <a:extLst>
              <a:ext uri="{FF2B5EF4-FFF2-40B4-BE49-F238E27FC236}">
                <a16:creationId xmlns:a16="http://schemas.microsoft.com/office/drawing/2014/main" id="{0F3A7407-1AB8-5AF7-B0C8-BD9E6E5A1DA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C00EF57-3F7D-4995-A3A8-6DFB20BF891F}" type="datetimeFigureOut">
              <a:rPr lang="vi-VN" smtClean="0"/>
              <a:t>18/10/2026</a:t>
            </a:fld>
            <a:endParaRPr lang="vi-VN"/>
          </a:p>
        </p:txBody>
      </p:sp>
      <p:sp>
        <p:nvSpPr>
          <p:cNvPr id="5" name="Chỗ dành sẵn cho Chân trang 4">
            <a:extLst>
              <a:ext uri="{FF2B5EF4-FFF2-40B4-BE49-F238E27FC236}">
                <a16:creationId xmlns:a16="http://schemas.microsoft.com/office/drawing/2014/main" id="{F02BE404-3862-B43D-F887-640477746D7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vi-VN"/>
          </a:p>
        </p:txBody>
      </p:sp>
      <p:sp>
        <p:nvSpPr>
          <p:cNvPr id="6" name="Chỗ dành sẵn cho Số hiệu Bản chiếu 5">
            <a:extLst>
              <a:ext uri="{FF2B5EF4-FFF2-40B4-BE49-F238E27FC236}">
                <a16:creationId xmlns:a16="http://schemas.microsoft.com/office/drawing/2014/main" id="{391CA7EF-ADBD-8689-9EE4-1D650096F9E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8E8952F-B7EA-4ED6-8DEB-4EB9585C726D}" type="slidenum">
              <a:rPr lang="vi-VN" smtClean="0"/>
              <a:t>‹#›</a:t>
            </a:fld>
            <a:endParaRPr lang="vi-VN"/>
          </a:p>
        </p:txBody>
      </p:sp>
    </p:spTree>
    <p:extLst>
      <p:ext uri="{BB962C8B-B14F-4D97-AF65-F5344CB8AC3E}">
        <p14:creationId xmlns:p14="http://schemas.microsoft.com/office/powerpoint/2010/main" val="3557129666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êu đề và Nội dung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êu đề 1">
            <a:extLst>
              <a:ext uri="{FF2B5EF4-FFF2-40B4-BE49-F238E27FC236}">
                <a16:creationId xmlns:a16="http://schemas.microsoft.com/office/drawing/2014/main" id="{8C405CAE-9B53-9481-6576-C7E3EB21B3C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vi-VN"/>
              <a:t>Bấm để sửa kiểu tiêu đề Bản cái</a:t>
            </a:r>
          </a:p>
        </p:txBody>
      </p:sp>
      <p:sp>
        <p:nvSpPr>
          <p:cNvPr id="3" name="Chỗ dành sẵn cho Nội dung 2">
            <a:extLst>
              <a:ext uri="{FF2B5EF4-FFF2-40B4-BE49-F238E27FC236}">
                <a16:creationId xmlns:a16="http://schemas.microsoft.com/office/drawing/2014/main" id="{4D775942-F2B5-E1F4-07F7-FB7D33FF9EF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vi-VN"/>
              <a:t>Bấm để chỉnh sửa kiểu văn bản của Bản cái</a:t>
            </a:r>
          </a:p>
          <a:p>
            <a:pPr lvl="1"/>
            <a:r>
              <a:rPr lang="vi-VN"/>
              <a:t>Mức hai</a:t>
            </a:r>
          </a:p>
          <a:p>
            <a:pPr lvl="2"/>
            <a:r>
              <a:rPr lang="vi-VN"/>
              <a:t>Mức ba</a:t>
            </a:r>
          </a:p>
          <a:p>
            <a:pPr lvl="3"/>
            <a:r>
              <a:rPr lang="vi-VN"/>
              <a:t>Mức bốn</a:t>
            </a:r>
          </a:p>
          <a:p>
            <a:pPr lvl="4"/>
            <a:r>
              <a:rPr lang="vi-VN"/>
              <a:t>Mức năm</a:t>
            </a:r>
          </a:p>
        </p:txBody>
      </p:sp>
      <p:sp>
        <p:nvSpPr>
          <p:cNvPr id="4" name="Chỗ dành sẵn cho Ngày tháng 3">
            <a:extLst>
              <a:ext uri="{FF2B5EF4-FFF2-40B4-BE49-F238E27FC236}">
                <a16:creationId xmlns:a16="http://schemas.microsoft.com/office/drawing/2014/main" id="{D8E39172-B439-88AE-A7F8-7C4DD24B7B5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C00EF57-3F7D-4995-A3A8-6DFB20BF891F}" type="datetimeFigureOut">
              <a:rPr lang="vi-VN" smtClean="0"/>
              <a:t>18/10/2026</a:t>
            </a:fld>
            <a:endParaRPr lang="vi-VN"/>
          </a:p>
        </p:txBody>
      </p:sp>
      <p:sp>
        <p:nvSpPr>
          <p:cNvPr id="5" name="Chỗ dành sẵn cho Chân trang 4">
            <a:extLst>
              <a:ext uri="{FF2B5EF4-FFF2-40B4-BE49-F238E27FC236}">
                <a16:creationId xmlns:a16="http://schemas.microsoft.com/office/drawing/2014/main" id="{9FFD7AE7-B678-A847-3D6D-C45F211E83C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vi-VN"/>
          </a:p>
        </p:txBody>
      </p:sp>
      <p:sp>
        <p:nvSpPr>
          <p:cNvPr id="6" name="Chỗ dành sẵn cho Số hiệu Bản chiếu 5">
            <a:extLst>
              <a:ext uri="{FF2B5EF4-FFF2-40B4-BE49-F238E27FC236}">
                <a16:creationId xmlns:a16="http://schemas.microsoft.com/office/drawing/2014/main" id="{90F981E5-207B-A6BD-FB57-2E81C04EE43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8E8952F-B7EA-4ED6-8DEB-4EB9585C726D}" type="slidenum">
              <a:rPr lang="vi-VN" smtClean="0"/>
              <a:t>‹#›</a:t>
            </a:fld>
            <a:endParaRPr lang="vi-VN"/>
          </a:p>
        </p:txBody>
      </p:sp>
    </p:spTree>
    <p:extLst>
      <p:ext uri="{BB962C8B-B14F-4D97-AF65-F5344CB8AC3E}">
        <p14:creationId xmlns:p14="http://schemas.microsoft.com/office/powerpoint/2010/main" val="4167844080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Đầu trang của Phầ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êu đề 1">
            <a:extLst>
              <a:ext uri="{FF2B5EF4-FFF2-40B4-BE49-F238E27FC236}">
                <a16:creationId xmlns:a16="http://schemas.microsoft.com/office/drawing/2014/main" id="{B9234E06-6481-B27D-6D53-A4E0C68275A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1" y="1709740"/>
            <a:ext cx="10515600" cy="2852737"/>
          </a:xfrm>
        </p:spPr>
        <p:txBody>
          <a:bodyPr anchor="b"/>
          <a:lstStyle>
            <a:lvl1pPr>
              <a:defRPr sz="4500"/>
            </a:lvl1pPr>
          </a:lstStyle>
          <a:p>
            <a:r>
              <a:rPr lang="vi-VN"/>
              <a:t>Bấm để sửa kiểu tiêu đề Bản cái</a:t>
            </a:r>
          </a:p>
        </p:txBody>
      </p:sp>
      <p:sp>
        <p:nvSpPr>
          <p:cNvPr id="3" name="Chỗ dành sẵn cho Văn bản 2">
            <a:extLst>
              <a:ext uri="{FF2B5EF4-FFF2-40B4-BE49-F238E27FC236}">
                <a16:creationId xmlns:a16="http://schemas.microsoft.com/office/drawing/2014/main" id="{E9C7DC1C-B240-EECF-3DA9-604193C9B87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1" y="4589464"/>
            <a:ext cx="10515600" cy="1500187"/>
          </a:xfrm>
        </p:spPr>
        <p:txBody>
          <a:bodyPr/>
          <a:lstStyle>
            <a:lvl1pPr marL="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1pPr>
            <a:lvl2pPr marL="342900" indent="0">
              <a:buNone/>
              <a:defRPr sz="1500">
                <a:solidFill>
                  <a:schemeClr val="tx1">
                    <a:tint val="82000"/>
                  </a:schemeClr>
                </a:solidFill>
              </a:defRPr>
            </a:lvl2pPr>
            <a:lvl3pPr marL="685800" indent="0">
              <a:buNone/>
              <a:defRPr sz="1350">
                <a:solidFill>
                  <a:schemeClr val="tx1">
                    <a:tint val="82000"/>
                  </a:schemeClr>
                </a:solidFill>
              </a:defRPr>
            </a:lvl3pPr>
            <a:lvl4pPr marL="1028700" indent="0">
              <a:buNone/>
              <a:defRPr sz="1200">
                <a:solidFill>
                  <a:schemeClr val="tx1">
                    <a:tint val="82000"/>
                  </a:schemeClr>
                </a:solidFill>
              </a:defRPr>
            </a:lvl4pPr>
            <a:lvl5pPr marL="1371600" indent="0">
              <a:buNone/>
              <a:defRPr sz="1200">
                <a:solidFill>
                  <a:schemeClr val="tx1">
                    <a:tint val="82000"/>
                  </a:schemeClr>
                </a:solidFill>
              </a:defRPr>
            </a:lvl5pPr>
            <a:lvl6pPr marL="1714500" indent="0">
              <a:buNone/>
              <a:defRPr sz="1200">
                <a:solidFill>
                  <a:schemeClr val="tx1">
                    <a:tint val="82000"/>
                  </a:schemeClr>
                </a:solidFill>
              </a:defRPr>
            </a:lvl6pPr>
            <a:lvl7pPr marL="2057400" indent="0">
              <a:buNone/>
              <a:defRPr sz="1200">
                <a:solidFill>
                  <a:schemeClr val="tx1">
                    <a:tint val="82000"/>
                  </a:schemeClr>
                </a:solidFill>
              </a:defRPr>
            </a:lvl7pPr>
            <a:lvl8pPr marL="2400300" indent="0">
              <a:buNone/>
              <a:defRPr sz="1200">
                <a:solidFill>
                  <a:schemeClr val="tx1">
                    <a:tint val="82000"/>
                  </a:schemeClr>
                </a:solidFill>
              </a:defRPr>
            </a:lvl8pPr>
            <a:lvl9pPr marL="2743200" indent="0">
              <a:buNone/>
              <a:defRPr sz="12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vi-VN"/>
              <a:t>Bấm để chỉnh sửa kiểu văn bản của Bản cái</a:t>
            </a:r>
          </a:p>
        </p:txBody>
      </p:sp>
      <p:sp>
        <p:nvSpPr>
          <p:cNvPr id="4" name="Chỗ dành sẵn cho Ngày tháng 3">
            <a:extLst>
              <a:ext uri="{FF2B5EF4-FFF2-40B4-BE49-F238E27FC236}">
                <a16:creationId xmlns:a16="http://schemas.microsoft.com/office/drawing/2014/main" id="{642B3FD5-4F6F-6FCD-188C-D27713F1AD7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C00EF57-3F7D-4995-A3A8-6DFB20BF891F}" type="datetimeFigureOut">
              <a:rPr lang="vi-VN" smtClean="0"/>
              <a:t>18/10/2026</a:t>
            </a:fld>
            <a:endParaRPr lang="vi-VN"/>
          </a:p>
        </p:txBody>
      </p:sp>
      <p:sp>
        <p:nvSpPr>
          <p:cNvPr id="5" name="Chỗ dành sẵn cho Chân trang 4">
            <a:extLst>
              <a:ext uri="{FF2B5EF4-FFF2-40B4-BE49-F238E27FC236}">
                <a16:creationId xmlns:a16="http://schemas.microsoft.com/office/drawing/2014/main" id="{40BFDD71-6A24-F9DB-EE59-5532330D221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vi-VN"/>
          </a:p>
        </p:txBody>
      </p:sp>
      <p:sp>
        <p:nvSpPr>
          <p:cNvPr id="6" name="Chỗ dành sẵn cho Số hiệu Bản chiếu 5">
            <a:extLst>
              <a:ext uri="{FF2B5EF4-FFF2-40B4-BE49-F238E27FC236}">
                <a16:creationId xmlns:a16="http://schemas.microsoft.com/office/drawing/2014/main" id="{9AAA8F62-15D3-0662-B1A7-AD2CA74E1B0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8E8952F-B7EA-4ED6-8DEB-4EB9585C726D}" type="slidenum">
              <a:rPr lang="vi-VN" smtClean="0"/>
              <a:t>‹#›</a:t>
            </a:fld>
            <a:endParaRPr lang="vi-VN"/>
          </a:p>
        </p:txBody>
      </p:sp>
    </p:spTree>
    <p:extLst>
      <p:ext uri="{BB962C8B-B14F-4D97-AF65-F5344CB8AC3E}">
        <p14:creationId xmlns:p14="http://schemas.microsoft.com/office/powerpoint/2010/main" val="2916441432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Hai Nội dung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êu đề 1">
            <a:extLst>
              <a:ext uri="{FF2B5EF4-FFF2-40B4-BE49-F238E27FC236}">
                <a16:creationId xmlns:a16="http://schemas.microsoft.com/office/drawing/2014/main" id="{816A50C1-1236-04ED-A75B-FE8F1DC9632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vi-VN"/>
              <a:t>Bấm để sửa kiểu tiêu đề Bản cái</a:t>
            </a:r>
          </a:p>
        </p:txBody>
      </p:sp>
      <p:sp>
        <p:nvSpPr>
          <p:cNvPr id="3" name="Chỗ dành sẵn cho Nội dung 2">
            <a:extLst>
              <a:ext uri="{FF2B5EF4-FFF2-40B4-BE49-F238E27FC236}">
                <a16:creationId xmlns:a16="http://schemas.microsoft.com/office/drawing/2014/main" id="{4B2258AE-856A-EF88-E7E0-9B300DDA8E10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7"/>
            <a:ext cx="5181600" cy="4351338"/>
          </a:xfrm>
        </p:spPr>
        <p:txBody>
          <a:bodyPr/>
          <a:lstStyle/>
          <a:p>
            <a:pPr lvl="0"/>
            <a:r>
              <a:rPr lang="vi-VN"/>
              <a:t>Bấm để chỉnh sửa kiểu văn bản của Bản cái</a:t>
            </a:r>
          </a:p>
          <a:p>
            <a:pPr lvl="1"/>
            <a:r>
              <a:rPr lang="vi-VN"/>
              <a:t>Mức hai</a:t>
            </a:r>
          </a:p>
          <a:p>
            <a:pPr lvl="2"/>
            <a:r>
              <a:rPr lang="vi-VN"/>
              <a:t>Mức ba</a:t>
            </a:r>
          </a:p>
          <a:p>
            <a:pPr lvl="3"/>
            <a:r>
              <a:rPr lang="vi-VN"/>
              <a:t>Mức bốn</a:t>
            </a:r>
          </a:p>
          <a:p>
            <a:pPr lvl="4"/>
            <a:r>
              <a:rPr lang="vi-VN"/>
              <a:t>Mức năm</a:t>
            </a:r>
          </a:p>
        </p:txBody>
      </p:sp>
      <p:sp>
        <p:nvSpPr>
          <p:cNvPr id="4" name="Chỗ dành sẵn cho Nội dung 3">
            <a:extLst>
              <a:ext uri="{FF2B5EF4-FFF2-40B4-BE49-F238E27FC236}">
                <a16:creationId xmlns:a16="http://schemas.microsoft.com/office/drawing/2014/main" id="{1B58DA87-61BA-F9EB-E6FF-5E573F777E0E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7"/>
            <a:ext cx="5181600" cy="4351338"/>
          </a:xfrm>
        </p:spPr>
        <p:txBody>
          <a:bodyPr/>
          <a:lstStyle/>
          <a:p>
            <a:pPr lvl="0"/>
            <a:r>
              <a:rPr lang="vi-VN"/>
              <a:t>Bấm để chỉnh sửa kiểu văn bản của Bản cái</a:t>
            </a:r>
          </a:p>
          <a:p>
            <a:pPr lvl="1"/>
            <a:r>
              <a:rPr lang="vi-VN"/>
              <a:t>Mức hai</a:t>
            </a:r>
          </a:p>
          <a:p>
            <a:pPr lvl="2"/>
            <a:r>
              <a:rPr lang="vi-VN"/>
              <a:t>Mức ba</a:t>
            </a:r>
          </a:p>
          <a:p>
            <a:pPr lvl="3"/>
            <a:r>
              <a:rPr lang="vi-VN"/>
              <a:t>Mức bốn</a:t>
            </a:r>
          </a:p>
          <a:p>
            <a:pPr lvl="4"/>
            <a:r>
              <a:rPr lang="vi-VN"/>
              <a:t>Mức năm</a:t>
            </a:r>
          </a:p>
        </p:txBody>
      </p:sp>
      <p:sp>
        <p:nvSpPr>
          <p:cNvPr id="5" name="Chỗ dành sẵn cho Ngày tháng 4">
            <a:extLst>
              <a:ext uri="{FF2B5EF4-FFF2-40B4-BE49-F238E27FC236}">
                <a16:creationId xmlns:a16="http://schemas.microsoft.com/office/drawing/2014/main" id="{C8A2D13F-367A-DDC4-F6C6-5BF154B2D9E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C00EF57-3F7D-4995-A3A8-6DFB20BF891F}" type="datetimeFigureOut">
              <a:rPr lang="vi-VN" smtClean="0"/>
              <a:t>18/10/2026</a:t>
            </a:fld>
            <a:endParaRPr lang="vi-VN"/>
          </a:p>
        </p:txBody>
      </p:sp>
      <p:sp>
        <p:nvSpPr>
          <p:cNvPr id="6" name="Chỗ dành sẵn cho Chân trang 5">
            <a:extLst>
              <a:ext uri="{FF2B5EF4-FFF2-40B4-BE49-F238E27FC236}">
                <a16:creationId xmlns:a16="http://schemas.microsoft.com/office/drawing/2014/main" id="{837E2B1A-B48F-C295-EFBE-91B6D6C3FD9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vi-VN"/>
          </a:p>
        </p:txBody>
      </p:sp>
      <p:sp>
        <p:nvSpPr>
          <p:cNvPr id="7" name="Chỗ dành sẵn cho Số hiệu Bản chiếu 6">
            <a:extLst>
              <a:ext uri="{FF2B5EF4-FFF2-40B4-BE49-F238E27FC236}">
                <a16:creationId xmlns:a16="http://schemas.microsoft.com/office/drawing/2014/main" id="{A3E2EBCC-D164-0207-568A-EC11774D212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8E8952F-B7EA-4ED6-8DEB-4EB9585C726D}" type="slidenum">
              <a:rPr lang="vi-VN" smtClean="0"/>
              <a:t>‹#›</a:t>
            </a:fld>
            <a:endParaRPr lang="vi-VN"/>
          </a:p>
        </p:txBody>
      </p:sp>
    </p:spTree>
    <p:extLst>
      <p:ext uri="{BB962C8B-B14F-4D97-AF65-F5344CB8AC3E}">
        <p14:creationId xmlns:p14="http://schemas.microsoft.com/office/powerpoint/2010/main" val="1595538624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Phép so sánh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êu đề 1">
            <a:extLst>
              <a:ext uri="{FF2B5EF4-FFF2-40B4-BE49-F238E27FC236}">
                <a16:creationId xmlns:a16="http://schemas.microsoft.com/office/drawing/2014/main" id="{DB09BAF7-23A9-D9B7-83AA-62CB7508C3F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vi-VN"/>
              <a:t>Bấm để sửa kiểu tiêu đề Bản cái</a:t>
            </a:r>
          </a:p>
        </p:txBody>
      </p:sp>
      <p:sp>
        <p:nvSpPr>
          <p:cNvPr id="3" name="Chỗ dành sẵn cho Văn bản 2">
            <a:extLst>
              <a:ext uri="{FF2B5EF4-FFF2-40B4-BE49-F238E27FC236}">
                <a16:creationId xmlns:a16="http://schemas.microsoft.com/office/drawing/2014/main" id="{5F8821AE-A546-FF84-E7D2-67019E5925F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90" y="1681164"/>
            <a:ext cx="5157787" cy="82391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vi-VN"/>
              <a:t>Bấm để chỉnh sửa kiểu văn bản của Bản cái</a:t>
            </a:r>
          </a:p>
        </p:txBody>
      </p:sp>
      <p:sp>
        <p:nvSpPr>
          <p:cNvPr id="4" name="Chỗ dành sẵn cho Nội dung 3">
            <a:extLst>
              <a:ext uri="{FF2B5EF4-FFF2-40B4-BE49-F238E27FC236}">
                <a16:creationId xmlns:a16="http://schemas.microsoft.com/office/drawing/2014/main" id="{DD9BF699-8B9F-C8A2-BFD0-A978DC5381F5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90" y="2505076"/>
            <a:ext cx="5157787" cy="3684588"/>
          </a:xfrm>
        </p:spPr>
        <p:txBody>
          <a:bodyPr/>
          <a:lstStyle/>
          <a:p>
            <a:pPr lvl="0"/>
            <a:r>
              <a:rPr lang="vi-VN"/>
              <a:t>Bấm để chỉnh sửa kiểu văn bản của Bản cái</a:t>
            </a:r>
          </a:p>
          <a:p>
            <a:pPr lvl="1"/>
            <a:r>
              <a:rPr lang="vi-VN"/>
              <a:t>Mức hai</a:t>
            </a:r>
          </a:p>
          <a:p>
            <a:pPr lvl="2"/>
            <a:r>
              <a:rPr lang="vi-VN"/>
              <a:t>Mức ba</a:t>
            </a:r>
          </a:p>
          <a:p>
            <a:pPr lvl="3"/>
            <a:r>
              <a:rPr lang="vi-VN"/>
              <a:t>Mức bốn</a:t>
            </a:r>
          </a:p>
          <a:p>
            <a:pPr lvl="4"/>
            <a:r>
              <a:rPr lang="vi-VN"/>
              <a:t>Mức năm</a:t>
            </a:r>
          </a:p>
        </p:txBody>
      </p:sp>
      <p:sp>
        <p:nvSpPr>
          <p:cNvPr id="5" name="Chỗ dành sẵn cho Văn bản 4">
            <a:extLst>
              <a:ext uri="{FF2B5EF4-FFF2-40B4-BE49-F238E27FC236}">
                <a16:creationId xmlns:a16="http://schemas.microsoft.com/office/drawing/2014/main" id="{E07D9726-1485-B2DC-A19C-BC9DF49C31EE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1" y="1681164"/>
            <a:ext cx="5183188" cy="82391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vi-VN"/>
              <a:t>Bấm để chỉnh sửa kiểu văn bản của Bản cái</a:t>
            </a:r>
          </a:p>
        </p:txBody>
      </p:sp>
      <p:sp>
        <p:nvSpPr>
          <p:cNvPr id="6" name="Chỗ dành sẵn cho Nội dung 5">
            <a:extLst>
              <a:ext uri="{FF2B5EF4-FFF2-40B4-BE49-F238E27FC236}">
                <a16:creationId xmlns:a16="http://schemas.microsoft.com/office/drawing/2014/main" id="{8A367901-9813-7CEA-9FCE-8168B6576876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1" y="2505076"/>
            <a:ext cx="5183188" cy="3684588"/>
          </a:xfrm>
        </p:spPr>
        <p:txBody>
          <a:bodyPr/>
          <a:lstStyle/>
          <a:p>
            <a:pPr lvl="0"/>
            <a:r>
              <a:rPr lang="vi-VN"/>
              <a:t>Bấm để chỉnh sửa kiểu văn bản của Bản cái</a:t>
            </a:r>
          </a:p>
          <a:p>
            <a:pPr lvl="1"/>
            <a:r>
              <a:rPr lang="vi-VN"/>
              <a:t>Mức hai</a:t>
            </a:r>
          </a:p>
          <a:p>
            <a:pPr lvl="2"/>
            <a:r>
              <a:rPr lang="vi-VN"/>
              <a:t>Mức ba</a:t>
            </a:r>
          </a:p>
          <a:p>
            <a:pPr lvl="3"/>
            <a:r>
              <a:rPr lang="vi-VN"/>
              <a:t>Mức bốn</a:t>
            </a:r>
          </a:p>
          <a:p>
            <a:pPr lvl="4"/>
            <a:r>
              <a:rPr lang="vi-VN"/>
              <a:t>Mức năm</a:t>
            </a:r>
          </a:p>
        </p:txBody>
      </p:sp>
      <p:sp>
        <p:nvSpPr>
          <p:cNvPr id="7" name="Chỗ dành sẵn cho Ngày tháng 6">
            <a:extLst>
              <a:ext uri="{FF2B5EF4-FFF2-40B4-BE49-F238E27FC236}">
                <a16:creationId xmlns:a16="http://schemas.microsoft.com/office/drawing/2014/main" id="{3A9AAF5C-AA75-8434-356E-1845EEEFBAC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C00EF57-3F7D-4995-A3A8-6DFB20BF891F}" type="datetimeFigureOut">
              <a:rPr lang="vi-VN" smtClean="0"/>
              <a:t>18/10/2026</a:t>
            </a:fld>
            <a:endParaRPr lang="vi-VN"/>
          </a:p>
        </p:txBody>
      </p:sp>
      <p:sp>
        <p:nvSpPr>
          <p:cNvPr id="8" name="Chỗ dành sẵn cho Chân trang 7">
            <a:extLst>
              <a:ext uri="{FF2B5EF4-FFF2-40B4-BE49-F238E27FC236}">
                <a16:creationId xmlns:a16="http://schemas.microsoft.com/office/drawing/2014/main" id="{AC6C5EB6-D50D-0C0F-A66B-CAA40FFA9D1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vi-VN"/>
          </a:p>
        </p:txBody>
      </p:sp>
      <p:sp>
        <p:nvSpPr>
          <p:cNvPr id="9" name="Chỗ dành sẵn cho Số hiệu Bản chiếu 8">
            <a:extLst>
              <a:ext uri="{FF2B5EF4-FFF2-40B4-BE49-F238E27FC236}">
                <a16:creationId xmlns:a16="http://schemas.microsoft.com/office/drawing/2014/main" id="{3DA0EC64-D9B4-AAC9-6262-82B03F22F74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8E8952F-B7EA-4ED6-8DEB-4EB9585C726D}" type="slidenum">
              <a:rPr lang="vi-VN" smtClean="0"/>
              <a:t>‹#›</a:t>
            </a:fld>
            <a:endParaRPr lang="vi-VN"/>
          </a:p>
        </p:txBody>
      </p:sp>
    </p:spTree>
    <p:extLst>
      <p:ext uri="{BB962C8B-B14F-4D97-AF65-F5344CB8AC3E}">
        <p14:creationId xmlns:p14="http://schemas.microsoft.com/office/powerpoint/2010/main" val="3942584859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Chỉ Tiêu đê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êu đề 1">
            <a:extLst>
              <a:ext uri="{FF2B5EF4-FFF2-40B4-BE49-F238E27FC236}">
                <a16:creationId xmlns:a16="http://schemas.microsoft.com/office/drawing/2014/main" id="{670185AE-350A-1359-1A50-B1E3AAD8E41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vi-VN"/>
              <a:t>Bấm để sửa kiểu tiêu đề Bản cái</a:t>
            </a:r>
          </a:p>
        </p:txBody>
      </p:sp>
      <p:sp>
        <p:nvSpPr>
          <p:cNvPr id="3" name="Chỗ dành sẵn cho Ngày tháng 2">
            <a:extLst>
              <a:ext uri="{FF2B5EF4-FFF2-40B4-BE49-F238E27FC236}">
                <a16:creationId xmlns:a16="http://schemas.microsoft.com/office/drawing/2014/main" id="{420A2062-A4B2-8123-F6DA-9D9549912F4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C00EF57-3F7D-4995-A3A8-6DFB20BF891F}" type="datetimeFigureOut">
              <a:rPr lang="vi-VN" smtClean="0"/>
              <a:t>18/10/2026</a:t>
            </a:fld>
            <a:endParaRPr lang="vi-VN"/>
          </a:p>
        </p:txBody>
      </p:sp>
      <p:sp>
        <p:nvSpPr>
          <p:cNvPr id="4" name="Chỗ dành sẵn cho Chân trang 3">
            <a:extLst>
              <a:ext uri="{FF2B5EF4-FFF2-40B4-BE49-F238E27FC236}">
                <a16:creationId xmlns:a16="http://schemas.microsoft.com/office/drawing/2014/main" id="{6B3AB258-891D-3108-1B6E-48983518B3C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vi-VN"/>
          </a:p>
        </p:txBody>
      </p:sp>
      <p:sp>
        <p:nvSpPr>
          <p:cNvPr id="5" name="Chỗ dành sẵn cho Số hiệu Bản chiếu 4">
            <a:extLst>
              <a:ext uri="{FF2B5EF4-FFF2-40B4-BE49-F238E27FC236}">
                <a16:creationId xmlns:a16="http://schemas.microsoft.com/office/drawing/2014/main" id="{0F7E07B0-C0F7-6C4D-7B94-10E576B13BF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8E8952F-B7EA-4ED6-8DEB-4EB9585C726D}" type="slidenum">
              <a:rPr lang="vi-VN" smtClean="0"/>
              <a:t>‹#›</a:t>
            </a:fld>
            <a:endParaRPr lang="vi-VN"/>
          </a:p>
        </p:txBody>
      </p:sp>
    </p:spTree>
    <p:extLst>
      <p:ext uri="{BB962C8B-B14F-4D97-AF65-F5344CB8AC3E}">
        <p14:creationId xmlns:p14="http://schemas.microsoft.com/office/powerpoint/2010/main" val="3889366992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Trống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hỗ dành sẵn cho Ngày tháng 1">
            <a:extLst>
              <a:ext uri="{FF2B5EF4-FFF2-40B4-BE49-F238E27FC236}">
                <a16:creationId xmlns:a16="http://schemas.microsoft.com/office/drawing/2014/main" id="{304DA126-30D3-B75C-52B5-0E23F3B0963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C00EF57-3F7D-4995-A3A8-6DFB20BF891F}" type="datetimeFigureOut">
              <a:rPr lang="vi-VN" smtClean="0"/>
              <a:t>18/10/2026</a:t>
            </a:fld>
            <a:endParaRPr lang="vi-VN"/>
          </a:p>
        </p:txBody>
      </p:sp>
      <p:sp>
        <p:nvSpPr>
          <p:cNvPr id="3" name="Chỗ dành sẵn cho Chân trang 2">
            <a:extLst>
              <a:ext uri="{FF2B5EF4-FFF2-40B4-BE49-F238E27FC236}">
                <a16:creationId xmlns:a16="http://schemas.microsoft.com/office/drawing/2014/main" id="{F11B8569-2CDE-6406-0491-AABFE1E9489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vi-VN"/>
          </a:p>
        </p:txBody>
      </p:sp>
      <p:sp>
        <p:nvSpPr>
          <p:cNvPr id="4" name="Chỗ dành sẵn cho Số hiệu Bản chiếu 3">
            <a:extLst>
              <a:ext uri="{FF2B5EF4-FFF2-40B4-BE49-F238E27FC236}">
                <a16:creationId xmlns:a16="http://schemas.microsoft.com/office/drawing/2014/main" id="{2FB1291C-AC0A-D515-36A3-5F9E47F498A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8E8952F-B7EA-4ED6-8DEB-4EB9585C726D}" type="slidenum">
              <a:rPr lang="vi-VN" smtClean="0"/>
              <a:t>‹#›</a:t>
            </a:fld>
            <a:endParaRPr lang="vi-VN"/>
          </a:p>
        </p:txBody>
      </p:sp>
    </p:spTree>
    <p:extLst>
      <p:ext uri="{BB962C8B-B14F-4D97-AF65-F5344CB8AC3E}">
        <p14:creationId xmlns:p14="http://schemas.microsoft.com/office/powerpoint/2010/main" val="3103603040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Nội dung với Chú thích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êu đề 1">
            <a:extLst>
              <a:ext uri="{FF2B5EF4-FFF2-40B4-BE49-F238E27FC236}">
                <a16:creationId xmlns:a16="http://schemas.microsoft.com/office/drawing/2014/main" id="{848BCCE0-6391-FC17-9245-D83DDBA8E6E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9" y="457200"/>
            <a:ext cx="3932237" cy="1600200"/>
          </a:xfrm>
        </p:spPr>
        <p:txBody>
          <a:bodyPr anchor="b"/>
          <a:lstStyle>
            <a:lvl1pPr>
              <a:defRPr sz="2400"/>
            </a:lvl1pPr>
          </a:lstStyle>
          <a:p>
            <a:r>
              <a:rPr lang="vi-VN"/>
              <a:t>Bấm để sửa kiểu tiêu đề Bản cái</a:t>
            </a:r>
          </a:p>
        </p:txBody>
      </p:sp>
      <p:sp>
        <p:nvSpPr>
          <p:cNvPr id="3" name="Chỗ dành sẵn cho Nội dung 2">
            <a:extLst>
              <a:ext uri="{FF2B5EF4-FFF2-40B4-BE49-F238E27FC236}">
                <a16:creationId xmlns:a16="http://schemas.microsoft.com/office/drawing/2014/main" id="{A5C6DCF8-8C0A-A422-B16F-E89D59FAB24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6"/>
            <a:ext cx="6172200" cy="487362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vi-VN"/>
              <a:t>Bấm để chỉnh sửa kiểu văn bản của Bản cái</a:t>
            </a:r>
          </a:p>
          <a:p>
            <a:pPr lvl="1"/>
            <a:r>
              <a:rPr lang="vi-VN"/>
              <a:t>Mức hai</a:t>
            </a:r>
          </a:p>
          <a:p>
            <a:pPr lvl="2"/>
            <a:r>
              <a:rPr lang="vi-VN"/>
              <a:t>Mức ba</a:t>
            </a:r>
          </a:p>
          <a:p>
            <a:pPr lvl="3"/>
            <a:r>
              <a:rPr lang="vi-VN"/>
              <a:t>Mức bốn</a:t>
            </a:r>
          </a:p>
          <a:p>
            <a:pPr lvl="4"/>
            <a:r>
              <a:rPr lang="vi-VN"/>
              <a:t>Mức năm</a:t>
            </a:r>
          </a:p>
        </p:txBody>
      </p:sp>
      <p:sp>
        <p:nvSpPr>
          <p:cNvPr id="4" name="Chỗ dành sẵn cho Văn bản 3">
            <a:extLst>
              <a:ext uri="{FF2B5EF4-FFF2-40B4-BE49-F238E27FC236}">
                <a16:creationId xmlns:a16="http://schemas.microsoft.com/office/drawing/2014/main" id="{B4BA8DD0-C492-D063-63A5-0E8296B851D7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9" y="2057400"/>
            <a:ext cx="3932237" cy="3811588"/>
          </a:xfrm>
        </p:spPr>
        <p:txBody>
          <a:bodyPr/>
          <a:lstStyle>
            <a:lvl1pPr marL="0" indent="0">
              <a:buNone/>
              <a:defRPr sz="1200"/>
            </a:lvl1pPr>
            <a:lvl2pPr marL="342900" indent="0">
              <a:buNone/>
              <a:defRPr sz="1050"/>
            </a:lvl2pPr>
            <a:lvl3pPr marL="685800" indent="0">
              <a:buNone/>
              <a:defRPr sz="900"/>
            </a:lvl3pPr>
            <a:lvl4pPr marL="1028700" indent="0">
              <a:buNone/>
              <a:defRPr sz="750"/>
            </a:lvl4pPr>
            <a:lvl5pPr marL="1371600" indent="0">
              <a:buNone/>
              <a:defRPr sz="750"/>
            </a:lvl5pPr>
            <a:lvl6pPr marL="1714500" indent="0">
              <a:buNone/>
              <a:defRPr sz="750"/>
            </a:lvl6pPr>
            <a:lvl7pPr marL="2057400" indent="0">
              <a:buNone/>
              <a:defRPr sz="750"/>
            </a:lvl7pPr>
            <a:lvl8pPr marL="2400300" indent="0">
              <a:buNone/>
              <a:defRPr sz="750"/>
            </a:lvl8pPr>
            <a:lvl9pPr marL="2743200" indent="0">
              <a:buNone/>
              <a:defRPr sz="750"/>
            </a:lvl9pPr>
          </a:lstStyle>
          <a:p>
            <a:pPr lvl="0"/>
            <a:r>
              <a:rPr lang="vi-VN"/>
              <a:t>Bấm để chỉnh sửa kiểu văn bản của Bản cái</a:t>
            </a:r>
          </a:p>
        </p:txBody>
      </p:sp>
      <p:sp>
        <p:nvSpPr>
          <p:cNvPr id="5" name="Chỗ dành sẵn cho Ngày tháng 4">
            <a:extLst>
              <a:ext uri="{FF2B5EF4-FFF2-40B4-BE49-F238E27FC236}">
                <a16:creationId xmlns:a16="http://schemas.microsoft.com/office/drawing/2014/main" id="{7A07A028-157C-4EED-37A6-456C9367FE5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C00EF57-3F7D-4995-A3A8-6DFB20BF891F}" type="datetimeFigureOut">
              <a:rPr lang="vi-VN" smtClean="0"/>
              <a:t>18/10/2026</a:t>
            </a:fld>
            <a:endParaRPr lang="vi-VN"/>
          </a:p>
        </p:txBody>
      </p:sp>
      <p:sp>
        <p:nvSpPr>
          <p:cNvPr id="6" name="Chỗ dành sẵn cho Chân trang 5">
            <a:extLst>
              <a:ext uri="{FF2B5EF4-FFF2-40B4-BE49-F238E27FC236}">
                <a16:creationId xmlns:a16="http://schemas.microsoft.com/office/drawing/2014/main" id="{36FDE0EE-130B-66A2-1351-09A70E40D02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vi-VN"/>
          </a:p>
        </p:txBody>
      </p:sp>
      <p:sp>
        <p:nvSpPr>
          <p:cNvPr id="7" name="Chỗ dành sẵn cho Số hiệu Bản chiếu 6">
            <a:extLst>
              <a:ext uri="{FF2B5EF4-FFF2-40B4-BE49-F238E27FC236}">
                <a16:creationId xmlns:a16="http://schemas.microsoft.com/office/drawing/2014/main" id="{1025E495-8E1B-3438-73AC-0DBEB9FAEA8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8E8952F-B7EA-4ED6-8DEB-4EB9585C726D}" type="slidenum">
              <a:rPr lang="vi-VN" smtClean="0"/>
              <a:t>‹#›</a:t>
            </a:fld>
            <a:endParaRPr lang="vi-VN"/>
          </a:p>
        </p:txBody>
      </p:sp>
    </p:spTree>
    <p:extLst>
      <p:ext uri="{BB962C8B-B14F-4D97-AF65-F5344CB8AC3E}">
        <p14:creationId xmlns:p14="http://schemas.microsoft.com/office/powerpoint/2010/main" val="277042597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Ảnh với Chú thích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êu đề 1">
            <a:extLst>
              <a:ext uri="{FF2B5EF4-FFF2-40B4-BE49-F238E27FC236}">
                <a16:creationId xmlns:a16="http://schemas.microsoft.com/office/drawing/2014/main" id="{F36EE2F5-AC57-E9DA-8C8D-0A193DEC705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9" y="457200"/>
            <a:ext cx="3932237" cy="1600200"/>
          </a:xfrm>
        </p:spPr>
        <p:txBody>
          <a:bodyPr anchor="b"/>
          <a:lstStyle>
            <a:lvl1pPr>
              <a:defRPr sz="2400"/>
            </a:lvl1pPr>
          </a:lstStyle>
          <a:p>
            <a:r>
              <a:rPr lang="vi-VN"/>
              <a:t>Bấm để sửa kiểu tiêu đề Bản cái</a:t>
            </a:r>
          </a:p>
        </p:txBody>
      </p:sp>
      <p:sp>
        <p:nvSpPr>
          <p:cNvPr id="3" name="Chỗ dành sẵn cho Hình ảnh 2">
            <a:extLst>
              <a:ext uri="{FF2B5EF4-FFF2-40B4-BE49-F238E27FC236}">
                <a16:creationId xmlns:a16="http://schemas.microsoft.com/office/drawing/2014/main" id="{E7EEC5DE-014C-AEEB-3B91-E27BB22DF372}"/>
              </a:ext>
            </a:extLst>
          </p:cNvPr>
          <p:cNvSpPr>
            <a:spLocks noGrp="1" noChangeAspect="1"/>
          </p:cNvSpPr>
          <p:nvPr>
            <p:ph type="pic" idx="1"/>
          </p:nvPr>
        </p:nvSpPr>
        <p:spPr>
          <a:xfrm>
            <a:off x="5183188" y="987426"/>
            <a:ext cx="6172200" cy="4873625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vi-VN"/>
          </a:p>
        </p:txBody>
      </p:sp>
      <p:sp>
        <p:nvSpPr>
          <p:cNvPr id="4" name="Chỗ dành sẵn cho Văn bản 3">
            <a:extLst>
              <a:ext uri="{FF2B5EF4-FFF2-40B4-BE49-F238E27FC236}">
                <a16:creationId xmlns:a16="http://schemas.microsoft.com/office/drawing/2014/main" id="{66332DB8-B13C-6623-CC62-23C608AB8EE8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9" y="2057400"/>
            <a:ext cx="3932237" cy="3811588"/>
          </a:xfrm>
        </p:spPr>
        <p:txBody>
          <a:bodyPr/>
          <a:lstStyle>
            <a:lvl1pPr marL="0" indent="0">
              <a:buNone/>
              <a:defRPr sz="1200"/>
            </a:lvl1pPr>
            <a:lvl2pPr marL="342900" indent="0">
              <a:buNone/>
              <a:defRPr sz="1050"/>
            </a:lvl2pPr>
            <a:lvl3pPr marL="685800" indent="0">
              <a:buNone/>
              <a:defRPr sz="900"/>
            </a:lvl3pPr>
            <a:lvl4pPr marL="1028700" indent="0">
              <a:buNone/>
              <a:defRPr sz="750"/>
            </a:lvl4pPr>
            <a:lvl5pPr marL="1371600" indent="0">
              <a:buNone/>
              <a:defRPr sz="750"/>
            </a:lvl5pPr>
            <a:lvl6pPr marL="1714500" indent="0">
              <a:buNone/>
              <a:defRPr sz="750"/>
            </a:lvl6pPr>
            <a:lvl7pPr marL="2057400" indent="0">
              <a:buNone/>
              <a:defRPr sz="750"/>
            </a:lvl7pPr>
            <a:lvl8pPr marL="2400300" indent="0">
              <a:buNone/>
              <a:defRPr sz="750"/>
            </a:lvl8pPr>
            <a:lvl9pPr marL="2743200" indent="0">
              <a:buNone/>
              <a:defRPr sz="750"/>
            </a:lvl9pPr>
          </a:lstStyle>
          <a:p>
            <a:pPr lvl="0"/>
            <a:r>
              <a:rPr lang="vi-VN"/>
              <a:t>Bấm để chỉnh sửa kiểu văn bản của Bản cái</a:t>
            </a:r>
          </a:p>
        </p:txBody>
      </p:sp>
      <p:sp>
        <p:nvSpPr>
          <p:cNvPr id="5" name="Chỗ dành sẵn cho Ngày tháng 4">
            <a:extLst>
              <a:ext uri="{FF2B5EF4-FFF2-40B4-BE49-F238E27FC236}">
                <a16:creationId xmlns:a16="http://schemas.microsoft.com/office/drawing/2014/main" id="{442FA81C-BB0E-7542-D40F-5B6146BCA73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C00EF57-3F7D-4995-A3A8-6DFB20BF891F}" type="datetimeFigureOut">
              <a:rPr lang="vi-VN" smtClean="0"/>
              <a:t>18/10/2026</a:t>
            </a:fld>
            <a:endParaRPr lang="vi-VN"/>
          </a:p>
        </p:txBody>
      </p:sp>
      <p:sp>
        <p:nvSpPr>
          <p:cNvPr id="6" name="Chỗ dành sẵn cho Chân trang 5">
            <a:extLst>
              <a:ext uri="{FF2B5EF4-FFF2-40B4-BE49-F238E27FC236}">
                <a16:creationId xmlns:a16="http://schemas.microsoft.com/office/drawing/2014/main" id="{6CFAF51F-DAD5-FF0C-3736-41D0B826BC2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vi-VN"/>
          </a:p>
        </p:txBody>
      </p:sp>
      <p:sp>
        <p:nvSpPr>
          <p:cNvPr id="7" name="Chỗ dành sẵn cho Số hiệu Bản chiếu 6">
            <a:extLst>
              <a:ext uri="{FF2B5EF4-FFF2-40B4-BE49-F238E27FC236}">
                <a16:creationId xmlns:a16="http://schemas.microsoft.com/office/drawing/2014/main" id="{3D99F69A-1C73-8BAA-DEC7-CE7FA747348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8E8952F-B7EA-4ED6-8DEB-4EB9585C726D}" type="slidenum">
              <a:rPr lang="vi-VN" smtClean="0"/>
              <a:t>‹#›</a:t>
            </a:fld>
            <a:endParaRPr lang="vi-VN"/>
          </a:p>
        </p:txBody>
      </p:sp>
    </p:spTree>
    <p:extLst>
      <p:ext uri="{BB962C8B-B14F-4D97-AF65-F5344CB8AC3E}">
        <p14:creationId xmlns:p14="http://schemas.microsoft.com/office/powerpoint/2010/main" val="399771851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êu đề và Văn bản Dọc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êu đề 1">
            <a:extLst>
              <a:ext uri="{FF2B5EF4-FFF2-40B4-BE49-F238E27FC236}">
                <a16:creationId xmlns:a16="http://schemas.microsoft.com/office/drawing/2014/main" id="{01F4E6FC-D900-CB32-471B-C86746DB061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vi-VN"/>
              <a:t>Bấm để sửa kiểu tiêu đề Bản cái</a:t>
            </a:r>
          </a:p>
        </p:txBody>
      </p:sp>
      <p:sp>
        <p:nvSpPr>
          <p:cNvPr id="3" name="Chỗ dành sẵn cho Văn bản Dọc 2">
            <a:extLst>
              <a:ext uri="{FF2B5EF4-FFF2-40B4-BE49-F238E27FC236}">
                <a16:creationId xmlns:a16="http://schemas.microsoft.com/office/drawing/2014/main" id="{BA335FC6-2887-2045-C913-035F0F4E0223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vi-VN"/>
              <a:t>Bấm để chỉnh sửa kiểu văn bản của Bản cái</a:t>
            </a:r>
          </a:p>
          <a:p>
            <a:pPr lvl="1"/>
            <a:r>
              <a:rPr lang="vi-VN"/>
              <a:t>Mức hai</a:t>
            </a:r>
          </a:p>
          <a:p>
            <a:pPr lvl="2"/>
            <a:r>
              <a:rPr lang="vi-VN"/>
              <a:t>Mức ba</a:t>
            </a:r>
          </a:p>
          <a:p>
            <a:pPr lvl="3"/>
            <a:r>
              <a:rPr lang="vi-VN"/>
              <a:t>Mức bốn</a:t>
            </a:r>
          </a:p>
          <a:p>
            <a:pPr lvl="4"/>
            <a:r>
              <a:rPr lang="vi-VN"/>
              <a:t>Mức năm</a:t>
            </a:r>
          </a:p>
        </p:txBody>
      </p:sp>
      <p:sp>
        <p:nvSpPr>
          <p:cNvPr id="4" name="Chỗ dành sẵn cho Ngày tháng 3">
            <a:extLst>
              <a:ext uri="{FF2B5EF4-FFF2-40B4-BE49-F238E27FC236}">
                <a16:creationId xmlns:a16="http://schemas.microsoft.com/office/drawing/2014/main" id="{F065777C-561F-7E10-415F-93E8D12DD0C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C00EF57-3F7D-4995-A3A8-6DFB20BF891F}" type="datetimeFigureOut">
              <a:rPr lang="vi-VN" smtClean="0"/>
              <a:t>18/10/2026</a:t>
            </a:fld>
            <a:endParaRPr lang="vi-VN"/>
          </a:p>
        </p:txBody>
      </p:sp>
      <p:sp>
        <p:nvSpPr>
          <p:cNvPr id="5" name="Chỗ dành sẵn cho Chân trang 4">
            <a:extLst>
              <a:ext uri="{FF2B5EF4-FFF2-40B4-BE49-F238E27FC236}">
                <a16:creationId xmlns:a16="http://schemas.microsoft.com/office/drawing/2014/main" id="{8E3A14F4-5B2C-7946-2E60-2057CB1CDAA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vi-VN"/>
          </a:p>
        </p:txBody>
      </p:sp>
      <p:sp>
        <p:nvSpPr>
          <p:cNvPr id="6" name="Chỗ dành sẵn cho Số hiệu Bản chiếu 5">
            <a:extLst>
              <a:ext uri="{FF2B5EF4-FFF2-40B4-BE49-F238E27FC236}">
                <a16:creationId xmlns:a16="http://schemas.microsoft.com/office/drawing/2014/main" id="{944CB697-F71F-FA46-E8A7-72946AE5793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8E8952F-B7EA-4ED6-8DEB-4EB9585C726D}" type="slidenum">
              <a:rPr lang="vi-VN" smtClean="0"/>
              <a:t>‹#›</a:t>
            </a:fld>
            <a:endParaRPr lang="vi-VN"/>
          </a:p>
        </p:txBody>
      </p:sp>
    </p:spTree>
    <p:extLst>
      <p:ext uri="{BB962C8B-B14F-4D97-AF65-F5344CB8AC3E}">
        <p14:creationId xmlns:p14="http://schemas.microsoft.com/office/powerpoint/2010/main" val="2428571762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Tiêu đề Dọc và Văn bả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êu đề Dọc 1">
            <a:extLst>
              <a:ext uri="{FF2B5EF4-FFF2-40B4-BE49-F238E27FC236}">
                <a16:creationId xmlns:a16="http://schemas.microsoft.com/office/drawing/2014/main" id="{63ACFE30-C592-6ECC-4A05-9FE2D160A8C9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1" y="365125"/>
            <a:ext cx="2628900" cy="5811838"/>
          </a:xfrm>
        </p:spPr>
        <p:txBody>
          <a:bodyPr vert="eaVert"/>
          <a:lstStyle/>
          <a:p>
            <a:r>
              <a:rPr lang="vi-VN"/>
              <a:t>Bấm để sửa kiểu tiêu đề Bản cái</a:t>
            </a:r>
          </a:p>
        </p:txBody>
      </p:sp>
      <p:sp>
        <p:nvSpPr>
          <p:cNvPr id="3" name="Chỗ dành sẵn cho Văn bản Dọc 2">
            <a:extLst>
              <a:ext uri="{FF2B5EF4-FFF2-40B4-BE49-F238E27FC236}">
                <a16:creationId xmlns:a16="http://schemas.microsoft.com/office/drawing/2014/main" id="{EF44AB43-77F3-CF02-F011-9558241A4476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1" y="365125"/>
            <a:ext cx="7734300" cy="5811838"/>
          </a:xfrm>
        </p:spPr>
        <p:txBody>
          <a:bodyPr vert="eaVert"/>
          <a:lstStyle/>
          <a:p>
            <a:pPr lvl="0"/>
            <a:r>
              <a:rPr lang="vi-VN"/>
              <a:t>Bấm để chỉnh sửa kiểu văn bản của Bản cái</a:t>
            </a:r>
          </a:p>
          <a:p>
            <a:pPr lvl="1"/>
            <a:r>
              <a:rPr lang="vi-VN"/>
              <a:t>Mức hai</a:t>
            </a:r>
          </a:p>
          <a:p>
            <a:pPr lvl="2"/>
            <a:r>
              <a:rPr lang="vi-VN"/>
              <a:t>Mức ba</a:t>
            </a:r>
          </a:p>
          <a:p>
            <a:pPr lvl="3"/>
            <a:r>
              <a:rPr lang="vi-VN"/>
              <a:t>Mức bốn</a:t>
            </a:r>
          </a:p>
          <a:p>
            <a:pPr lvl="4"/>
            <a:r>
              <a:rPr lang="vi-VN"/>
              <a:t>Mức năm</a:t>
            </a:r>
          </a:p>
        </p:txBody>
      </p:sp>
      <p:sp>
        <p:nvSpPr>
          <p:cNvPr id="4" name="Chỗ dành sẵn cho Ngày tháng 3">
            <a:extLst>
              <a:ext uri="{FF2B5EF4-FFF2-40B4-BE49-F238E27FC236}">
                <a16:creationId xmlns:a16="http://schemas.microsoft.com/office/drawing/2014/main" id="{B28C69A8-02C7-691A-88FD-CF1C6EA7C8E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C00EF57-3F7D-4995-A3A8-6DFB20BF891F}" type="datetimeFigureOut">
              <a:rPr lang="vi-VN" smtClean="0"/>
              <a:t>18/10/2026</a:t>
            </a:fld>
            <a:endParaRPr lang="vi-VN"/>
          </a:p>
        </p:txBody>
      </p:sp>
      <p:sp>
        <p:nvSpPr>
          <p:cNvPr id="5" name="Chỗ dành sẵn cho Chân trang 4">
            <a:extLst>
              <a:ext uri="{FF2B5EF4-FFF2-40B4-BE49-F238E27FC236}">
                <a16:creationId xmlns:a16="http://schemas.microsoft.com/office/drawing/2014/main" id="{2F0629AB-1267-930D-C45A-F8C6F97794D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vi-VN"/>
          </a:p>
        </p:txBody>
      </p:sp>
      <p:sp>
        <p:nvSpPr>
          <p:cNvPr id="6" name="Chỗ dành sẵn cho Số hiệu Bản chiếu 5">
            <a:extLst>
              <a:ext uri="{FF2B5EF4-FFF2-40B4-BE49-F238E27FC236}">
                <a16:creationId xmlns:a16="http://schemas.microsoft.com/office/drawing/2014/main" id="{1984CFFF-3608-1FBA-0F48-88743F82B1F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8E8952F-B7EA-4ED6-8DEB-4EB9585C726D}" type="slidenum">
              <a:rPr lang="vi-VN" smtClean="0"/>
              <a:t>‹#›</a:t>
            </a:fld>
            <a:endParaRPr lang="vi-VN"/>
          </a:p>
        </p:txBody>
      </p:sp>
    </p:spTree>
    <p:extLst>
      <p:ext uri="{BB962C8B-B14F-4D97-AF65-F5344CB8AC3E}">
        <p14:creationId xmlns:p14="http://schemas.microsoft.com/office/powerpoint/2010/main" val="3291345937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hỗ dành sẵn cho Tiêu đề 1">
            <a:extLst>
              <a:ext uri="{FF2B5EF4-FFF2-40B4-BE49-F238E27FC236}">
                <a16:creationId xmlns:a16="http://schemas.microsoft.com/office/drawing/2014/main" id="{99D0DEF5-FAAA-7A83-7F18-7872CDA712B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vi-VN"/>
              <a:t>Bấm để sửa kiểu tiêu đề Bản cái</a:t>
            </a:r>
          </a:p>
        </p:txBody>
      </p:sp>
      <p:sp>
        <p:nvSpPr>
          <p:cNvPr id="3" name="Chỗ dành sẵn cho Văn bản 2">
            <a:extLst>
              <a:ext uri="{FF2B5EF4-FFF2-40B4-BE49-F238E27FC236}">
                <a16:creationId xmlns:a16="http://schemas.microsoft.com/office/drawing/2014/main" id="{5D5CE37E-4624-621E-A28B-7EA1A822C0B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7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vi-VN"/>
              <a:t>Bấm để chỉnh sửa kiểu văn bản của Bản cái</a:t>
            </a:r>
          </a:p>
          <a:p>
            <a:pPr lvl="1"/>
            <a:r>
              <a:rPr lang="vi-VN"/>
              <a:t>Mức hai</a:t>
            </a:r>
          </a:p>
          <a:p>
            <a:pPr lvl="2"/>
            <a:r>
              <a:rPr lang="vi-VN"/>
              <a:t>Mức ba</a:t>
            </a:r>
          </a:p>
          <a:p>
            <a:pPr lvl="3"/>
            <a:r>
              <a:rPr lang="vi-VN"/>
              <a:t>Mức bốn</a:t>
            </a:r>
          </a:p>
          <a:p>
            <a:pPr lvl="4"/>
            <a:r>
              <a:rPr lang="vi-VN"/>
              <a:t>Mức năm</a:t>
            </a:r>
          </a:p>
        </p:txBody>
      </p:sp>
      <p:sp>
        <p:nvSpPr>
          <p:cNvPr id="4" name="Chỗ dành sẵn cho Ngày tháng 3">
            <a:extLst>
              <a:ext uri="{FF2B5EF4-FFF2-40B4-BE49-F238E27FC236}">
                <a16:creationId xmlns:a16="http://schemas.microsoft.com/office/drawing/2014/main" id="{FA5A1AFE-5B90-769F-4299-F53D6EE8E8BE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3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9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5C00EF57-3F7D-4995-A3A8-6DFB20BF891F}" type="datetimeFigureOut">
              <a:rPr lang="vi-VN" smtClean="0"/>
              <a:t>18/10/2026</a:t>
            </a:fld>
            <a:endParaRPr lang="vi-VN"/>
          </a:p>
        </p:txBody>
      </p:sp>
      <p:sp>
        <p:nvSpPr>
          <p:cNvPr id="5" name="Chỗ dành sẵn cho Chân trang 4">
            <a:extLst>
              <a:ext uri="{FF2B5EF4-FFF2-40B4-BE49-F238E27FC236}">
                <a16:creationId xmlns:a16="http://schemas.microsoft.com/office/drawing/2014/main" id="{94CB6C78-94A9-E4EA-DE82-51EA3D97FDA9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3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9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vi-VN"/>
          </a:p>
        </p:txBody>
      </p:sp>
      <p:sp>
        <p:nvSpPr>
          <p:cNvPr id="6" name="Chỗ dành sẵn cho Số hiệu Bản chiếu 5">
            <a:extLst>
              <a:ext uri="{FF2B5EF4-FFF2-40B4-BE49-F238E27FC236}">
                <a16:creationId xmlns:a16="http://schemas.microsoft.com/office/drawing/2014/main" id="{BD866638-A927-02EF-D7A3-107A7F8A4810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3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9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B8E8952F-B7EA-4ED6-8DEB-4EB9585C726D}" type="slidenum">
              <a:rPr lang="vi-VN" smtClean="0"/>
              <a:t>‹#›</a:t>
            </a:fld>
            <a:endParaRPr lang="vi-VN"/>
          </a:p>
        </p:txBody>
      </p:sp>
    </p:spTree>
    <p:extLst>
      <p:ext uri="{BB962C8B-B14F-4D97-AF65-F5344CB8AC3E}">
        <p14:creationId xmlns:p14="http://schemas.microsoft.com/office/powerpoint/2010/main" val="363375955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685800" rtl="0" eaLnBrk="1" latinLnBrk="0" hangingPunct="1">
        <a:lnSpc>
          <a:spcPct val="90000"/>
        </a:lnSpc>
        <a:spcBef>
          <a:spcPct val="0"/>
        </a:spcBef>
        <a:buNone/>
        <a:defRPr sz="33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171450" indent="-171450" algn="l" defTabSz="685800" rtl="0" eaLnBrk="1" latinLnBrk="0" hangingPunct="1">
        <a:lnSpc>
          <a:spcPct val="90000"/>
        </a:lnSpc>
        <a:spcBef>
          <a:spcPts val="750"/>
        </a:spcBef>
        <a:buFont typeface="Arial" panose="020B0604020202020204" pitchFamily="34" charset="0"/>
        <a:buChar char="•"/>
        <a:defRPr sz="2100" kern="1200">
          <a:solidFill>
            <a:schemeClr val="tx1"/>
          </a:solidFill>
          <a:latin typeface="+mn-lt"/>
          <a:ea typeface="+mn-ea"/>
          <a:cs typeface="+mn-cs"/>
        </a:defRPr>
      </a:lvl1pPr>
      <a:lvl2pPr marL="5143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8572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500" kern="1200">
          <a:solidFill>
            <a:schemeClr val="tx1"/>
          </a:solidFill>
          <a:latin typeface="+mn-lt"/>
          <a:ea typeface="+mn-ea"/>
          <a:cs typeface="+mn-cs"/>
        </a:defRPr>
      </a:lvl3pPr>
      <a:lvl4pPr marL="12001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4pPr>
      <a:lvl5pPr marL="15430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5pPr>
      <a:lvl6pPr marL="18859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6pPr>
      <a:lvl7pPr marL="22288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7pPr>
      <a:lvl8pPr marL="25717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8pPr>
      <a:lvl9pPr marL="29146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vi-VN"/>
      </a:defPPr>
      <a:lvl1pPr marL="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1pPr>
      <a:lvl2pPr marL="3429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2pPr>
      <a:lvl3pPr marL="6858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3pPr>
      <a:lvl4pPr marL="10287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4pPr>
      <a:lvl5pPr marL="13716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5pPr>
      <a:lvl6pPr marL="17145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6pPr>
      <a:lvl7pPr marL="20574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7pPr>
      <a:lvl8pPr marL="24003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8pPr>
      <a:lvl9pPr marL="27432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ình chữ nhật 1">
            <a:extLst>
              <a:ext uri="{FF2B5EF4-FFF2-40B4-BE49-F238E27FC236}">
                <a16:creationId xmlns:a16="http://schemas.microsoft.com/office/drawing/2014/main" id="{02A0F12D-FD04-BB30-2478-09E5A0585639}"/>
              </a:ext>
            </a:extLst>
          </p:cNvPr>
          <p:cNvSpPr/>
          <p:nvPr/>
        </p:nvSpPr>
        <p:spPr>
          <a:xfrm>
            <a:off x="0" y="0"/>
            <a:ext cx="177800" cy="6858000"/>
          </a:xfrm>
          <a:prstGeom prst="rect">
            <a:avLst/>
          </a:prstGeom>
          <a:solidFill>
            <a:srgbClr val="17685D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vi-VN"/>
          </a:p>
        </p:txBody>
      </p:sp>
      <p:sp>
        <p:nvSpPr>
          <p:cNvPr id="3" name="Hình chữ nhật: Góc Tròn 2">
            <a:extLst>
              <a:ext uri="{FF2B5EF4-FFF2-40B4-BE49-F238E27FC236}">
                <a16:creationId xmlns:a16="http://schemas.microsoft.com/office/drawing/2014/main" id="{1EEF3D4F-7584-6236-4ED2-15E5552704BA}"/>
              </a:ext>
            </a:extLst>
          </p:cNvPr>
          <p:cNvSpPr/>
          <p:nvPr/>
        </p:nvSpPr>
        <p:spPr>
          <a:xfrm>
            <a:off x="609600" y="546100"/>
            <a:ext cx="2286000" cy="279400"/>
          </a:xfrm>
          <a:prstGeom prst="roundRect">
            <a:avLst/>
          </a:prstGeom>
          <a:solidFill>
            <a:srgbClr val="E7F1EC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vi-VN"/>
          </a:p>
        </p:txBody>
      </p:sp>
      <p:sp>
        <p:nvSpPr>
          <p:cNvPr id="4" name="Hộp Văn bản 3">
            <a:extLst>
              <a:ext uri="{FF2B5EF4-FFF2-40B4-BE49-F238E27FC236}">
                <a16:creationId xmlns:a16="http://schemas.microsoft.com/office/drawing/2014/main" id="{475FD155-3533-559C-37E2-058522B7E63C}"/>
              </a:ext>
            </a:extLst>
          </p:cNvPr>
          <p:cNvSpPr txBox="1"/>
          <p:nvPr/>
        </p:nvSpPr>
        <p:spPr>
          <a:xfrm>
            <a:off x="685800" y="584200"/>
            <a:ext cx="2133600" cy="216085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pPr algn="ctr">
              <a:spcAft>
                <a:spcPts val="400"/>
              </a:spcAft>
            </a:pPr>
            <a:r>
              <a:rPr lang="vi-VN" sz="900" b="1">
                <a:solidFill>
                  <a:srgbClr val="17685D"/>
                </a:solidFill>
                <a:latin typeface="Aptos" panose="020B0004020202020204" pitchFamily="34" charset="0"/>
              </a:rPr>
              <a:t>TỔNG QUAN DỰ ÁN</a:t>
            </a:r>
          </a:p>
        </p:txBody>
      </p:sp>
      <p:sp>
        <p:nvSpPr>
          <p:cNvPr id="5" name="Hộp Văn bản 4">
            <a:extLst>
              <a:ext uri="{FF2B5EF4-FFF2-40B4-BE49-F238E27FC236}">
                <a16:creationId xmlns:a16="http://schemas.microsoft.com/office/drawing/2014/main" id="{9504B525-F103-BE62-0A8C-481807B2DC5C}"/>
              </a:ext>
            </a:extLst>
          </p:cNvPr>
          <p:cNvSpPr txBox="1"/>
          <p:nvPr/>
        </p:nvSpPr>
        <p:spPr>
          <a:xfrm>
            <a:off x="609600" y="1282700"/>
            <a:ext cx="4508500" cy="216085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pPr>
              <a:spcAft>
                <a:spcPts val="400"/>
              </a:spcAft>
            </a:pPr>
            <a:r>
              <a:rPr lang="vi-VN" sz="3300" b="1">
                <a:solidFill>
                  <a:srgbClr val="153F3A"/>
                </a:solidFill>
                <a:latin typeface="Aptos" panose="020B0004020202020204" pitchFamily="34" charset="0"/>
              </a:rPr>
              <a:t>Quản lý nha khoa</a:t>
            </a:r>
          </a:p>
          <a:p>
            <a:pPr>
              <a:spcAft>
                <a:spcPts val="400"/>
              </a:spcAft>
            </a:pPr>
            <a:r>
              <a:rPr lang="vi-VN" sz="3300" b="1">
                <a:solidFill>
                  <a:srgbClr val="153F3A"/>
                </a:solidFill>
                <a:latin typeface="Aptos" panose="020B0004020202020204" pitchFamily="34" charset="0"/>
              </a:rPr>
              <a:t>liền mạch, rõ ràng</a:t>
            </a:r>
          </a:p>
        </p:txBody>
      </p:sp>
      <p:sp>
        <p:nvSpPr>
          <p:cNvPr id="6" name="Hộp Văn bản 5">
            <a:extLst>
              <a:ext uri="{FF2B5EF4-FFF2-40B4-BE49-F238E27FC236}">
                <a16:creationId xmlns:a16="http://schemas.microsoft.com/office/drawing/2014/main" id="{216F37C7-41CD-50D4-E01E-6CE2E67B9B12}"/>
              </a:ext>
            </a:extLst>
          </p:cNvPr>
          <p:cNvSpPr txBox="1"/>
          <p:nvPr/>
        </p:nvSpPr>
        <p:spPr>
          <a:xfrm>
            <a:off x="635000" y="2819400"/>
            <a:ext cx="4318000" cy="216085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pPr>
              <a:spcAft>
                <a:spcPts val="400"/>
              </a:spcAft>
            </a:pPr>
            <a:r>
              <a:rPr lang="vi-VN" sz="1700" b="1">
                <a:solidFill>
                  <a:srgbClr val="17685D"/>
                </a:solidFill>
                <a:latin typeface="Aptos" panose="020B0004020202020204" pitchFamily="34" charset="0"/>
              </a:rPr>
              <a:t>Dental Management System (DMS)</a:t>
            </a:r>
          </a:p>
        </p:txBody>
      </p:sp>
      <p:sp>
        <p:nvSpPr>
          <p:cNvPr id="7" name="Hộp Văn bản 6">
            <a:extLst>
              <a:ext uri="{FF2B5EF4-FFF2-40B4-BE49-F238E27FC236}">
                <a16:creationId xmlns:a16="http://schemas.microsoft.com/office/drawing/2014/main" id="{FD193A47-1926-DBB7-A25A-A76F353F951D}"/>
              </a:ext>
            </a:extLst>
          </p:cNvPr>
          <p:cNvSpPr txBox="1"/>
          <p:nvPr/>
        </p:nvSpPr>
        <p:spPr>
          <a:xfrm>
            <a:off x="635000" y="3416300"/>
            <a:ext cx="4191000" cy="216085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pPr>
              <a:spcAft>
                <a:spcPts val="400"/>
              </a:spcAft>
            </a:pPr>
            <a:r>
              <a:rPr lang="vi-VN" sz="1400">
                <a:solidFill>
                  <a:srgbClr val="657875"/>
                </a:solidFill>
                <a:latin typeface="Aptos" panose="020B0004020202020204" pitchFamily="34" charset="0"/>
              </a:rPr>
              <a:t>Kết nối lịch hẹn, khám bệnh, hóa đơn và tư vấn thông tin.</a:t>
            </a:r>
          </a:p>
        </p:txBody>
      </p:sp>
      <p:sp>
        <p:nvSpPr>
          <p:cNvPr id="8" name="Hình chữ nhật: Góc Tròn 7">
            <a:extLst>
              <a:ext uri="{FF2B5EF4-FFF2-40B4-BE49-F238E27FC236}">
                <a16:creationId xmlns:a16="http://schemas.microsoft.com/office/drawing/2014/main" id="{F440D66E-AF10-983D-F6AE-B140B27EF2F8}"/>
              </a:ext>
            </a:extLst>
          </p:cNvPr>
          <p:cNvSpPr/>
          <p:nvPr/>
        </p:nvSpPr>
        <p:spPr>
          <a:xfrm>
            <a:off x="609600" y="4851400"/>
            <a:ext cx="3073400" cy="279400"/>
          </a:xfrm>
          <a:prstGeom prst="roundRect">
            <a:avLst/>
          </a:prstGeom>
          <a:solidFill>
            <a:srgbClr val="FFFFFF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vi-VN"/>
          </a:p>
        </p:txBody>
      </p:sp>
      <p:sp>
        <p:nvSpPr>
          <p:cNvPr id="9" name="Hộp Văn bản 8">
            <a:extLst>
              <a:ext uri="{FF2B5EF4-FFF2-40B4-BE49-F238E27FC236}">
                <a16:creationId xmlns:a16="http://schemas.microsoft.com/office/drawing/2014/main" id="{09BBB02F-3E34-A5BB-8984-FBE65030719B}"/>
              </a:ext>
            </a:extLst>
          </p:cNvPr>
          <p:cNvSpPr txBox="1"/>
          <p:nvPr/>
        </p:nvSpPr>
        <p:spPr>
          <a:xfrm>
            <a:off x="685800" y="4889500"/>
            <a:ext cx="2921000" cy="216085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pPr algn="ctr">
              <a:spcAft>
                <a:spcPts val="400"/>
              </a:spcAft>
            </a:pPr>
            <a:r>
              <a:rPr lang="vi-VN" sz="900" b="1">
                <a:solidFill>
                  <a:srgbClr val="17685D"/>
                </a:solidFill>
                <a:latin typeface="Aptos" panose="020B0004020202020204" pitchFamily="34" charset="0"/>
              </a:rPr>
              <a:t>HIỆN TRẠNG + ĐỊNH HƯỚNG AI</a:t>
            </a:r>
          </a:p>
        </p:txBody>
      </p:sp>
      <p:sp>
        <p:nvSpPr>
          <p:cNvPr id="10" name="Hình chữ nhật: Góc Tròn 9">
            <a:extLst>
              <a:ext uri="{FF2B5EF4-FFF2-40B4-BE49-F238E27FC236}">
                <a16:creationId xmlns:a16="http://schemas.microsoft.com/office/drawing/2014/main" id="{375FFD87-4A2D-CA3E-9827-7974A41BACFE}"/>
              </a:ext>
            </a:extLst>
          </p:cNvPr>
          <p:cNvSpPr/>
          <p:nvPr/>
        </p:nvSpPr>
        <p:spPr>
          <a:xfrm>
            <a:off x="5308600" y="1270000"/>
            <a:ext cx="6273800" cy="3962400"/>
          </a:xfrm>
          <a:prstGeom prst="roundRect">
            <a:avLst/>
          </a:prstGeom>
          <a:solidFill>
            <a:srgbClr val="FFFFFF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vi-VN"/>
          </a:p>
        </p:txBody>
      </p:sp>
      <p:pic>
        <p:nvPicPr>
          <p:cNvPr id="12" name="Hình ảnh 11">
            <a:extLst>
              <a:ext uri="{FF2B5EF4-FFF2-40B4-BE49-F238E27FC236}">
                <a16:creationId xmlns:a16="http://schemas.microsoft.com/office/drawing/2014/main" id="{F073ECF5-A1BE-CB33-7518-7995A53BE5E2}"/>
              </a:ext>
            </a:extLst>
          </p:cNvPr>
          <p:cNvPicPr>
            <a:picLocks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359400" y="1320800"/>
            <a:ext cx="6172200" cy="3860800"/>
          </a:xfrm>
          <a:prstGeom prst="rect">
            <a:avLst/>
          </a:prstGeom>
        </p:spPr>
      </p:pic>
      <p:sp>
        <p:nvSpPr>
          <p:cNvPr id="13" name="Hộp Văn bản 12">
            <a:extLst>
              <a:ext uri="{FF2B5EF4-FFF2-40B4-BE49-F238E27FC236}">
                <a16:creationId xmlns:a16="http://schemas.microsoft.com/office/drawing/2014/main" id="{78BF44A5-8442-BD84-F9A9-E80FEE6B6B78}"/>
              </a:ext>
            </a:extLst>
          </p:cNvPr>
          <p:cNvSpPr txBox="1"/>
          <p:nvPr/>
        </p:nvSpPr>
        <p:spPr>
          <a:xfrm>
            <a:off x="5384800" y="5334000"/>
            <a:ext cx="6057900" cy="216085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pPr algn="r">
              <a:spcAft>
                <a:spcPts val="400"/>
              </a:spcAft>
            </a:pPr>
            <a:r>
              <a:rPr lang="vi-VN" sz="900">
                <a:solidFill>
                  <a:srgbClr val="657875"/>
                </a:solidFill>
                <a:latin typeface="Aptos" panose="020B0004020202020204" pitchFamily="34" charset="0"/>
              </a:rPr>
              <a:t>Giao diện thật · dữ liệu demo</a:t>
            </a:r>
          </a:p>
        </p:txBody>
      </p:sp>
      <p:sp>
        <p:nvSpPr>
          <p:cNvPr id="14" name="Hình chữ nhật 13">
            <a:extLst>
              <a:ext uri="{FF2B5EF4-FFF2-40B4-BE49-F238E27FC236}">
                <a16:creationId xmlns:a16="http://schemas.microsoft.com/office/drawing/2014/main" id="{A793520E-3756-C854-31A4-8F7BC80C47A6}"/>
              </a:ext>
            </a:extLst>
          </p:cNvPr>
          <p:cNvSpPr/>
          <p:nvPr/>
        </p:nvSpPr>
        <p:spPr>
          <a:xfrm>
            <a:off x="533400" y="6489700"/>
            <a:ext cx="11125200" cy="12700"/>
          </a:xfrm>
          <a:prstGeom prst="rect">
            <a:avLst/>
          </a:prstGeom>
          <a:solidFill>
            <a:srgbClr val="DCE4DE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vi-VN"/>
          </a:p>
        </p:txBody>
      </p:sp>
      <p:sp>
        <p:nvSpPr>
          <p:cNvPr id="15" name="Hộp Văn bản 14">
            <a:extLst>
              <a:ext uri="{FF2B5EF4-FFF2-40B4-BE49-F238E27FC236}">
                <a16:creationId xmlns:a16="http://schemas.microsoft.com/office/drawing/2014/main" id="{0ECA9D9C-63DB-7482-E55F-E84D4A72D680}"/>
              </a:ext>
            </a:extLst>
          </p:cNvPr>
          <p:cNvSpPr txBox="1"/>
          <p:nvPr/>
        </p:nvSpPr>
        <p:spPr>
          <a:xfrm>
            <a:off x="546100" y="6565900"/>
            <a:ext cx="8890000" cy="216085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pPr>
              <a:spcAft>
                <a:spcPts val="400"/>
              </a:spcAft>
            </a:pPr>
            <a:r>
              <a:rPr lang="vi-VN" sz="800">
                <a:solidFill>
                  <a:srgbClr val="657875"/>
                </a:solidFill>
                <a:latin typeface="Aptos" panose="020B0004020202020204" pitchFamily="34" charset="0"/>
              </a:rPr>
              <a:t>DMS  •  Dental Management System</a:t>
            </a:r>
          </a:p>
        </p:txBody>
      </p:sp>
      <p:sp>
        <p:nvSpPr>
          <p:cNvPr id="16" name="Hộp Văn bản 15">
            <a:extLst>
              <a:ext uri="{FF2B5EF4-FFF2-40B4-BE49-F238E27FC236}">
                <a16:creationId xmlns:a16="http://schemas.microsoft.com/office/drawing/2014/main" id="{1C5F7AEC-0FC6-9C45-3D11-1907780E2901}"/>
              </a:ext>
            </a:extLst>
          </p:cNvPr>
          <p:cNvSpPr txBox="1"/>
          <p:nvPr/>
        </p:nvSpPr>
        <p:spPr>
          <a:xfrm>
            <a:off x="10883900" y="6553200"/>
            <a:ext cx="774700" cy="216085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pPr algn="r">
              <a:spcAft>
                <a:spcPts val="400"/>
              </a:spcAft>
            </a:pPr>
            <a:r>
              <a:rPr lang="vi-VN" sz="900">
                <a:solidFill>
                  <a:srgbClr val="657875"/>
                </a:solidFill>
                <a:latin typeface="Aptos" panose="020B0004020202020204" pitchFamily="34" charset="0"/>
              </a:rPr>
              <a:t>01 / 12</a:t>
            </a:r>
          </a:p>
        </p:txBody>
      </p:sp>
    </p:spTree>
    <p:extLst>
      <p:ext uri="{BB962C8B-B14F-4D97-AF65-F5344CB8AC3E}">
        <p14:creationId xmlns:p14="http://schemas.microsoft.com/office/powerpoint/2010/main" val="1799690733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ộp Văn bản 1">
            <a:extLst>
              <a:ext uri="{FF2B5EF4-FFF2-40B4-BE49-F238E27FC236}">
                <a16:creationId xmlns:a16="http://schemas.microsoft.com/office/drawing/2014/main" id="{B1547369-1EBF-1CEA-855E-0D4B07E18715}"/>
              </a:ext>
            </a:extLst>
          </p:cNvPr>
          <p:cNvSpPr txBox="1"/>
          <p:nvPr/>
        </p:nvSpPr>
        <p:spPr>
          <a:xfrm>
            <a:off x="533400" y="254000"/>
            <a:ext cx="10795000" cy="216085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pPr>
              <a:spcAft>
                <a:spcPts val="400"/>
              </a:spcAft>
            </a:pPr>
            <a:r>
              <a:rPr lang="vi-VN" sz="900" b="1">
                <a:solidFill>
                  <a:srgbClr val="17685D"/>
                </a:solidFill>
                <a:latin typeface="Aptos" panose="020B0004020202020204" pitchFamily="34" charset="0"/>
              </a:rPr>
              <a:t>01 / BỐI CẢNH</a:t>
            </a:r>
          </a:p>
        </p:txBody>
      </p:sp>
      <p:sp>
        <p:nvSpPr>
          <p:cNvPr id="3" name="Hộp Văn bản 2">
            <a:extLst>
              <a:ext uri="{FF2B5EF4-FFF2-40B4-BE49-F238E27FC236}">
                <a16:creationId xmlns:a16="http://schemas.microsoft.com/office/drawing/2014/main" id="{1CD24390-1BD2-7314-5D4C-9006965F43B0}"/>
              </a:ext>
            </a:extLst>
          </p:cNvPr>
          <p:cNvSpPr txBox="1"/>
          <p:nvPr/>
        </p:nvSpPr>
        <p:spPr>
          <a:xfrm>
            <a:off x="533400" y="571500"/>
            <a:ext cx="11125200" cy="216085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pPr>
              <a:spcAft>
                <a:spcPts val="400"/>
              </a:spcAft>
            </a:pPr>
            <a:r>
              <a:rPr lang="vi-VN" sz="2500" b="1">
                <a:solidFill>
                  <a:srgbClr val="153F3A"/>
                </a:solidFill>
                <a:latin typeface="Aptos" panose="020B0004020202020204" pitchFamily="34" charset="0"/>
              </a:rPr>
              <a:t>Từ thao tác rời rạc tới quy trình phối hợp</a:t>
            </a:r>
          </a:p>
        </p:txBody>
      </p:sp>
      <p:sp>
        <p:nvSpPr>
          <p:cNvPr id="4" name="Hộp Văn bản 3">
            <a:extLst>
              <a:ext uri="{FF2B5EF4-FFF2-40B4-BE49-F238E27FC236}">
                <a16:creationId xmlns:a16="http://schemas.microsoft.com/office/drawing/2014/main" id="{D92BF2F0-A828-4747-120C-FB21B1A3A0D9}"/>
              </a:ext>
            </a:extLst>
          </p:cNvPr>
          <p:cNvSpPr txBox="1"/>
          <p:nvPr/>
        </p:nvSpPr>
        <p:spPr>
          <a:xfrm>
            <a:off x="558800" y="1155700"/>
            <a:ext cx="10985500" cy="216085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pPr>
              <a:spcAft>
                <a:spcPts val="400"/>
              </a:spcAft>
            </a:pPr>
            <a:r>
              <a:rPr lang="vi-VN" sz="1100">
                <a:solidFill>
                  <a:srgbClr val="657875"/>
                </a:solidFill>
                <a:latin typeface="Aptos" panose="020B0004020202020204" pitchFamily="34" charset="0"/>
              </a:rPr>
              <a:t>Dự án số hóa vận hành phòng khám và tạo dữ liệu nhất quán giữa các vai trò.</a:t>
            </a:r>
          </a:p>
        </p:txBody>
      </p:sp>
      <p:sp>
        <p:nvSpPr>
          <p:cNvPr id="5" name="Hình chữ nhật 4">
            <a:extLst>
              <a:ext uri="{FF2B5EF4-FFF2-40B4-BE49-F238E27FC236}">
                <a16:creationId xmlns:a16="http://schemas.microsoft.com/office/drawing/2014/main" id="{051CAE50-1074-B453-79FD-1608C94AC664}"/>
              </a:ext>
            </a:extLst>
          </p:cNvPr>
          <p:cNvSpPr/>
          <p:nvPr/>
        </p:nvSpPr>
        <p:spPr>
          <a:xfrm>
            <a:off x="533400" y="6489700"/>
            <a:ext cx="11125200" cy="12700"/>
          </a:xfrm>
          <a:prstGeom prst="rect">
            <a:avLst/>
          </a:prstGeom>
          <a:solidFill>
            <a:srgbClr val="DCE4DE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vi-VN"/>
          </a:p>
        </p:txBody>
      </p:sp>
      <p:sp>
        <p:nvSpPr>
          <p:cNvPr id="6" name="Hộp Văn bản 5">
            <a:extLst>
              <a:ext uri="{FF2B5EF4-FFF2-40B4-BE49-F238E27FC236}">
                <a16:creationId xmlns:a16="http://schemas.microsoft.com/office/drawing/2014/main" id="{0FE6EFAB-2C90-4CD7-C74E-790875742A79}"/>
              </a:ext>
            </a:extLst>
          </p:cNvPr>
          <p:cNvSpPr txBox="1"/>
          <p:nvPr/>
        </p:nvSpPr>
        <p:spPr>
          <a:xfrm>
            <a:off x="546100" y="6565900"/>
            <a:ext cx="8890000" cy="216085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pPr>
              <a:spcAft>
                <a:spcPts val="400"/>
              </a:spcAft>
            </a:pPr>
            <a:r>
              <a:rPr lang="vi-VN" sz="800">
                <a:solidFill>
                  <a:srgbClr val="657875"/>
                </a:solidFill>
                <a:latin typeface="Aptos" panose="020B0004020202020204" pitchFamily="34" charset="0"/>
              </a:rPr>
              <a:t>DMS  •  Dental Management System</a:t>
            </a:r>
          </a:p>
        </p:txBody>
      </p:sp>
      <p:sp>
        <p:nvSpPr>
          <p:cNvPr id="7" name="Hộp Văn bản 6">
            <a:extLst>
              <a:ext uri="{FF2B5EF4-FFF2-40B4-BE49-F238E27FC236}">
                <a16:creationId xmlns:a16="http://schemas.microsoft.com/office/drawing/2014/main" id="{F7400EB7-97BC-E620-16C2-F8F7BA08A057}"/>
              </a:ext>
            </a:extLst>
          </p:cNvPr>
          <p:cNvSpPr txBox="1"/>
          <p:nvPr/>
        </p:nvSpPr>
        <p:spPr>
          <a:xfrm>
            <a:off x="10883900" y="6553200"/>
            <a:ext cx="774700" cy="216085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pPr algn="r">
              <a:spcAft>
                <a:spcPts val="400"/>
              </a:spcAft>
            </a:pPr>
            <a:r>
              <a:rPr lang="vi-VN" sz="900">
                <a:solidFill>
                  <a:srgbClr val="657875"/>
                </a:solidFill>
                <a:latin typeface="Aptos" panose="020B0004020202020204" pitchFamily="34" charset="0"/>
              </a:rPr>
              <a:t>02 / 12</a:t>
            </a:r>
          </a:p>
        </p:txBody>
      </p:sp>
      <p:sp>
        <p:nvSpPr>
          <p:cNvPr id="8" name="Hình chữ nhật: Góc Tròn 7">
            <a:extLst>
              <a:ext uri="{FF2B5EF4-FFF2-40B4-BE49-F238E27FC236}">
                <a16:creationId xmlns:a16="http://schemas.microsoft.com/office/drawing/2014/main" id="{E6C660E7-D5DC-94D9-65BB-004D4E12853B}"/>
              </a:ext>
            </a:extLst>
          </p:cNvPr>
          <p:cNvSpPr/>
          <p:nvPr/>
        </p:nvSpPr>
        <p:spPr>
          <a:xfrm>
            <a:off x="584200" y="1917700"/>
            <a:ext cx="3429000" cy="1422400"/>
          </a:xfrm>
          <a:prstGeom prst="roundRect">
            <a:avLst/>
          </a:prstGeom>
          <a:solidFill>
            <a:srgbClr val="FFFFFF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vi-VN"/>
          </a:p>
        </p:txBody>
      </p:sp>
      <p:sp>
        <p:nvSpPr>
          <p:cNvPr id="9" name="Hình chữ nhật 8">
            <a:extLst>
              <a:ext uri="{FF2B5EF4-FFF2-40B4-BE49-F238E27FC236}">
                <a16:creationId xmlns:a16="http://schemas.microsoft.com/office/drawing/2014/main" id="{ABB9E672-AB46-B8F4-5748-B543F10C99DC}"/>
              </a:ext>
            </a:extLst>
          </p:cNvPr>
          <p:cNvSpPr/>
          <p:nvPr/>
        </p:nvSpPr>
        <p:spPr>
          <a:xfrm>
            <a:off x="584200" y="1917700"/>
            <a:ext cx="63500" cy="1422400"/>
          </a:xfrm>
          <a:prstGeom prst="rect">
            <a:avLst/>
          </a:prstGeom>
          <a:solidFill>
            <a:srgbClr val="CF755F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vi-VN"/>
          </a:p>
        </p:txBody>
      </p:sp>
      <p:sp>
        <p:nvSpPr>
          <p:cNvPr id="10" name="Hộp Văn bản 9">
            <a:extLst>
              <a:ext uri="{FF2B5EF4-FFF2-40B4-BE49-F238E27FC236}">
                <a16:creationId xmlns:a16="http://schemas.microsoft.com/office/drawing/2014/main" id="{F67A706F-E459-5939-B31A-729AC7E21D2F}"/>
              </a:ext>
            </a:extLst>
          </p:cNvPr>
          <p:cNvSpPr txBox="1"/>
          <p:nvPr/>
        </p:nvSpPr>
        <p:spPr>
          <a:xfrm>
            <a:off x="774700" y="2057400"/>
            <a:ext cx="3086100" cy="216085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pPr>
              <a:spcAft>
                <a:spcPts val="400"/>
              </a:spcAft>
            </a:pPr>
            <a:r>
              <a:rPr lang="vi-VN" sz="1400" b="1">
                <a:solidFill>
                  <a:srgbClr val="153F3A"/>
                </a:solidFill>
                <a:latin typeface="Aptos" panose="020B0004020202020204" pitchFamily="34" charset="0"/>
              </a:rPr>
              <a:t>Thách thức</a:t>
            </a:r>
          </a:p>
        </p:txBody>
      </p:sp>
      <p:sp>
        <p:nvSpPr>
          <p:cNvPr id="11" name="Hộp Văn bản 10">
            <a:extLst>
              <a:ext uri="{FF2B5EF4-FFF2-40B4-BE49-F238E27FC236}">
                <a16:creationId xmlns:a16="http://schemas.microsoft.com/office/drawing/2014/main" id="{11FDDB2E-0B1B-836F-6D72-B5C5E8CE4D0D}"/>
              </a:ext>
            </a:extLst>
          </p:cNvPr>
          <p:cNvSpPr txBox="1"/>
          <p:nvPr/>
        </p:nvSpPr>
        <p:spPr>
          <a:xfrm>
            <a:off x="774700" y="2451100"/>
            <a:ext cx="3086100" cy="216085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pPr>
              <a:spcAft>
                <a:spcPts val="400"/>
              </a:spcAft>
            </a:pPr>
            <a:r>
              <a:rPr lang="vi-VN" sz="1100">
                <a:solidFill>
                  <a:srgbClr val="657875"/>
                </a:solidFill>
                <a:latin typeface="Aptos" panose="020B0004020202020204" pitchFamily="34" charset="0"/>
              </a:rPr>
              <a:t>Lịch, thông tin khám và thu phí cần phối hợp giữa lễ tân, bác sĩ và quản trị.</a:t>
            </a:r>
          </a:p>
        </p:txBody>
      </p:sp>
      <p:sp>
        <p:nvSpPr>
          <p:cNvPr id="12" name="Hình chữ nhật: Góc Tròn 11">
            <a:extLst>
              <a:ext uri="{FF2B5EF4-FFF2-40B4-BE49-F238E27FC236}">
                <a16:creationId xmlns:a16="http://schemas.microsoft.com/office/drawing/2014/main" id="{210F9F3A-DF25-BD14-70EC-9112B6DE22E6}"/>
              </a:ext>
            </a:extLst>
          </p:cNvPr>
          <p:cNvSpPr/>
          <p:nvPr/>
        </p:nvSpPr>
        <p:spPr>
          <a:xfrm>
            <a:off x="4381500" y="1917700"/>
            <a:ext cx="3429000" cy="1422400"/>
          </a:xfrm>
          <a:prstGeom prst="roundRect">
            <a:avLst/>
          </a:prstGeom>
          <a:solidFill>
            <a:srgbClr val="FFFFFF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vi-VN"/>
          </a:p>
        </p:txBody>
      </p:sp>
      <p:sp>
        <p:nvSpPr>
          <p:cNvPr id="13" name="Hình chữ nhật 12">
            <a:extLst>
              <a:ext uri="{FF2B5EF4-FFF2-40B4-BE49-F238E27FC236}">
                <a16:creationId xmlns:a16="http://schemas.microsoft.com/office/drawing/2014/main" id="{772B6C32-BB1C-686A-F9E4-4C3970D5C8EA}"/>
              </a:ext>
            </a:extLst>
          </p:cNvPr>
          <p:cNvSpPr/>
          <p:nvPr/>
        </p:nvSpPr>
        <p:spPr>
          <a:xfrm>
            <a:off x="4381500" y="1917700"/>
            <a:ext cx="63500" cy="1422400"/>
          </a:xfrm>
          <a:prstGeom prst="rect">
            <a:avLst/>
          </a:prstGeom>
          <a:solidFill>
            <a:srgbClr val="17685D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vi-VN"/>
          </a:p>
        </p:txBody>
      </p:sp>
      <p:sp>
        <p:nvSpPr>
          <p:cNvPr id="14" name="Hộp Văn bản 13">
            <a:extLst>
              <a:ext uri="{FF2B5EF4-FFF2-40B4-BE49-F238E27FC236}">
                <a16:creationId xmlns:a16="http://schemas.microsoft.com/office/drawing/2014/main" id="{F33015AE-5EE7-0E8D-60BE-F44F563A73C0}"/>
              </a:ext>
            </a:extLst>
          </p:cNvPr>
          <p:cNvSpPr txBox="1"/>
          <p:nvPr/>
        </p:nvSpPr>
        <p:spPr>
          <a:xfrm>
            <a:off x="4572000" y="2057400"/>
            <a:ext cx="3086100" cy="216085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pPr>
              <a:spcAft>
                <a:spcPts val="400"/>
              </a:spcAft>
            </a:pPr>
            <a:r>
              <a:rPr lang="vi-VN" sz="1400" b="1">
                <a:solidFill>
                  <a:srgbClr val="153F3A"/>
                </a:solidFill>
                <a:latin typeface="Aptos" panose="020B0004020202020204" pitchFamily="34" charset="0"/>
              </a:rPr>
              <a:t>Giải pháp</a:t>
            </a:r>
          </a:p>
        </p:txBody>
      </p:sp>
      <p:sp>
        <p:nvSpPr>
          <p:cNvPr id="15" name="Hộp Văn bản 14">
            <a:extLst>
              <a:ext uri="{FF2B5EF4-FFF2-40B4-BE49-F238E27FC236}">
                <a16:creationId xmlns:a16="http://schemas.microsoft.com/office/drawing/2014/main" id="{7D26D15F-D0D5-7711-CA58-B5A51BF1A958}"/>
              </a:ext>
            </a:extLst>
          </p:cNvPr>
          <p:cNvSpPr txBox="1"/>
          <p:nvPr/>
        </p:nvSpPr>
        <p:spPr>
          <a:xfrm>
            <a:off x="4572000" y="2451100"/>
            <a:ext cx="3086100" cy="216085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pPr>
              <a:spcAft>
                <a:spcPts val="400"/>
              </a:spcAft>
            </a:pPr>
            <a:r>
              <a:rPr lang="vi-VN" sz="1100">
                <a:solidFill>
                  <a:srgbClr val="657875"/>
                </a:solidFill>
                <a:latin typeface="Aptos" panose="020B0004020202020204" pitchFamily="34" charset="0"/>
              </a:rPr>
              <a:t>Quản lý bệnh nhân, lịch, EMR, dịch vụ, hóa đơn, thanh toán và thống kê.</a:t>
            </a:r>
          </a:p>
        </p:txBody>
      </p:sp>
      <p:sp>
        <p:nvSpPr>
          <p:cNvPr id="16" name="Hình chữ nhật: Góc Tròn 15">
            <a:extLst>
              <a:ext uri="{FF2B5EF4-FFF2-40B4-BE49-F238E27FC236}">
                <a16:creationId xmlns:a16="http://schemas.microsoft.com/office/drawing/2014/main" id="{A46B71F6-5115-C9F1-4F89-B4FD20F831F6}"/>
              </a:ext>
            </a:extLst>
          </p:cNvPr>
          <p:cNvSpPr/>
          <p:nvPr/>
        </p:nvSpPr>
        <p:spPr>
          <a:xfrm>
            <a:off x="8178800" y="1917700"/>
            <a:ext cx="3429000" cy="1422400"/>
          </a:xfrm>
          <a:prstGeom prst="roundRect">
            <a:avLst/>
          </a:prstGeom>
          <a:solidFill>
            <a:srgbClr val="FFFFFF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vi-VN"/>
          </a:p>
        </p:txBody>
      </p:sp>
      <p:sp>
        <p:nvSpPr>
          <p:cNvPr id="17" name="Hình chữ nhật 16">
            <a:extLst>
              <a:ext uri="{FF2B5EF4-FFF2-40B4-BE49-F238E27FC236}">
                <a16:creationId xmlns:a16="http://schemas.microsoft.com/office/drawing/2014/main" id="{4A9784AE-467A-3CB1-F644-DE07899DF860}"/>
              </a:ext>
            </a:extLst>
          </p:cNvPr>
          <p:cNvSpPr/>
          <p:nvPr/>
        </p:nvSpPr>
        <p:spPr>
          <a:xfrm>
            <a:off x="8178800" y="1917700"/>
            <a:ext cx="63500" cy="1422400"/>
          </a:xfrm>
          <a:prstGeom prst="rect">
            <a:avLst/>
          </a:prstGeom>
          <a:solidFill>
            <a:srgbClr val="D4A64A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vi-VN"/>
          </a:p>
        </p:txBody>
      </p:sp>
      <p:sp>
        <p:nvSpPr>
          <p:cNvPr id="18" name="Hộp Văn bản 17">
            <a:extLst>
              <a:ext uri="{FF2B5EF4-FFF2-40B4-BE49-F238E27FC236}">
                <a16:creationId xmlns:a16="http://schemas.microsoft.com/office/drawing/2014/main" id="{DC4850EC-0101-16B1-4F08-E2CCB1553BC4}"/>
              </a:ext>
            </a:extLst>
          </p:cNvPr>
          <p:cNvSpPr txBox="1"/>
          <p:nvPr/>
        </p:nvSpPr>
        <p:spPr>
          <a:xfrm>
            <a:off x="8369300" y="2057400"/>
            <a:ext cx="3086100" cy="216085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pPr>
              <a:spcAft>
                <a:spcPts val="400"/>
              </a:spcAft>
            </a:pPr>
            <a:r>
              <a:rPr lang="vi-VN" sz="1400" b="1">
                <a:solidFill>
                  <a:srgbClr val="153F3A"/>
                </a:solidFill>
                <a:latin typeface="Aptos" panose="020B0004020202020204" pitchFamily="34" charset="0"/>
              </a:rPr>
              <a:t>Người dùng</a:t>
            </a:r>
          </a:p>
        </p:txBody>
      </p:sp>
      <p:sp>
        <p:nvSpPr>
          <p:cNvPr id="19" name="Hộp Văn bản 18">
            <a:extLst>
              <a:ext uri="{FF2B5EF4-FFF2-40B4-BE49-F238E27FC236}">
                <a16:creationId xmlns:a16="http://schemas.microsoft.com/office/drawing/2014/main" id="{909B1889-91A0-CB2F-873A-A67886BCFD68}"/>
              </a:ext>
            </a:extLst>
          </p:cNvPr>
          <p:cNvSpPr txBox="1"/>
          <p:nvPr/>
        </p:nvSpPr>
        <p:spPr>
          <a:xfrm>
            <a:off x="8369300" y="2451100"/>
            <a:ext cx="3086100" cy="216085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pPr>
              <a:spcAft>
                <a:spcPts val="400"/>
              </a:spcAft>
            </a:pPr>
            <a:r>
              <a:rPr lang="vi-VN" sz="1100">
                <a:solidFill>
                  <a:srgbClr val="657875"/>
                </a:solidFill>
                <a:latin typeface="Aptos" panose="020B0004020202020204" pitchFamily="34" charset="0"/>
              </a:rPr>
              <a:t>Quản trị, lễ tân và bác sĩ; quyền thao tác khác nhau theo vai trò.</a:t>
            </a:r>
          </a:p>
        </p:txBody>
      </p:sp>
      <p:sp>
        <p:nvSpPr>
          <p:cNvPr id="20" name="Hộp Văn bản 19">
            <a:extLst>
              <a:ext uri="{FF2B5EF4-FFF2-40B4-BE49-F238E27FC236}">
                <a16:creationId xmlns:a16="http://schemas.microsoft.com/office/drawing/2014/main" id="{BB387CA1-0673-7487-917C-9AD3CB25325D}"/>
              </a:ext>
            </a:extLst>
          </p:cNvPr>
          <p:cNvSpPr txBox="1"/>
          <p:nvPr/>
        </p:nvSpPr>
        <p:spPr>
          <a:xfrm>
            <a:off x="647700" y="3733800"/>
            <a:ext cx="5143500" cy="216085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pPr>
              <a:spcAft>
                <a:spcPts val="400"/>
              </a:spcAft>
            </a:pPr>
            <a:r>
              <a:rPr lang="vi-VN" sz="1000" b="1">
                <a:solidFill>
                  <a:srgbClr val="17685D"/>
                </a:solidFill>
                <a:latin typeface="Aptos" panose="020B0004020202020204" pitchFamily="34" charset="0"/>
              </a:rPr>
              <a:t>PHẠM VI CHỨC NĂNG</a:t>
            </a:r>
          </a:p>
        </p:txBody>
      </p:sp>
      <p:sp>
        <p:nvSpPr>
          <p:cNvPr id="21" name="Hộp Văn bản 20">
            <a:extLst>
              <a:ext uri="{FF2B5EF4-FFF2-40B4-BE49-F238E27FC236}">
                <a16:creationId xmlns:a16="http://schemas.microsoft.com/office/drawing/2014/main" id="{694FFA7C-8B3A-DDA3-F754-8083260BD951}"/>
              </a:ext>
            </a:extLst>
          </p:cNvPr>
          <p:cNvSpPr txBox="1"/>
          <p:nvPr/>
        </p:nvSpPr>
        <p:spPr>
          <a:xfrm>
            <a:off x="673100" y="4165600"/>
            <a:ext cx="4953000" cy="216085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pPr>
              <a:spcAft>
                <a:spcPts val="400"/>
              </a:spcAft>
            </a:pPr>
            <a:r>
              <a:rPr lang="vi-VN" sz="1400">
                <a:solidFill>
                  <a:srgbClr val="153F3A"/>
                </a:solidFill>
                <a:latin typeface="Aptos" panose="020B0004020202020204" pitchFamily="34" charset="0"/>
              </a:rPr>
              <a:t>• Bệnh nhân và lịch hẹn</a:t>
            </a:r>
          </a:p>
          <a:p>
            <a:pPr>
              <a:spcAft>
                <a:spcPts val="400"/>
              </a:spcAft>
            </a:pPr>
            <a:r>
              <a:rPr lang="vi-VN" sz="1400">
                <a:solidFill>
                  <a:srgbClr val="153F3A"/>
                </a:solidFill>
                <a:latin typeface="Aptos" panose="020B0004020202020204" pitchFamily="34" charset="0"/>
              </a:rPr>
              <a:t>• EMR và dịch vụ chỉ định</a:t>
            </a:r>
          </a:p>
          <a:p>
            <a:pPr>
              <a:spcAft>
                <a:spcPts val="400"/>
              </a:spcAft>
            </a:pPr>
            <a:r>
              <a:rPr lang="vi-VN" sz="1400">
                <a:solidFill>
                  <a:srgbClr val="153F3A"/>
                </a:solidFill>
                <a:latin typeface="Aptos" panose="020B0004020202020204" pitchFamily="34" charset="0"/>
              </a:rPr>
              <a:t>• Hóa đơn, tiền mặt, QR đối soát</a:t>
            </a:r>
          </a:p>
          <a:p>
            <a:pPr>
              <a:spcAft>
                <a:spcPts val="400"/>
              </a:spcAft>
            </a:pPr>
            <a:r>
              <a:rPr lang="vi-VN" sz="1400">
                <a:solidFill>
                  <a:srgbClr val="153F3A"/>
                </a:solidFill>
                <a:latin typeface="Aptos" panose="020B0004020202020204" pitchFamily="34" charset="0"/>
              </a:rPr>
              <a:t>• Chatbot tra giá / khung giờ</a:t>
            </a:r>
          </a:p>
          <a:p>
            <a:pPr>
              <a:spcAft>
                <a:spcPts val="400"/>
              </a:spcAft>
            </a:pPr>
            <a:r>
              <a:rPr lang="vi-VN" sz="1400">
                <a:solidFill>
                  <a:srgbClr val="153F3A"/>
                </a:solidFill>
                <a:latin typeface="Aptos" panose="020B0004020202020204" pitchFamily="34" charset="0"/>
              </a:rPr>
              <a:t>• Dashboard doanh thu / lượt khám</a:t>
            </a:r>
          </a:p>
        </p:txBody>
      </p:sp>
      <p:sp>
        <p:nvSpPr>
          <p:cNvPr id="22" name="Hình chữ nhật: Góc Tròn 21">
            <a:extLst>
              <a:ext uri="{FF2B5EF4-FFF2-40B4-BE49-F238E27FC236}">
                <a16:creationId xmlns:a16="http://schemas.microsoft.com/office/drawing/2014/main" id="{01CBD19F-C8CB-9533-0D05-EB6082D07B4A}"/>
              </a:ext>
            </a:extLst>
          </p:cNvPr>
          <p:cNvSpPr/>
          <p:nvPr/>
        </p:nvSpPr>
        <p:spPr>
          <a:xfrm>
            <a:off x="6223000" y="3848100"/>
            <a:ext cx="5359400" cy="1841500"/>
          </a:xfrm>
          <a:prstGeom prst="roundRect">
            <a:avLst/>
          </a:prstGeom>
          <a:solidFill>
            <a:srgbClr val="E7F1EC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vi-VN"/>
          </a:p>
        </p:txBody>
      </p:sp>
      <p:sp>
        <p:nvSpPr>
          <p:cNvPr id="23" name="Hộp Văn bản 22">
            <a:extLst>
              <a:ext uri="{FF2B5EF4-FFF2-40B4-BE49-F238E27FC236}">
                <a16:creationId xmlns:a16="http://schemas.microsoft.com/office/drawing/2014/main" id="{6A75187A-9790-64F6-BCB1-66B2C2961E7D}"/>
              </a:ext>
            </a:extLst>
          </p:cNvPr>
          <p:cNvSpPr txBox="1"/>
          <p:nvPr/>
        </p:nvSpPr>
        <p:spPr>
          <a:xfrm>
            <a:off x="6515100" y="4102100"/>
            <a:ext cx="4749800" cy="216085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pPr>
              <a:spcAft>
                <a:spcPts val="400"/>
              </a:spcAft>
            </a:pPr>
            <a:r>
              <a:rPr lang="vi-VN" sz="1500" b="1">
                <a:solidFill>
                  <a:srgbClr val="153F3A"/>
                </a:solidFill>
                <a:latin typeface="Aptos" panose="020B0004020202020204" pitchFamily="34" charset="0"/>
              </a:rPr>
              <a:t>Hiện trạng và đề xuất</a:t>
            </a:r>
          </a:p>
        </p:txBody>
      </p:sp>
      <p:sp>
        <p:nvSpPr>
          <p:cNvPr id="24" name="Hộp Văn bản 23">
            <a:extLst>
              <a:ext uri="{FF2B5EF4-FFF2-40B4-BE49-F238E27FC236}">
                <a16:creationId xmlns:a16="http://schemas.microsoft.com/office/drawing/2014/main" id="{88E7AA0A-83B3-A989-DB51-AFC96E2228B3}"/>
              </a:ext>
            </a:extLst>
          </p:cNvPr>
          <p:cNvSpPr txBox="1"/>
          <p:nvPr/>
        </p:nvSpPr>
        <p:spPr>
          <a:xfrm>
            <a:off x="6515100" y="4533900"/>
            <a:ext cx="4699000" cy="216085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pPr>
              <a:spcAft>
                <a:spcPts val="400"/>
              </a:spcAft>
            </a:pPr>
            <a:r>
              <a:rPr lang="vi-VN" sz="1300">
                <a:solidFill>
                  <a:srgbClr val="657875"/>
                </a:solidFill>
                <a:latin typeface="Aptos" panose="020B0004020202020204" pitchFamily="34" charset="0"/>
              </a:rPr>
              <a:t>Chatbot hiện tra cứu theo quy tắc và dữ liệu hệ thống. Tóm tắt EMR, nhắc tái khám bằng AI chưa được triển khai.</a:t>
            </a:r>
          </a:p>
        </p:txBody>
      </p:sp>
    </p:spTree>
    <p:extLst>
      <p:ext uri="{BB962C8B-B14F-4D97-AF65-F5344CB8AC3E}">
        <p14:creationId xmlns:p14="http://schemas.microsoft.com/office/powerpoint/2010/main" val="2258322343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ộp Văn bản 1">
            <a:extLst>
              <a:ext uri="{FF2B5EF4-FFF2-40B4-BE49-F238E27FC236}">
                <a16:creationId xmlns:a16="http://schemas.microsoft.com/office/drawing/2014/main" id="{2C2093C4-702F-26B9-A477-72EC6BDCABE1}"/>
              </a:ext>
            </a:extLst>
          </p:cNvPr>
          <p:cNvSpPr txBox="1"/>
          <p:nvPr/>
        </p:nvSpPr>
        <p:spPr>
          <a:xfrm>
            <a:off x="533400" y="254000"/>
            <a:ext cx="10795000" cy="216085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pPr>
              <a:spcAft>
                <a:spcPts val="400"/>
              </a:spcAft>
            </a:pPr>
            <a:r>
              <a:rPr lang="vi-VN" sz="900" b="1">
                <a:solidFill>
                  <a:srgbClr val="17685D"/>
                </a:solidFill>
                <a:latin typeface="Aptos" panose="020B0004020202020204" pitchFamily="34" charset="0"/>
              </a:rPr>
              <a:t>02 / QUY TRÌNH</a:t>
            </a:r>
          </a:p>
        </p:txBody>
      </p:sp>
      <p:sp>
        <p:nvSpPr>
          <p:cNvPr id="3" name="Hộp Văn bản 2">
            <a:extLst>
              <a:ext uri="{FF2B5EF4-FFF2-40B4-BE49-F238E27FC236}">
                <a16:creationId xmlns:a16="http://schemas.microsoft.com/office/drawing/2014/main" id="{7211FEC7-98E1-F724-D9A4-774E2D87CF6B}"/>
              </a:ext>
            </a:extLst>
          </p:cNvPr>
          <p:cNvSpPr txBox="1"/>
          <p:nvPr/>
        </p:nvSpPr>
        <p:spPr>
          <a:xfrm>
            <a:off x="533400" y="571500"/>
            <a:ext cx="11125200" cy="216085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pPr>
              <a:spcAft>
                <a:spcPts val="400"/>
              </a:spcAft>
            </a:pPr>
            <a:r>
              <a:rPr lang="vi-VN" sz="2500" b="1">
                <a:solidFill>
                  <a:srgbClr val="153F3A"/>
                </a:solidFill>
                <a:latin typeface="Aptos" panose="020B0004020202020204" pitchFamily="34" charset="0"/>
              </a:rPr>
              <a:t>Một hành trình dữ liệu, giá trị ở mỗi bước</a:t>
            </a:r>
          </a:p>
        </p:txBody>
      </p:sp>
      <p:sp>
        <p:nvSpPr>
          <p:cNvPr id="4" name="Hộp Văn bản 3">
            <a:extLst>
              <a:ext uri="{FF2B5EF4-FFF2-40B4-BE49-F238E27FC236}">
                <a16:creationId xmlns:a16="http://schemas.microsoft.com/office/drawing/2014/main" id="{30EE8ACB-6D61-C9D2-7322-5CA4921E0AF8}"/>
              </a:ext>
            </a:extLst>
          </p:cNvPr>
          <p:cNvSpPr txBox="1"/>
          <p:nvPr/>
        </p:nvSpPr>
        <p:spPr>
          <a:xfrm>
            <a:off x="558800" y="1155700"/>
            <a:ext cx="10985500" cy="216085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pPr>
              <a:spcAft>
                <a:spcPts val="400"/>
              </a:spcAft>
            </a:pPr>
            <a:r>
              <a:rPr lang="vi-VN" sz="1100">
                <a:solidFill>
                  <a:srgbClr val="657875"/>
                </a:solidFill>
                <a:latin typeface="Aptos" panose="020B0004020202020204" pitchFamily="34" charset="0"/>
              </a:rPr>
              <a:t>Các bước nối từ tiếp nhận tới thống kê, theo đúng quyền được cấp.</a:t>
            </a:r>
          </a:p>
        </p:txBody>
      </p:sp>
      <p:sp>
        <p:nvSpPr>
          <p:cNvPr id="5" name="Hình chữ nhật 4">
            <a:extLst>
              <a:ext uri="{FF2B5EF4-FFF2-40B4-BE49-F238E27FC236}">
                <a16:creationId xmlns:a16="http://schemas.microsoft.com/office/drawing/2014/main" id="{AC2C4B93-B26E-5339-9A61-B7B1415AB336}"/>
              </a:ext>
            </a:extLst>
          </p:cNvPr>
          <p:cNvSpPr/>
          <p:nvPr/>
        </p:nvSpPr>
        <p:spPr>
          <a:xfrm>
            <a:off x="533400" y="6489700"/>
            <a:ext cx="11125200" cy="12700"/>
          </a:xfrm>
          <a:prstGeom prst="rect">
            <a:avLst/>
          </a:prstGeom>
          <a:solidFill>
            <a:srgbClr val="DCE4DE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vi-VN"/>
          </a:p>
        </p:txBody>
      </p:sp>
      <p:sp>
        <p:nvSpPr>
          <p:cNvPr id="6" name="Hộp Văn bản 5">
            <a:extLst>
              <a:ext uri="{FF2B5EF4-FFF2-40B4-BE49-F238E27FC236}">
                <a16:creationId xmlns:a16="http://schemas.microsoft.com/office/drawing/2014/main" id="{5384A64A-013F-7B17-F443-C8C15FFD11A1}"/>
              </a:ext>
            </a:extLst>
          </p:cNvPr>
          <p:cNvSpPr txBox="1"/>
          <p:nvPr/>
        </p:nvSpPr>
        <p:spPr>
          <a:xfrm>
            <a:off x="546100" y="6565900"/>
            <a:ext cx="8890000" cy="216085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pPr>
              <a:spcAft>
                <a:spcPts val="400"/>
              </a:spcAft>
            </a:pPr>
            <a:r>
              <a:rPr lang="vi-VN" sz="800">
                <a:solidFill>
                  <a:srgbClr val="657875"/>
                </a:solidFill>
                <a:latin typeface="Aptos" panose="020B0004020202020204" pitchFamily="34" charset="0"/>
              </a:rPr>
              <a:t>DMS  •  Dental Management System</a:t>
            </a:r>
          </a:p>
        </p:txBody>
      </p:sp>
      <p:sp>
        <p:nvSpPr>
          <p:cNvPr id="7" name="Hộp Văn bản 6">
            <a:extLst>
              <a:ext uri="{FF2B5EF4-FFF2-40B4-BE49-F238E27FC236}">
                <a16:creationId xmlns:a16="http://schemas.microsoft.com/office/drawing/2014/main" id="{E005BD14-3646-8C63-3C83-C90A48A9BE7D}"/>
              </a:ext>
            </a:extLst>
          </p:cNvPr>
          <p:cNvSpPr txBox="1"/>
          <p:nvPr/>
        </p:nvSpPr>
        <p:spPr>
          <a:xfrm>
            <a:off x="10883900" y="6553200"/>
            <a:ext cx="774700" cy="216085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pPr algn="r">
              <a:spcAft>
                <a:spcPts val="400"/>
              </a:spcAft>
            </a:pPr>
            <a:r>
              <a:rPr lang="vi-VN" sz="900">
                <a:solidFill>
                  <a:srgbClr val="657875"/>
                </a:solidFill>
                <a:latin typeface="Aptos" panose="020B0004020202020204" pitchFamily="34" charset="0"/>
              </a:rPr>
              <a:t>03 / 12</a:t>
            </a:r>
          </a:p>
        </p:txBody>
      </p:sp>
      <p:sp>
        <p:nvSpPr>
          <p:cNvPr id="8" name="Hình chữ nhật: Góc Tròn 7">
            <a:extLst>
              <a:ext uri="{FF2B5EF4-FFF2-40B4-BE49-F238E27FC236}">
                <a16:creationId xmlns:a16="http://schemas.microsoft.com/office/drawing/2014/main" id="{3ABF00D4-1405-AB3C-4DD8-F480CBB48531}"/>
              </a:ext>
            </a:extLst>
          </p:cNvPr>
          <p:cNvSpPr/>
          <p:nvPr/>
        </p:nvSpPr>
        <p:spPr>
          <a:xfrm>
            <a:off x="660400" y="2247900"/>
            <a:ext cx="2159000" cy="2209800"/>
          </a:xfrm>
          <a:prstGeom prst="roundRect">
            <a:avLst/>
          </a:prstGeom>
          <a:solidFill>
            <a:srgbClr val="FFFFFF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vi-VN"/>
          </a:p>
        </p:txBody>
      </p:sp>
      <p:sp>
        <p:nvSpPr>
          <p:cNvPr id="9" name="Hình chữ nhật: Góc Tròn 8">
            <a:extLst>
              <a:ext uri="{FF2B5EF4-FFF2-40B4-BE49-F238E27FC236}">
                <a16:creationId xmlns:a16="http://schemas.microsoft.com/office/drawing/2014/main" id="{A3BBE452-DAAD-9533-A002-DA2C51665873}"/>
              </a:ext>
            </a:extLst>
          </p:cNvPr>
          <p:cNvSpPr/>
          <p:nvPr/>
        </p:nvSpPr>
        <p:spPr>
          <a:xfrm>
            <a:off x="863600" y="2463800"/>
            <a:ext cx="1727200" cy="279400"/>
          </a:xfrm>
          <a:prstGeom prst="roundRect">
            <a:avLst/>
          </a:prstGeom>
          <a:solidFill>
            <a:srgbClr val="E7F1EC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vi-VN"/>
          </a:p>
        </p:txBody>
      </p:sp>
      <p:sp>
        <p:nvSpPr>
          <p:cNvPr id="10" name="Hộp Văn bản 9">
            <a:extLst>
              <a:ext uri="{FF2B5EF4-FFF2-40B4-BE49-F238E27FC236}">
                <a16:creationId xmlns:a16="http://schemas.microsoft.com/office/drawing/2014/main" id="{DA0F6F28-0C28-4594-67F3-34E98D340525}"/>
              </a:ext>
            </a:extLst>
          </p:cNvPr>
          <p:cNvSpPr txBox="1"/>
          <p:nvPr/>
        </p:nvSpPr>
        <p:spPr>
          <a:xfrm>
            <a:off x="939800" y="2501900"/>
            <a:ext cx="1574800" cy="216085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pPr algn="ctr">
              <a:spcAft>
                <a:spcPts val="400"/>
              </a:spcAft>
            </a:pPr>
            <a:r>
              <a:rPr lang="vi-VN" sz="900" b="1">
                <a:solidFill>
                  <a:srgbClr val="17685D"/>
                </a:solidFill>
                <a:latin typeface="Aptos" panose="020B0004020202020204" pitchFamily="34" charset="0"/>
              </a:rPr>
              <a:t>LỄ TÂN</a:t>
            </a:r>
          </a:p>
        </p:txBody>
      </p:sp>
      <p:sp>
        <p:nvSpPr>
          <p:cNvPr id="11" name="Hộp Văn bản 10">
            <a:extLst>
              <a:ext uri="{FF2B5EF4-FFF2-40B4-BE49-F238E27FC236}">
                <a16:creationId xmlns:a16="http://schemas.microsoft.com/office/drawing/2014/main" id="{FE82ABC5-0292-13A9-37FF-D48F09331158}"/>
              </a:ext>
            </a:extLst>
          </p:cNvPr>
          <p:cNvSpPr txBox="1"/>
          <p:nvPr/>
        </p:nvSpPr>
        <p:spPr>
          <a:xfrm>
            <a:off x="863600" y="3009900"/>
            <a:ext cx="1765300" cy="216085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pPr>
              <a:spcAft>
                <a:spcPts val="400"/>
              </a:spcAft>
            </a:pPr>
            <a:r>
              <a:rPr lang="vi-VN" sz="1200">
                <a:solidFill>
                  <a:srgbClr val="153F3A"/>
                </a:solidFill>
                <a:latin typeface="Aptos" panose="020B0004020202020204" pitchFamily="34" charset="0"/>
              </a:rPr>
              <a:t>Tra hồ sơ, xem ca làm, đặt lịch hẹn.</a:t>
            </a:r>
          </a:p>
        </p:txBody>
      </p:sp>
      <p:sp>
        <p:nvSpPr>
          <p:cNvPr id="12" name="Hình chữ nhật 11">
            <a:extLst>
              <a:ext uri="{FF2B5EF4-FFF2-40B4-BE49-F238E27FC236}">
                <a16:creationId xmlns:a16="http://schemas.microsoft.com/office/drawing/2014/main" id="{2B52AD1A-EB7C-13C9-3BA1-C949BE09CDAA}"/>
              </a:ext>
            </a:extLst>
          </p:cNvPr>
          <p:cNvSpPr/>
          <p:nvPr/>
        </p:nvSpPr>
        <p:spPr>
          <a:xfrm>
            <a:off x="2857500" y="3276600"/>
            <a:ext cx="685800" cy="38100"/>
          </a:xfrm>
          <a:prstGeom prst="rect">
            <a:avLst/>
          </a:prstGeom>
          <a:solidFill>
            <a:srgbClr val="D4A64A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vi-VN"/>
          </a:p>
        </p:txBody>
      </p:sp>
      <p:sp>
        <p:nvSpPr>
          <p:cNvPr id="13" name="Hình chữ nhật: Góc Tròn 12">
            <a:extLst>
              <a:ext uri="{FF2B5EF4-FFF2-40B4-BE49-F238E27FC236}">
                <a16:creationId xmlns:a16="http://schemas.microsoft.com/office/drawing/2014/main" id="{1CCDDD78-EA07-C6B9-19A5-A291F6515F81}"/>
              </a:ext>
            </a:extLst>
          </p:cNvPr>
          <p:cNvSpPr/>
          <p:nvPr/>
        </p:nvSpPr>
        <p:spPr>
          <a:xfrm>
            <a:off x="3556000" y="2247900"/>
            <a:ext cx="2159000" cy="2209800"/>
          </a:xfrm>
          <a:prstGeom prst="roundRect">
            <a:avLst/>
          </a:prstGeom>
          <a:solidFill>
            <a:srgbClr val="FFFFFF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vi-VN"/>
          </a:p>
        </p:txBody>
      </p:sp>
      <p:sp>
        <p:nvSpPr>
          <p:cNvPr id="14" name="Hình chữ nhật: Góc Tròn 13">
            <a:extLst>
              <a:ext uri="{FF2B5EF4-FFF2-40B4-BE49-F238E27FC236}">
                <a16:creationId xmlns:a16="http://schemas.microsoft.com/office/drawing/2014/main" id="{EBFE9B00-03A6-EDBD-1362-DE4A130E848E}"/>
              </a:ext>
            </a:extLst>
          </p:cNvPr>
          <p:cNvSpPr/>
          <p:nvPr/>
        </p:nvSpPr>
        <p:spPr>
          <a:xfrm>
            <a:off x="3759200" y="2463800"/>
            <a:ext cx="1727200" cy="279400"/>
          </a:xfrm>
          <a:prstGeom prst="roundRect">
            <a:avLst/>
          </a:prstGeom>
          <a:solidFill>
            <a:srgbClr val="E7F1EC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vi-VN"/>
          </a:p>
        </p:txBody>
      </p:sp>
      <p:sp>
        <p:nvSpPr>
          <p:cNvPr id="15" name="Hộp Văn bản 14">
            <a:extLst>
              <a:ext uri="{FF2B5EF4-FFF2-40B4-BE49-F238E27FC236}">
                <a16:creationId xmlns:a16="http://schemas.microsoft.com/office/drawing/2014/main" id="{D301B607-3DF1-6ACB-A507-E8D34C832171}"/>
              </a:ext>
            </a:extLst>
          </p:cNvPr>
          <p:cNvSpPr txBox="1"/>
          <p:nvPr/>
        </p:nvSpPr>
        <p:spPr>
          <a:xfrm>
            <a:off x="3835400" y="2501900"/>
            <a:ext cx="1574800" cy="216085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pPr algn="ctr">
              <a:spcAft>
                <a:spcPts val="400"/>
              </a:spcAft>
            </a:pPr>
            <a:r>
              <a:rPr lang="vi-VN" sz="900" b="1">
                <a:solidFill>
                  <a:srgbClr val="17685D"/>
                </a:solidFill>
                <a:latin typeface="Aptos" panose="020B0004020202020204" pitchFamily="34" charset="0"/>
              </a:rPr>
              <a:t>BÁC SĨ</a:t>
            </a:r>
          </a:p>
        </p:txBody>
      </p:sp>
      <p:sp>
        <p:nvSpPr>
          <p:cNvPr id="16" name="Hộp Văn bản 15">
            <a:extLst>
              <a:ext uri="{FF2B5EF4-FFF2-40B4-BE49-F238E27FC236}">
                <a16:creationId xmlns:a16="http://schemas.microsoft.com/office/drawing/2014/main" id="{BBE453E6-F013-326D-94D2-64EA85B4D689}"/>
              </a:ext>
            </a:extLst>
          </p:cNvPr>
          <p:cNvSpPr txBox="1"/>
          <p:nvPr/>
        </p:nvSpPr>
        <p:spPr>
          <a:xfrm>
            <a:off x="3759200" y="3009900"/>
            <a:ext cx="1765300" cy="216085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pPr>
              <a:spcAft>
                <a:spcPts val="400"/>
              </a:spcAft>
            </a:pPr>
            <a:r>
              <a:rPr lang="vi-VN" sz="1200">
                <a:solidFill>
                  <a:srgbClr val="153F3A"/>
                </a:solidFill>
                <a:latin typeface="Aptos" panose="020B0004020202020204" pitchFamily="34" charset="0"/>
              </a:rPr>
              <a:t>Khám, cập nhật EMR, chọn dịch vụ chỉ định.</a:t>
            </a:r>
          </a:p>
        </p:txBody>
      </p:sp>
      <p:sp>
        <p:nvSpPr>
          <p:cNvPr id="17" name="Hình chữ nhật 16">
            <a:extLst>
              <a:ext uri="{FF2B5EF4-FFF2-40B4-BE49-F238E27FC236}">
                <a16:creationId xmlns:a16="http://schemas.microsoft.com/office/drawing/2014/main" id="{59444462-23A8-FE6E-0C0E-660D2A0F2FFB}"/>
              </a:ext>
            </a:extLst>
          </p:cNvPr>
          <p:cNvSpPr/>
          <p:nvPr/>
        </p:nvSpPr>
        <p:spPr>
          <a:xfrm>
            <a:off x="5753100" y="3276600"/>
            <a:ext cx="685800" cy="38100"/>
          </a:xfrm>
          <a:prstGeom prst="rect">
            <a:avLst/>
          </a:prstGeom>
          <a:solidFill>
            <a:srgbClr val="D4A64A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vi-VN"/>
          </a:p>
        </p:txBody>
      </p:sp>
      <p:sp>
        <p:nvSpPr>
          <p:cNvPr id="18" name="Hình chữ nhật: Góc Tròn 17">
            <a:extLst>
              <a:ext uri="{FF2B5EF4-FFF2-40B4-BE49-F238E27FC236}">
                <a16:creationId xmlns:a16="http://schemas.microsoft.com/office/drawing/2014/main" id="{4B0D901E-3BB4-9860-A437-8D8B7F83FC12}"/>
              </a:ext>
            </a:extLst>
          </p:cNvPr>
          <p:cNvSpPr/>
          <p:nvPr/>
        </p:nvSpPr>
        <p:spPr>
          <a:xfrm>
            <a:off x="6451600" y="2247900"/>
            <a:ext cx="2159000" cy="2209800"/>
          </a:xfrm>
          <a:prstGeom prst="roundRect">
            <a:avLst/>
          </a:prstGeom>
          <a:solidFill>
            <a:srgbClr val="FFFFFF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vi-VN"/>
          </a:p>
        </p:txBody>
      </p:sp>
      <p:sp>
        <p:nvSpPr>
          <p:cNvPr id="19" name="Hình chữ nhật: Góc Tròn 18">
            <a:extLst>
              <a:ext uri="{FF2B5EF4-FFF2-40B4-BE49-F238E27FC236}">
                <a16:creationId xmlns:a16="http://schemas.microsoft.com/office/drawing/2014/main" id="{0F77A646-99BB-BA43-5B6A-1C4145A780DE}"/>
              </a:ext>
            </a:extLst>
          </p:cNvPr>
          <p:cNvSpPr/>
          <p:nvPr/>
        </p:nvSpPr>
        <p:spPr>
          <a:xfrm>
            <a:off x="6654800" y="2463800"/>
            <a:ext cx="1727200" cy="279400"/>
          </a:xfrm>
          <a:prstGeom prst="roundRect">
            <a:avLst/>
          </a:prstGeom>
          <a:solidFill>
            <a:srgbClr val="E7F1EC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vi-VN"/>
          </a:p>
        </p:txBody>
      </p:sp>
      <p:sp>
        <p:nvSpPr>
          <p:cNvPr id="20" name="Hộp Văn bản 19">
            <a:extLst>
              <a:ext uri="{FF2B5EF4-FFF2-40B4-BE49-F238E27FC236}">
                <a16:creationId xmlns:a16="http://schemas.microsoft.com/office/drawing/2014/main" id="{0048CABA-2FD2-6C1A-4E96-E6C94AA1A630}"/>
              </a:ext>
            </a:extLst>
          </p:cNvPr>
          <p:cNvSpPr txBox="1"/>
          <p:nvPr/>
        </p:nvSpPr>
        <p:spPr>
          <a:xfrm>
            <a:off x="6731000" y="2501900"/>
            <a:ext cx="1574800" cy="216085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pPr algn="ctr">
              <a:spcAft>
                <a:spcPts val="400"/>
              </a:spcAft>
            </a:pPr>
            <a:r>
              <a:rPr lang="vi-VN" sz="900" b="1">
                <a:solidFill>
                  <a:srgbClr val="17685D"/>
                </a:solidFill>
                <a:latin typeface="Aptos" panose="020B0004020202020204" pitchFamily="34" charset="0"/>
              </a:rPr>
              <a:t>LỄ TÂN</a:t>
            </a:r>
          </a:p>
        </p:txBody>
      </p:sp>
      <p:sp>
        <p:nvSpPr>
          <p:cNvPr id="21" name="Hộp Văn bản 20">
            <a:extLst>
              <a:ext uri="{FF2B5EF4-FFF2-40B4-BE49-F238E27FC236}">
                <a16:creationId xmlns:a16="http://schemas.microsoft.com/office/drawing/2014/main" id="{C71CA0B2-3CFB-2E4B-BCDA-B3D7D9418B95}"/>
              </a:ext>
            </a:extLst>
          </p:cNvPr>
          <p:cNvSpPr txBox="1"/>
          <p:nvPr/>
        </p:nvSpPr>
        <p:spPr>
          <a:xfrm>
            <a:off x="6654800" y="3009900"/>
            <a:ext cx="1765300" cy="216085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pPr>
              <a:spcAft>
                <a:spcPts val="400"/>
              </a:spcAft>
            </a:pPr>
            <a:r>
              <a:rPr lang="vi-VN" sz="1200">
                <a:solidFill>
                  <a:srgbClr val="153F3A"/>
                </a:solidFill>
                <a:latin typeface="Aptos" panose="020B0004020202020204" pitchFamily="34" charset="0"/>
              </a:rPr>
              <a:t>Tạo hóa đơn, nhận tiền hoặc đối soát QR.</a:t>
            </a:r>
          </a:p>
        </p:txBody>
      </p:sp>
      <p:sp>
        <p:nvSpPr>
          <p:cNvPr id="22" name="Hình chữ nhật 21">
            <a:extLst>
              <a:ext uri="{FF2B5EF4-FFF2-40B4-BE49-F238E27FC236}">
                <a16:creationId xmlns:a16="http://schemas.microsoft.com/office/drawing/2014/main" id="{E7D767B4-B911-51CD-7363-F6BDE29D1D28}"/>
              </a:ext>
            </a:extLst>
          </p:cNvPr>
          <p:cNvSpPr/>
          <p:nvPr/>
        </p:nvSpPr>
        <p:spPr>
          <a:xfrm>
            <a:off x="8648700" y="3276600"/>
            <a:ext cx="685800" cy="38100"/>
          </a:xfrm>
          <a:prstGeom prst="rect">
            <a:avLst/>
          </a:prstGeom>
          <a:solidFill>
            <a:srgbClr val="D4A64A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vi-VN"/>
          </a:p>
        </p:txBody>
      </p:sp>
      <p:sp>
        <p:nvSpPr>
          <p:cNvPr id="23" name="Hình chữ nhật: Góc Tròn 22">
            <a:extLst>
              <a:ext uri="{FF2B5EF4-FFF2-40B4-BE49-F238E27FC236}">
                <a16:creationId xmlns:a16="http://schemas.microsoft.com/office/drawing/2014/main" id="{CB9986EC-A3E3-39E9-B1A4-FB23E3C083DE}"/>
              </a:ext>
            </a:extLst>
          </p:cNvPr>
          <p:cNvSpPr/>
          <p:nvPr/>
        </p:nvSpPr>
        <p:spPr>
          <a:xfrm>
            <a:off x="9347200" y="2247900"/>
            <a:ext cx="2159000" cy="2209800"/>
          </a:xfrm>
          <a:prstGeom prst="roundRect">
            <a:avLst/>
          </a:prstGeom>
          <a:solidFill>
            <a:srgbClr val="FFFFFF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vi-VN"/>
          </a:p>
        </p:txBody>
      </p:sp>
      <p:sp>
        <p:nvSpPr>
          <p:cNvPr id="24" name="Hình chữ nhật: Góc Tròn 23">
            <a:extLst>
              <a:ext uri="{FF2B5EF4-FFF2-40B4-BE49-F238E27FC236}">
                <a16:creationId xmlns:a16="http://schemas.microsoft.com/office/drawing/2014/main" id="{83D8DCD4-8620-EFF8-5C05-0256AD7E72E7}"/>
              </a:ext>
            </a:extLst>
          </p:cNvPr>
          <p:cNvSpPr/>
          <p:nvPr/>
        </p:nvSpPr>
        <p:spPr>
          <a:xfrm>
            <a:off x="9550400" y="2463800"/>
            <a:ext cx="1727200" cy="279400"/>
          </a:xfrm>
          <a:prstGeom prst="roundRect">
            <a:avLst/>
          </a:prstGeom>
          <a:solidFill>
            <a:srgbClr val="E7F1EC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vi-VN"/>
          </a:p>
        </p:txBody>
      </p:sp>
      <p:sp>
        <p:nvSpPr>
          <p:cNvPr id="25" name="Hộp Văn bản 24">
            <a:extLst>
              <a:ext uri="{FF2B5EF4-FFF2-40B4-BE49-F238E27FC236}">
                <a16:creationId xmlns:a16="http://schemas.microsoft.com/office/drawing/2014/main" id="{139A6296-051C-50D6-5DDE-6FF13AE45A11}"/>
              </a:ext>
            </a:extLst>
          </p:cNvPr>
          <p:cNvSpPr txBox="1"/>
          <p:nvPr/>
        </p:nvSpPr>
        <p:spPr>
          <a:xfrm>
            <a:off x="9626600" y="2501900"/>
            <a:ext cx="1574800" cy="216085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pPr algn="ctr">
              <a:spcAft>
                <a:spcPts val="400"/>
              </a:spcAft>
            </a:pPr>
            <a:r>
              <a:rPr lang="vi-VN" sz="900" b="1">
                <a:solidFill>
                  <a:srgbClr val="17685D"/>
                </a:solidFill>
                <a:latin typeface="Aptos" panose="020B0004020202020204" pitchFamily="34" charset="0"/>
              </a:rPr>
              <a:t>QUẢN TRỊ</a:t>
            </a:r>
          </a:p>
        </p:txBody>
      </p:sp>
      <p:sp>
        <p:nvSpPr>
          <p:cNvPr id="26" name="Hộp Văn bản 25">
            <a:extLst>
              <a:ext uri="{FF2B5EF4-FFF2-40B4-BE49-F238E27FC236}">
                <a16:creationId xmlns:a16="http://schemas.microsoft.com/office/drawing/2014/main" id="{E6AD5FBE-1A00-386C-2BC6-20A9E807A726}"/>
              </a:ext>
            </a:extLst>
          </p:cNvPr>
          <p:cNvSpPr txBox="1"/>
          <p:nvPr/>
        </p:nvSpPr>
        <p:spPr>
          <a:xfrm>
            <a:off x="9550400" y="3009900"/>
            <a:ext cx="1765300" cy="216085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pPr>
              <a:spcAft>
                <a:spcPts val="400"/>
              </a:spcAft>
            </a:pPr>
            <a:r>
              <a:rPr lang="vi-VN" sz="1200">
                <a:solidFill>
                  <a:srgbClr val="153F3A"/>
                </a:solidFill>
                <a:latin typeface="Aptos" panose="020B0004020202020204" pitchFamily="34" charset="0"/>
              </a:rPr>
              <a:t>Xem doanh thu và lượt khám theo thời gian.</a:t>
            </a:r>
          </a:p>
        </p:txBody>
      </p:sp>
      <p:sp>
        <p:nvSpPr>
          <p:cNvPr id="27" name="Hình chữ nhật: Góc Tròn 26">
            <a:extLst>
              <a:ext uri="{FF2B5EF4-FFF2-40B4-BE49-F238E27FC236}">
                <a16:creationId xmlns:a16="http://schemas.microsoft.com/office/drawing/2014/main" id="{E67D8BB6-67BC-1606-8C0B-016991F9E0C1}"/>
              </a:ext>
            </a:extLst>
          </p:cNvPr>
          <p:cNvSpPr/>
          <p:nvPr/>
        </p:nvSpPr>
        <p:spPr>
          <a:xfrm>
            <a:off x="863600" y="5016500"/>
            <a:ext cx="10464800" cy="876300"/>
          </a:xfrm>
          <a:prstGeom prst="roundRect">
            <a:avLst/>
          </a:prstGeom>
          <a:solidFill>
            <a:srgbClr val="102D2B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vi-VN"/>
          </a:p>
        </p:txBody>
      </p:sp>
      <p:sp>
        <p:nvSpPr>
          <p:cNvPr id="28" name="Hộp Văn bản 27">
            <a:extLst>
              <a:ext uri="{FF2B5EF4-FFF2-40B4-BE49-F238E27FC236}">
                <a16:creationId xmlns:a16="http://schemas.microsoft.com/office/drawing/2014/main" id="{17357839-4405-89AC-4451-8C979834EA45}"/>
              </a:ext>
            </a:extLst>
          </p:cNvPr>
          <p:cNvSpPr txBox="1"/>
          <p:nvPr/>
        </p:nvSpPr>
        <p:spPr>
          <a:xfrm>
            <a:off x="1092200" y="5308600"/>
            <a:ext cx="10007600" cy="216085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pPr algn="ctr">
              <a:spcAft>
                <a:spcPts val="400"/>
              </a:spcAft>
            </a:pPr>
            <a:r>
              <a:rPr lang="vi-VN" sz="1700" b="1">
                <a:solidFill>
                  <a:srgbClr val="FFFFFF"/>
                </a:solidFill>
                <a:latin typeface="Aptos" panose="020B0004020202020204" pitchFamily="34" charset="0"/>
              </a:rPr>
              <a:t>Bệnh nhân → lịch → EMR → hóa đơn / giao dịch → dashboard</a:t>
            </a:r>
          </a:p>
        </p:txBody>
      </p:sp>
    </p:spTree>
    <p:extLst>
      <p:ext uri="{BB962C8B-B14F-4D97-AF65-F5344CB8AC3E}">
        <p14:creationId xmlns:p14="http://schemas.microsoft.com/office/powerpoint/2010/main" val="632400155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ộp Văn bản 1">
            <a:extLst>
              <a:ext uri="{FF2B5EF4-FFF2-40B4-BE49-F238E27FC236}">
                <a16:creationId xmlns:a16="http://schemas.microsoft.com/office/drawing/2014/main" id="{7DEDC229-06CD-77B7-8F8C-DFE9982E287F}"/>
              </a:ext>
            </a:extLst>
          </p:cNvPr>
          <p:cNvSpPr txBox="1"/>
          <p:nvPr/>
        </p:nvSpPr>
        <p:spPr>
          <a:xfrm>
            <a:off x="533400" y="254000"/>
            <a:ext cx="10795000" cy="216085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pPr>
              <a:spcAft>
                <a:spcPts val="400"/>
              </a:spcAft>
            </a:pPr>
            <a:r>
              <a:rPr lang="vi-VN" sz="900" b="1">
                <a:solidFill>
                  <a:srgbClr val="17685D"/>
                </a:solidFill>
                <a:latin typeface="Aptos" panose="020B0004020202020204" pitchFamily="34" charset="0"/>
              </a:rPr>
              <a:t>03 / KIẾN TRÚC</a:t>
            </a:r>
          </a:p>
        </p:txBody>
      </p:sp>
      <p:sp>
        <p:nvSpPr>
          <p:cNvPr id="3" name="Hộp Văn bản 2">
            <a:extLst>
              <a:ext uri="{FF2B5EF4-FFF2-40B4-BE49-F238E27FC236}">
                <a16:creationId xmlns:a16="http://schemas.microsoft.com/office/drawing/2014/main" id="{9CD7454A-AA48-53DC-F9DE-4F5E293AECA8}"/>
              </a:ext>
            </a:extLst>
          </p:cNvPr>
          <p:cNvSpPr txBox="1"/>
          <p:nvPr/>
        </p:nvSpPr>
        <p:spPr>
          <a:xfrm>
            <a:off x="533400" y="571500"/>
            <a:ext cx="11125200" cy="216085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pPr>
              <a:spcAft>
                <a:spcPts val="400"/>
              </a:spcAft>
            </a:pPr>
            <a:r>
              <a:rPr lang="vi-VN" sz="2500" b="1">
                <a:solidFill>
                  <a:srgbClr val="153F3A"/>
                </a:solidFill>
                <a:latin typeface="Aptos" panose="020B0004020202020204" pitchFamily="34" charset="0"/>
              </a:rPr>
              <a:t>Web, API, dữ liệu theo module nghiệp vụ</a:t>
            </a:r>
          </a:p>
        </p:txBody>
      </p:sp>
      <p:sp>
        <p:nvSpPr>
          <p:cNvPr id="4" name="Hộp Văn bản 3">
            <a:extLst>
              <a:ext uri="{FF2B5EF4-FFF2-40B4-BE49-F238E27FC236}">
                <a16:creationId xmlns:a16="http://schemas.microsoft.com/office/drawing/2014/main" id="{52895A25-9839-6AFC-108F-C2AA3B0B84F1}"/>
              </a:ext>
            </a:extLst>
          </p:cNvPr>
          <p:cNvSpPr txBox="1"/>
          <p:nvPr/>
        </p:nvSpPr>
        <p:spPr>
          <a:xfrm>
            <a:off x="558800" y="1155700"/>
            <a:ext cx="10985500" cy="216085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pPr>
              <a:spcAft>
                <a:spcPts val="400"/>
              </a:spcAft>
            </a:pPr>
            <a:r>
              <a:rPr lang="vi-VN" sz="1100">
                <a:solidFill>
                  <a:srgbClr val="657875"/>
                </a:solidFill>
                <a:latin typeface="Aptos" panose="020B0004020202020204" pitchFamily="34" charset="0"/>
              </a:rPr>
              <a:t>Tóm lược cấu trúc frontend và backend trong repository.</a:t>
            </a:r>
          </a:p>
        </p:txBody>
      </p:sp>
      <p:sp>
        <p:nvSpPr>
          <p:cNvPr id="5" name="Hình chữ nhật 4">
            <a:extLst>
              <a:ext uri="{FF2B5EF4-FFF2-40B4-BE49-F238E27FC236}">
                <a16:creationId xmlns:a16="http://schemas.microsoft.com/office/drawing/2014/main" id="{AD660DAC-7CB6-8974-8ECC-7E38E5D12018}"/>
              </a:ext>
            </a:extLst>
          </p:cNvPr>
          <p:cNvSpPr/>
          <p:nvPr/>
        </p:nvSpPr>
        <p:spPr>
          <a:xfrm>
            <a:off x="533400" y="6489700"/>
            <a:ext cx="11125200" cy="12700"/>
          </a:xfrm>
          <a:prstGeom prst="rect">
            <a:avLst/>
          </a:prstGeom>
          <a:solidFill>
            <a:srgbClr val="DCE4DE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vi-VN"/>
          </a:p>
        </p:txBody>
      </p:sp>
      <p:sp>
        <p:nvSpPr>
          <p:cNvPr id="6" name="Hộp Văn bản 5">
            <a:extLst>
              <a:ext uri="{FF2B5EF4-FFF2-40B4-BE49-F238E27FC236}">
                <a16:creationId xmlns:a16="http://schemas.microsoft.com/office/drawing/2014/main" id="{01CA6C2D-9D1B-AA8D-5AB3-F16C761B0D6C}"/>
              </a:ext>
            </a:extLst>
          </p:cNvPr>
          <p:cNvSpPr txBox="1"/>
          <p:nvPr/>
        </p:nvSpPr>
        <p:spPr>
          <a:xfrm>
            <a:off x="546100" y="6565900"/>
            <a:ext cx="8890000" cy="216085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pPr>
              <a:spcAft>
                <a:spcPts val="400"/>
              </a:spcAft>
            </a:pPr>
            <a:r>
              <a:rPr lang="vi-VN" sz="800">
                <a:solidFill>
                  <a:srgbClr val="657875"/>
                </a:solidFill>
                <a:latin typeface="Aptos" panose="020B0004020202020204" pitchFamily="34" charset="0"/>
              </a:rPr>
              <a:t>DMS  •  Dental Management System</a:t>
            </a:r>
          </a:p>
        </p:txBody>
      </p:sp>
      <p:sp>
        <p:nvSpPr>
          <p:cNvPr id="7" name="Hộp Văn bản 6">
            <a:extLst>
              <a:ext uri="{FF2B5EF4-FFF2-40B4-BE49-F238E27FC236}">
                <a16:creationId xmlns:a16="http://schemas.microsoft.com/office/drawing/2014/main" id="{263ED94F-3C27-7E68-C237-44A1638C784F}"/>
              </a:ext>
            </a:extLst>
          </p:cNvPr>
          <p:cNvSpPr txBox="1"/>
          <p:nvPr/>
        </p:nvSpPr>
        <p:spPr>
          <a:xfrm>
            <a:off x="10883900" y="6553200"/>
            <a:ext cx="774700" cy="216085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pPr algn="r">
              <a:spcAft>
                <a:spcPts val="400"/>
              </a:spcAft>
            </a:pPr>
            <a:r>
              <a:rPr lang="vi-VN" sz="900">
                <a:solidFill>
                  <a:srgbClr val="657875"/>
                </a:solidFill>
                <a:latin typeface="Aptos" panose="020B0004020202020204" pitchFamily="34" charset="0"/>
              </a:rPr>
              <a:t>04 / 12</a:t>
            </a:r>
          </a:p>
        </p:txBody>
      </p:sp>
      <p:sp>
        <p:nvSpPr>
          <p:cNvPr id="8" name="Hình chữ nhật: Góc Tròn 7">
            <a:extLst>
              <a:ext uri="{FF2B5EF4-FFF2-40B4-BE49-F238E27FC236}">
                <a16:creationId xmlns:a16="http://schemas.microsoft.com/office/drawing/2014/main" id="{41615AD1-21D6-6BED-0CD8-09B1BDC0A00A}"/>
              </a:ext>
            </a:extLst>
          </p:cNvPr>
          <p:cNvSpPr/>
          <p:nvPr/>
        </p:nvSpPr>
        <p:spPr>
          <a:xfrm>
            <a:off x="635000" y="2019300"/>
            <a:ext cx="2413000" cy="1651000"/>
          </a:xfrm>
          <a:prstGeom prst="roundRect">
            <a:avLst/>
          </a:prstGeom>
          <a:solidFill>
            <a:srgbClr val="FFFFFF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vi-VN"/>
          </a:p>
        </p:txBody>
      </p:sp>
      <p:sp>
        <p:nvSpPr>
          <p:cNvPr id="9" name="Hộp Văn bản 8">
            <a:extLst>
              <a:ext uri="{FF2B5EF4-FFF2-40B4-BE49-F238E27FC236}">
                <a16:creationId xmlns:a16="http://schemas.microsoft.com/office/drawing/2014/main" id="{0CF30D95-507F-52BD-8624-B630F73EB205}"/>
              </a:ext>
            </a:extLst>
          </p:cNvPr>
          <p:cNvSpPr txBox="1"/>
          <p:nvPr/>
        </p:nvSpPr>
        <p:spPr>
          <a:xfrm>
            <a:off x="825500" y="2273300"/>
            <a:ext cx="2032000" cy="216085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pPr algn="ctr">
              <a:spcAft>
                <a:spcPts val="400"/>
              </a:spcAft>
            </a:pPr>
            <a:r>
              <a:rPr lang="vi-VN" sz="1000" b="1">
                <a:solidFill>
                  <a:srgbClr val="17685D"/>
                </a:solidFill>
                <a:latin typeface="Aptos" panose="020B0004020202020204" pitchFamily="34" charset="0"/>
              </a:rPr>
              <a:t>FRONTEND</a:t>
            </a:r>
          </a:p>
        </p:txBody>
      </p:sp>
      <p:sp>
        <p:nvSpPr>
          <p:cNvPr id="10" name="Hộp Văn bản 9">
            <a:extLst>
              <a:ext uri="{FF2B5EF4-FFF2-40B4-BE49-F238E27FC236}">
                <a16:creationId xmlns:a16="http://schemas.microsoft.com/office/drawing/2014/main" id="{5082B254-28C3-780D-6D7A-F5829375FA2F}"/>
              </a:ext>
            </a:extLst>
          </p:cNvPr>
          <p:cNvSpPr txBox="1"/>
          <p:nvPr/>
        </p:nvSpPr>
        <p:spPr>
          <a:xfrm>
            <a:off x="825500" y="2743200"/>
            <a:ext cx="2032000" cy="216085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pPr algn="ctr">
              <a:spcAft>
                <a:spcPts val="400"/>
              </a:spcAft>
            </a:pPr>
            <a:r>
              <a:rPr lang="vi-VN" sz="1600" b="1">
                <a:solidFill>
                  <a:srgbClr val="153F3A"/>
                </a:solidFill>
                <a:latin typeface="Aptos" panose="020B0004020202020204" pitchFamily="34" charset="0"/>
              </a:rPr>
              <a:t>React UI</a:t>
            </a:r>
          </a:p>
          <a:p>
            <a:pPr algn="ctr">
              <a:spcAft>
                <a:spcPts val="400"/>
              </a:spcAft>
            </a:pPr>
            <a:r>
              <a:rPr lang="vi-VN" sz="1600" b="1">
                <a:solidFill>
                  <a:srgbClr val="153F3A"/>
                </a:solidFill>
                <a:latin typeface="Aptos" panose="020B0004020202020204" pitchFamily="34" charset="0"/>
              </a:rPr>
              <a:t>Vite · trình duyệt</a:t>
            </a:r>
          </a:p>
        </p:txBody>
      </p:sp>
      <p:sp>
        <p:nvSpPr>
          <p:cNvPr id="11" name="Hình chữ nhật: Góc Tròn 10">
            <a:extLst>
              <a:ext uri="{FF2B5EF4-FFF2-40B4-BE49-F238E27FC236}">
                <a16:creationId xmlns:a16="http://schemas.microsoft.com/office/drawing/2014/main" id="{AD76ED98-6EC2-14F6-5881-A3275C5B3988}"/>
              </a:ext>
            </a:extLst>
          </p:cNvPr>
          <p:cNvSpPr/>
          <p:nvPr/>
        </p:nvSpPr>
        <p:spPr>
          <a:xfrm>
            <a:off x="3619500" y="2019300"/>
            <a:ext cx="4610100" cy="1651000"/>
          </a:xfrm>
          <a:prstGeom prst="roundRect">
            <a:avLst/>
          </a:prstGeom>
          <a:solidFill>
            <a:srgbClr val="E7F1EC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vi-VN"/>
          </a:p>
        </p:txBody>
      </p:sp>
      <p:sp>
        <p:nvSpPr>
          <p:cNvPr id="12" name="Hộp Văn bản 11">
            <a:extLst>
              <a:ext uri="{FF2B5EF4-FFF2-40B4-BE49-F238E27FC236}">
                <a16:creationId xmlns:a16="http://schemas.microsoft.com/office/drawing/2014/main" id="{67988E7A-35B5-F26D-84F1-4C9C19DDFABB}"/>
              </a:ext>
            </a:extLst>
          </p:cNvPr>
          <p:cNvSpPr txBox="1"/>
          <p:nvPr/>
        </p:nvSpPr>
        <p:spPr>
          <a:xfrm>
            <a:off x="3810000" y="2273300"/>
            <a:ext cx="4216400" cy="216085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pPr algn="ctr">
              <a:spcAft>
                <a:spcPts val="400"/>
              </a:spcAft>
            </a:pPr>
            <a:r>
              <a:rPr lang="vi-VN" sz="1000" b="1">
                <a:solidFill>
                  <a:srgbClr val="17685D"/>
                </a:solidFill>
                <a:latin typeface="Aptos" panose="020B0004020202020204" pitchFamily="34" charset="0"/>
              </a:rPr>
              <a:t>DJANGO REST API</a:t>
            </a:r>
          </a:p>
        </p:txBody>
      </p:sp>
      <p:sp>
        <p:nvSpPr>
          <p:cNvPr id="13" name="Hộp Văn bản 12">
            <a:extLst>
              <a:ext uri="{FF2B5EF4-FFF2-40B4-BE49-F238E27FC236}">
                <a16:creationId xmlns:a16="http://schemas.microsoft.com/office/drawing/2014/main" id="{814D239E-9113-E3F0-2EB9-913576070583}"/>
              </a:ext>
            </a:extLst>
          </p:cNvPr>
          <p:cNvSpPr txBox="1"/>
          <p:nvPr/>
        </p:nvSpPr>
        <p:spPr>
          <a:xfrm>
            <a:off x="3810000" y="2730500"/>
            <a:ext cx="4216400" cy="216085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pPr algn="ctr">
              <a:spcAft>
                <a:spcPts val="400"/>
              </a:spcAft>
            </a:pPr>
            <a:r>
              <a:rPr lang="en-US" sz="1300" b="1">
                <a:solidFill>
                  <a:srgbClr val="153F3A"/>
                </a:solidFill>
                <a:latin typeface="Aptos" panose="020B0004020202020204" pitchFamily="34" charset="0"/>
              </a:rPr>
              <a:t>authentication · clinic</a:t>
            </a:r>
          </a:p>
          <a:p>
            <a:pPr algn="ctr">
              <a:spcAft>
                <a:spcPts val="400"/>
              </a:spcAft>
            </a:pPr>
            <a:r>
              <a:rPr lang="en-US" sz="1300" b="1">
                <a:solidFill>
                  <a:srgbClr val="153F3A"/>
                </a:solidFill>
                <a:latin typeface="Aptos" panose="020B0004020202020204" pitchFamily="34" charset="0"/>
              </a:rPr>
              <a:t>appointments · chatbot/dashboard</a:t>
            </a:r>
            <a:endParaRPr lang="vi-VN" sz="1300" b="1">
              <a:solidFill>
                <a:srgbClr val="153F3A"/>
              </a:solidFill>
              <a:latin typeface="Aptos" panose="020B0004020202020204" pitchFamily="34" charset="0"/>
            </a:endParaRPr>
          </a:p>
        </p:txBody>
      </p:sp>
      <p:sp>
        <p:nvSpPr>
          <p:cNvPr id="14" name="Hình chữ nhật: Góc Tròn 13">
            <a:extLst>
              <a:ext uri="{FF2B5EF4-FFF2-40B4-BE49-F238E27FC236}">
                <a16:creationId xmlns:a16="http://schemas.microsoft.com/office/drawing/2014/main" id="{328E8575-161A-68BB-9366-136878DE3CCD}"/>
              </a:ext>
            </a:extLst>
          </p:cNvPr>
          <p:cNvSpPr/>
          <p:nvPr/>
        </p:nvSpPr>
        <p:spPr>
          <a:xfrm>
            <a:off x="8813800" y="2019300"/>
            <a:ext cx="2743200" cy="1651000"/>
          </a:xfrm>
          <a:prstGeom prst="roundRect">
            <a:avLst/>
          </a:prstGeom>
          <a:solidFill>
            <a:srgbClr val="FFFFFF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vi-VN"/>
          </a:p>
        </p:txBody>
      </p:sp>
      <p:sp>
        <p:nvSpPr>
          <p:cNvPr id="15" name="Hộp Văn bản 14">
            <a:extLst>
              <a:ext uri="{FF2B5EF4-FFF2-40B4-BE49-F238E27FC236}">
                <a16:creationId xmlns:a16="http://schemas.microsoft.com/office/drawing/2014/main" id="{ED0FD5A3-3B7A-3E2F-A3A2-286E3E79AD1B}"/>
              </a:ext>
            </a:extLst>
          </p:cNvPr>
          <p:cNvSpPr txBox="1"/>
          <p:nvPr/>
        </p:nvSpPr>
        <p:spPr>
          <a:xfrm>
            <a:off x="8991600" y="2273300"/>
            <a:ext cx="2374900" cy="216085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pPr algn="ctr">
              <a:spcAft>
                <a:spcPts val="400"/>
              </a:spcAft>
            </a:pPr>
            <a:r>
              <a:rPr lang="vi-VN" sz="1000" b="1">
                <a:solidFill>
                  <a:srgbClr val="17685D"/>
                </a:solidFill>
                <a:latin typeface="Aptos" panose="020B0004020202020204" pitchFamily="34" charset="0"/>
              </a:rPr>
              <a:t>CƠ SỞ DỮ LIỆU</a:t>
            </a:r>
          </a:p>
        </p:txBody>
      </p:sp>
      <p:sp>
        <p:nvSpPr>
          <p:cNvPr id="16" name="Hộp Văn bản 15">
            <a:extLst>
              <a:ext uri="{FF2B5EF4-FFF2-40B4-BE49-F238E27FC236}">
                <a16:creationId xmlns:a16="http://schemas.microsoft.com/office/drawing/2014/main" id="{33E702B7-143A-A4D3-11D8-EA0BDDDAE0B7}"/>
              </a:ext>
            </a:extLst>
          </p:cNvPr>
          <p:cNvSpPr txBox="1"/>
          <p:nvPr/>
        </p:nvSpPr>
        <p:spPr>
          <a:xfrm>
            <a:off x="8991600" y="2743200"/>
            <a:ext cx="2374900" cy="216085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pPr algn="ctr">
              <a:spcAft>
                <a:spcPts val="400"/>
              </a:spcAft>
            </a:pPr>
            <a:r>
              <a:rPr lang="vi-VN" sz="1300" b="1">
                <a:solidFill>
                  <a:srgbClr val="153F3A"/>
                </a:solidFill>
                <a:latin typeface="Aptos" panose="020B0004020202020204" pitchFamily="34" charset="0"/>
              </a:rPr>
              <a:t>SQLite mặc định</a:t>
            </a:r>
          </a:p>
          <a:p>
            <a:pPr algn="ctr">
              <a:spcAft>
                <a:spcPts val="400"/>
              </a:spcAft>
            </a:pPr>
            <a:r>
              <a:rPr lang="vi-VN" sz="1300" b="1">
                <a:solidFill>
                  <a:srgbClr val="153F3A"/>
                </a:solidFill>
                <a:latin typeface="Aptos" panose="020B0004020202020204" pitchFamily="34" charset="0"/>
              </a:rPr>
              <a:t>SQL Server tùy chọn</a:t>
            </a:r>
          </a:p>
        </p:txBody>
      </p:sp>
      <p:sp>
        <p:nvSpPr>
          <p:cNvPr id="17" name="Hình chữ nhật 16">
            <a:extLst>
              <a:ext uri="{FF2B5EF4-FFF2-40B4-BE49-F238E27FC236}">
                <a16:creationId xmlns:a16="http://schemas.microsoft.com/office/drawing/2014/main" id="{CAE689CC-CD8A-9492-CD70-B171505E36A6}"/>
              </a:ext>
            </a:extLst>
          </p:cNvPr>
          <p:cNvSpPr/>
          <p:nvPr/>
        </p:nvSpPr>
        <p:spPr>
          <a:xfrm>
            <a:off x="3048000" y="2819400"/>
            <a:ext cx="571500" cy="38100"/>
          </a:xfrm>
          <a:prstGeom prst="rect">
            <a:avLst/>
          </a:prstGeom>
          <a:solidFill>
            <a:srgbClr val="D4A64A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vi-VN"/>
          </a:p>
        </p:txBody>
      </p:sp>
      <p:sp>
        <p:nvSpPr>
          <p:cNvPr id="18" name="Hình chữ nhật 17">
            <a:extLst>
              <a:ext uri="{FF2B5EF4-FFF2-40B4-BE49-F238E27FC236}">
                <a16:creationId xmlns:a16="http://schemas.microsoft.com/office/drawing/2014/main" id="{145A9FC9-C8AC-92A8-7F1F-E2D158E38602}"/>
              </a:ext>
            </a:extLst>
          </p:cNvPr>
          <p:cNvSpPr/>
          <p:nvPr/>
        </p:nvSpPr>
        <p:spPr>
          <a:xfrm>
            <a:off x="8229600" y="2819400"/>
            <a:ext cx="584200" cy="38100"/>
          </a:xfrm>
          <a:prstGeom prst="rect">
            <a:avLst/>
          </a:prstGeom>
          <a:solidFill>
            <a:srgbClr val="D4A64A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vi-VN"/>
          </a:p>
        </p:txBody>
      </p:sp>
      <p:sp>
        <p:nvSpPr>
          <p:cNvPr id="19" name="Hình chữ nhật: Góc Tròn 18">
            <a:extLst>
              <a:ext uri="{FF2B5EF4-FFF2-40B4-BE49-F238E27FC236}">
                <a16:creationId xmlns:a16="http://schemas.microsoft.com/office/drawing/2014/main" id="{17185899-F0FC-BF44-634E-5A6EB86CEC49}"/>
              </a:ext>
            </a:extLst>
          </p:cNvPr>
          <p:cNvSpPr/>
          <p:nvPr/>
        </p:nvSpPr>
        <p:spPr>
          <a:xfrm>
            <a:off x="635000" y="4013200"/>
            <a:ext cx="3327400" cy="1473200"/>
          </a:xfrm>
          <a:prstGeom prst="roundRect">
            <a:avLst/>
          </a:prstGeom>
          <a:solidFill>
            <a:srgbClr val="FFFFFF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vi-VN"/>
          </a:p>
        </p:txBody>
      </p:sp>
      <p:sp>
        <p:nvSpPr>
          <p:cNvPr id="20" name="Hình chữ nhật 19">
            <a:extLst>
              <a:ext uri="{FF2B5EF4-FFF2-40B4-BE49-F238E27FC236}">
                <a16:creationId xmlns:a16="http://schemas.microsoft.com/office/drawing/2014/main" id="{2610E9DF-E0F6-A498-147A-207021BEA415}"/>
              </a:ext>
            </a:extLst>
          </p:cNvPr>
          <p:cNvSpPr/>
          <p:nvPr/>
        </p:nvSpPr>
        <p:spPr>
          <a:xfrm>
            <a:off x="635000" y="4013200"/>
            <a:ext cx="63500" cy="1473200"/>
          </a:xfrm>
          <a:prstGeom prst="rect">
            <a:avLst/>
          </a:prstGeom>
          <a:solidFill>
            <a:srgbClr val="D4A64A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vi-VN"/>
          </a:p>
        </p:txBody>
      </p:sp>
      <p:sp>
        <p:nvSpPr>
          <p:cNvPr id="21" name="Hộp Văn bản 20">
            <a:extLst>
              <a:ext uri="{FF2B5EF4-FFF2-40B4-BE49-F238E27FC236}">
                <a16:creationId xmlns:a16="http://schemas.microsoft.com/office/drawing/2014/main" id="{74F51FD6-5205-7268-E2B4-C1F4F88105F4}"/>
              </a:ext>
            </a:extLst>
          </p:cNvPr>
          <p:cNvSpPr txBox="1"/>
          <p:nvPr/>
        </p:nvSpPr>
        <p:spPr>
          <a:xfrm>
            <a:off x="825500" y="4152900"/>
            <a:ext cx="2984500" cy="216085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pPr>
              <a:spcAft>
                <a:spcPts val="400"/>
              </a:spcAft>
            </a:pPr>
            <a:r>
              <a:rPr lang="vi-VN" sz="1400" b="1">
                <a:solidFill>
                  <a:srgbClr val="153F3A"/>
                </a:solidFill>
                <a:latin typeface="Aptos" panose="020B0004020202020204" pitchFamily="34" charset="0"/>
              </a:rPr>
              <a:t>QR</a:t>
            </a:r>
          </a:p>
        </p:txBody>
      </p:sp>
      <p:sp>
        <p:nvSpPr>
          <p:cNvPr id="22" name="Hộp Văn bản 21">
            <a:extLst>
              <a:ext uri="{FF2B5EF4-FFF2-40B4-BE49-F238E27FC236}">
                <a16:creationId xmlns:a16="http://schemas.microsoft.com/office/drawing/2014/main" id="{B149F314-C214-B8F7-5079-3FF43BF6A563}"/>
              </a:ext>
            </a:extLst>
          </p:cNvPr>
          <p:cNvSpPr txBox="1"/>
          <p:nvPr/>
        </p:nvSpPr>
        <p:spPr>
          <a:xfrm>
            <a:off x="825500" y="4546600"/>
            <a:ext cx="2984500" cy="216085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pPr>
              <a:spcAft>
                <a:spcPts val="400"/>
              </a:spcAft>
            </a:pPr>
            <a:r>
              <a:rPr lang="vi-VN" sz="1100">
                <a:solidFill>
                  <a:srgbClr val="657875"/>
                </a:solidFill>
                <a:latin typeface="Aptos" panose="020B0004020202020204" pitchFamily="34" charset="0"/>
              </a:rPr>
              <a:t>VietQR tạo ảnh; không có webhook hay xác minh ngân hàng tự động.</a:t>
            </a:r>
          </a:p>
        </p:txBody>
      </p:sp>
      <p:sp>
        <p:nvSpPr>
          <p:cNvPr id="23" name="Hình chữ nhật: Góc Tròn 22">
            <a:extLst>
              <a:ext uri="{FF2B5EF4-FFF2-40B4-BE49-F238E27FC236}">
                <a16:creationId xmlns:a16="http://schemas.microsoft.com/office/drawing/2014/main" id="{E48595DB-D9A5-8451-3497-E6A8F6556628}"/>
              </a:ext>
            </a:extLst>
          </p:cNvPr>
          <p:cNvSpPr/>
          <p:nvPr/>
        </p:nvSpPr>
        <p:spPr>
          <a:xfrm>
            <a:off x="4432300" y="4013200"/>
            <a:ext cx="3327400" cy="1473200"/>
          </a:xfrm>
          <a:prstGeom prst="roundRect">
            <a:avLst/>
          </a:prstGeom>
          <a:solidFill>
            <a:srgbClr val="FFFFFF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vi-VN"/>
          </a:p>
        </p:txBody>
      </p:sp>
      <p:sp>
        <p:nvSpPr>
          <p:cNvPr id="24" name="Hình chữ nhật 23">
            <a:extLst>
              <a:ext uri="{FF2B5EF4-FFF2-40B4-BE49-F238E27FC236}">
                <a16:creationId xmlns:a16="http://schemas.microsoft.com/office/drawing/2014/main" id="{02FBFD65-AC6C-68E9-F50D-C5D454630763}"/>
              </a:ext>
            </a:extLst>
          </p:cNvPr>
          <p:cNvSpPr/>
          <p:nvPr/>
        </p:nvSpPr>
        <p:spPr>
          <a:xfrm>
            <a:off x="4432300" y="4013200"/>
            <a:ext cx="63500" cy="1473200"/>
          </a:xfrm>
          <a:prstGeom prst="rect">
            <a:avLst/>
          </a:prstGeom>
          <a:solidFill>
            <a:srgbClr val="17685D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vi-VN"/>
          </a:p>
        </p:txBody>
      </p:sp>
      <p:sp>
        <p:nvSpPr>
          <p:cNvPr id="25" name="Hộp Văn bản 24">
            <a:extLst>
              <a:ext uri="{FF2B5EF4-FFF2-40B4-BE49-F238E27FC236}">
                <a16:creationId xmlns:a16="http://schemas.microsoft.com/office/drawing/2014/main" id="{56AF9AF7-F6F7-5B41-7258-CAB24E56B585}"/>
              </a:ext>
            </a:extLst>
          </p:cNvPr>
          <p:cNvSpPr txBox="1"/>
          <p:nvPr/>
        </p:nvSpPr>
        <p:spPr>
          <a:xfrm>
            <a:off x="4622800" y="4152900"/>
            <a:ext cx="2984500" cy="216085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pPr>
              <a:spcAft>
                <a:spcPts val="400"/>
              </a:spcAft>
            </a:pPr>
            <a:r>
              <a:rPr lang="vi-VN" sz="1400" b="1">
                <a:solidFill>
                  <a:srgbClr val="153F3A"/>
                </a:solidFill>
                <a:latin typeface="Aptos" panose="020B0004020202020204" pitchFamily="34" charset="0"/>
              </a:rPr>
              <a:t>Chatbot hiện hành</a:t>
            </a:r>
          </a:p>
        </p:txBody>
      </p:sp>
      <p:sp>
        <p:nvSpPr>
          <p:cNvPr id="26" name="Hộp Văn bản 25">
            <a:extLst>
              <a:ext uri="{FF2B5EF4-FFF2-40B4-BE49-F238E27FC236}">
                <a16:creationId xmlns:a16="http://schemas.microsoft.com/office/drawing/2014/main" id="{4BBC8B03-350D-4E07-CC75-431664126CC1}"/>
              </a:ext>
            </a:extLst>
          </p:cNvPr>
          <p:cNvSpPr txBox="1"/>
          <p:nvPr/>
        </p:nvSpPr>
        <p:spPr>
          <a:xfrm>
            <a:off x="4622800" y="4546600"/>
            <a:ext cx="2984500" cy="216085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pPr>
              <a:spcAft>
                <a:spcPts val="400"/>
              </a:spcAft>
            </a:pPr>
            <a:r>
              <a:rPr lang="vi-VN" sz="1100">
                <a:solidFill>
                  <a:srgbClr val="657875"/>
                </a:solidFill>
                <a:latin typeface="Aptos" panose="020B0004020202020204" pitchFamily="34" charset="0"/>
              </a:rPr>
              <a:t>Quy tắc + truy vấn dịch vụ/lịch trong cơ sở dữ liệu.</a:t>
            </a:r>
          </a:p>
        </p:txBody>
      </p:sp>
      <p:sp>
        <p:nvSpPr>
          <p:cNvPr id="27" name="Hình chữ nhật: Góc Tròn 26">
            <a:extLst>
              <a:ext uri="{FF2B5EF4-FFF2-40B4-BE49-F238E27FC236}">
                <a16:creationId xmlns:a16="http://schemas.microsoft.com/office/drawing/2014/main" id="{73B43B9F-6020-E81A-E3DD-6CC3856140AD}"/>
              </a:ext>
            </a:extLst>
          </p:cNvPr>
          <p:cNvSpPr/>
          <p:nvPr/>
        </p:nvSpPr>
        <p:spPr>
          <a:xfrm>
            <a:off x="8229600" y="4013200"/>
            <a:ext cx="3327400" cy="1473200"/>
          </a:xfrm>
          <a:prstGeom prst="roundRect">
            <a:avLst/>
          </a:prstGeom>
          <a:solidFill>
            <a:srgbClr val="FFFFFF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vi-VN"/>
          </a:p>
        </p:txBody>
      </p:sp>
      <p:sp>
        <p:nvSpPr>
          <p:cNvPr id="28" name="Hình chữ nhật 27">
            <a:extLst>
              <a:ext uri="{FF2B5EF4-FFF2-40B4-BE49-F238E27FC236}">
                <a16:creationId xmlns:a16="http://schemas.microsoft.com/office/drawing/2014/main" id="{77B505F1-B124-D1FA-4A85-EF3332B02F33}"/>
              </a:ext>
            </a:extLst>
          </p:cNvPr>
          <p:cNvSpPr/>
          <p:nvPr/>
        </p:nvSpPr>
        <p:spPr>
          <a:xfrm>
            <a:off x="8229600" y="4013200"/>
            <a:ext cx="63500" cy="1473200"/>
          </a:xfrm>
          <a:prstGeom prst="rect">
            <a:avLst/>
          </a:prstGeom>
          <a:solidFill>
            <a:srgbClr val="CF755F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vi-VN"/>
          </a:p>
        </p:txBody>
      </p:sp>
      <p:sp>
        <p:nvSpPr>
          <p:cNvPr id="29" name="Hộp Văn bản 28">
            <a:extLst>
              <a:ext uri="{FF2B5EF4-FFF2-40B4-BE49-F238E27FC236}">
                <a16:creationId xmlns:a16="http://schemas.microsoft.com/office/drawing/2014/main" id="{92303FF4-BE6F-AD39-9C9E-4B52D0A9B787}"/>
              </a:ext>
            </a:extLst>
          </p:cNvPr>
          <p:cNvSpPr txBox="1"/>
          <p:nvPr/>
        </p:nvSpPr>
        <p:spPr>
          <a:xfrm>
            <a:off x="8420100" y="4152900"/>
            <a:ext cx="2984500" cy="216085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pPr>
              <a:spcAft>
                <a:spcPts val="400"/>
              </a:spcAft>
            </a:pPr>
            <a:r>
              <a:rPr lang="vi-VN" sz="1400" b="1">
                <a:solidFill>
                  <a:srgbClr val="153F3A"/>
                </a:solidFill>
                <a:latin typeface="Aptos" panose="020B0004020202020204" pitchFamily="34" charset="0"/>
              </a:rPr>
              <a:t>AI tương lai</a:t>
            </a:r>
          </a:p>
        </p:txBody>
      </p:sp>
      <p:sp>
        <p:nvSpPr>
          <p:cNvPr id="30" name="Hộp Văn bản 29">
            <a:extLst>
              <a:ext uri="{FF2B5EF4-FFF2-40B4-BE49-F238E27FC236}">
                <a16:creationId xmlns:a16="http://schemas.microsoft.com/office/drawing/2014/main" id="{2A30525A-754F-E94A-5D38-EA957F2A5B47}"/>
              </a:ext>
            </a:extLst>
          </p:cNvPr>
          <p:cNvSpPr txBox="1"/>
          <p:nvPr/>
        </p:nvSpPr>
        <p:spPr>
          <a:xfrm>
            <a:off x="8420100" y="4546600"/>
            <a:ext cx="2984500" cy="216085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pPr>
              <a:spcAft>
                <a:spcPts val="400"/>
              </a:spcAft>
            </a:pPr>
            <a:r>
              <a:rPr lang="vi-VN" sz="1100">
                <a:solidFill>
                  <a:srgbClr val="657875"/>
                </a:solidFill>
                <a:latin typeface="Aptos" panose="020B0004020202020204" pitchFamily="34" charset="0"/>
              </a:rPr>
              <a:t>Chưa kết nối dịch vụ AI, API tóm tắt EMR hoặc job nhắc tái khám.</a:t>
            </a:r>
          </a:p>
        </p:txBody>
      </p:sp>
    </p:spTree>
    <p:extLst>
      <p:ext uri="{BB962C8B-B14F-4D97-AF65-F5344CB8AC3E}">
        <p14:creationId xmlns:p14="http://schemas.microsoft.com/office/powerpoint/2010/main" val="541562231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ộp Văn bản 1">
            <a:extLst>
              <a:ext uri="{FF2B5EF4-FFF2-40B4-BE49-F238E27FC236}">
                <a16:creationId xmlns:a16="http://schemas.microsoft.com/office/drawing/2014/main" id="{271BD66E-A647-4645-1799-F51539DECE3F}"/>
              </a:ext>
            </a:extLst>
          </p:cNvPr>
          <p:cNvSpPr txBox="1"/>
          <p:nvPr/>
        </p:nvSpPr>
        <p:spPr>
          <a:xfrm>
            <a:off x="533400" y="254000"/>
            <a:ext cx="10795000" cy="216085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pPr>
              <a:spcAft>
                <a:spcPts val="400"/>
              </a:spcAft>
            </a:pPr>
            <a:r>
              <a:rPr lang="vi-VN" sz="900" b="1">
                <a:solidFill>
                  <a:srgbClr val="17685D"/>
                </a:solidFill>
                <a:latin typeface="Aptos" panose="020B0004020202020204" pitchFamily="34" charset="0"/>
              </a:rPr>
              <a:t>04 / ĐẶT LỊCH</a:t>
            </a:r>
          </a:p>
        </p:txBody>
      </p:sp>
      <p:sp>
        <p:nvSpPr>
          <p:cNvPr id="3" name="Hộp Văn bản 2">
            <a:extLst>
              <a:ext uri="{FF2B5EF4-FFF2-40B4-BE49-F238E27FC236}">
                <a16:creationId xmlns:a16="http://schemas.microsoft.com/office/drawing/2014/main" id="{1BA9A7D6-B5BE-8087-E41E-EACC70282713}"/>
              </a:ext>
            </a:extLst>
          </p:cNvPr>
          <p:cNvSpPr txBox="1"/>
          <p:nvPr/>
        </p:nvSpPr>
        <p:spPr>
          <a:xfrm>
            <a:off x="533400" y="571500"/>
            <a:ext cx="11125200" cy="216085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pPr>
              <a:spcAft>
                <a:spcPts val="400"/>
              </a:spcAft>
            </a:pPr>
            <a:r>
              <a:rPr lang="vi-VN" sz="2500" b="1">
                <a:solidFill>
                  <a:srgbClr val="153F3A"/>
                </a:solidFill>
                <a:latin typeface="Aptos" panose="020B0004020202020204" pitchFamily="34" charset="0"/>
              </a:rPr>
              <a:t>Kiểm tra lịch trước khi xác nhận đặt hẹn</a:t>
            </a:r>
          </a:p>
        </p:txBody>
      </p:sp>
      <p:sp>
        <p:nvSpPr>
          <p:cNvPr id="4" name="Hộp Văn bản 3">
            <a:extLst>
              <a:ext uri="{FF2B5EF4-FFF2-40B4-BE49-F238E27FC236}">
                <a16:creationId xmlns:a16="http://schemas.microsoft.com/office/drawing/2014/main" id="{3E1F4743-677C-CE7A-5302-2DF46DB72B16}"/>
              </a:ext>
            </a:extLst>
          </p:cNvPr>
          <p:cNvSpPr txBox="1"/>
          <p:nvPr/>
        </p:nvSpPr>
        <p:spPr>
          <a:xfrm>
            <a:off x="558800" y="1155700"/>
            <a:ext cx="10985500" cy="216085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pPr>
              <a:spcAft>
                <a:spcPts val="400"/>
              </a:spcAft>
            </a:pPr>
            <a:r>
              <a:rPr lang="vi-VN" sz="1100">
                <a:solidFill>
                  <a:srgbClr val="657875"/>
                </a:solidFill>
                <a:latin typeface="Aptos" panose="020B0004020202020204" pitchFamily="34" charset="0"/>
              </a:rPr>
              <a:t>API kiểm tra ca làm, thời lượng dịch vụ và lịch bị trùng.</a:t>
            </a:r>
          </a:p>
        </p:txBody>
      </p:sp>
      <p:sp>
        <p:nvSpPr>
          <p:cNvPr id="5" name="Hình chữ nhật 4">
            <a:extLst>
              <a:ext uri="{FF2B5EF4-FFF2-40B4-BE49-F238E27FC236}">
                <a16:creationId xmlns:a16="http://schemas.microsoft.com/office/drawing/2014/main" id="{41A6F917-2CA4-A910-238B-5CCB843C289A}"/>
              </a:ext>
            </a:extLst>
          </p:cNvPr>
          <p:cNvSpPr/>
          <p:nvPr/>
        </p:nvSpPr>
        <p:spPr>
          <a:xfrm>
            <a:off x="533400" y="6489700"/>
            <a:ext cx="11125200" cy="12700"/>
          </a:xfrm>
          <a:prstGeom prst="rect">
            <a:avLst/>
          </a:prstGeom>
          <a:solidFill>
            <a:srgbClr val="DCE4DE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vi-VN"/>
          </a:p>
        </p:txBody>
      </p:sp>
      <p:sp>
        <p:nvSpPr>
          <p:cNvPr id="6" name="Hộp Văn bản 5">
            <a:extLst>
              <a:ext uri="{FF2B5EF4-FFF2-40B4-BE49-F238E27FC236}">
                <a16:creationId xmlns:a16="http://schemas.microsoft.com/office/drawing/2014/main" id="{A206DFFA-2EEC-398F-58E7-E50EA60D89E0}"/>
              </a:ext>
            </a:extLst>
          </p:cNvPr>
          <p:cNvSpPr txBox="1"/>
          <p:nvPr/>
        </p:nvSpPr>
        <p:spPr>
          <a:xfrm>
            <a:off x="546100" y="6565900"/>
            <a:ext cx="8890000" cy="216085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pPr>
              <a:spcAft>
                <a:spcPts val="400"/>
              </a:spcAft>
            </a:pPr>
            <a:r>
              <a:rPr lang="vi-VN" sz="800">
                <a:solidFill>
                  <a:srgbClr val="657875"/>
                </a:solidFill>
                <a:latin typeface="Aptos" panose="020B0004020202020204" pitchFamily="34" charset="0"/>
              </a:rPr>
              <a:t>DMS  •  Dental Management System</a:t>
            </a:r>
          </a:p>
        </p:txBody>
      </p:sp>
      <p:sp>
        <p:nvSpPr>
          <p:cNvPr id="7" name="Hộp Văn bản 6">
            <a:extLst>
              <a:ext uri="{FF2B5EF4-FFF2-40B4-BE49-F238E27FC236}">
                <a16:creationId xmlns:a16="http://schemas.microsoft.com/office/drawing/2014/main" id="{3D66DCC9-9DA9-0A04-8FBE-B3680B8A6BA7}"/>
              </a:ext>
            </a:extLst>
          </p:cNvPr>
          <p:cNvSpPr txBox="1"/>
          <p:nvPr/>
        </p:nvSpPr>
        <p:spPr>
          <a:xfrm>
            <a:off x="10883900" y="6553200"/>
            <a:ext cx="774700" cy="216085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pPr algn="r">
              <a:spcAft>
                <a:spcPts val="400"/>
              </a:spcAft>
            </a:pPr>
            <a:r>
              <a:rPr lang="vi-VN" sz="900">
                <a:solidFill>
                  <a:srgbClr val="657875"/>
                </a:solidFill>
                <a:latin typeface="Aptos" panose="020B0004020202020204" pitchFamily="34" charset="0"/>
              </a:rPr>
              <a:t>05 / 12</a:t>
            </a:r>
          </a:p>
        </p:txBody>
      </p:sp>
      <p:sp>
        <p:nvSpPr>
          <p:cNvPr id="8" name="Hình chữ nhật: Góc Tròn 7">
            <a:extLst>
              <a:ext uri="{FF2B5EF4-FFF2-40B4-BE49-F238E27FC236}">
                <a16:creationId xmlns:a16="http://schemas.microsoft.com/office/drawing/2014/main" id="{608C7C04-E3E6-AC11-5897-CC22DE3DD381}"/>
              </a:ext>
            </a:extLst>
          </p:cNvPr>
          <p:cNvSpPr/>
          <p:nvPr/>
        </p:nvSpPr>
        <p:spPr>
          <a:xfrm>
            <a:off x="495300" y="1739900"/>
            <a:ext cx="7188200" cy="4533900"/>
          </a:xfrm>
          <a:prstGeom prst="roundRect">
            <a:avLst/>
          </a:prstGeom>
          <a:solidFill>
            <a:srgbClr val="FFFFFF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vi-VN"/>
          </a:p>
        </p:txBody>
      </p:sp>
      <p:pic>
        <p:nvPicPr>
          <p:cNvPr id="10" name="Hình ảnh 9">
            <a:extLst>
              <a:ext uri="{FF2B5EF4-FFF2-40B4-BE49-F238E27FC236}">
                <a16:creationId xmlns:a16="http://schemas.microsoft.com/office/drawing/2014/main" id="{98D37400-B8F2-1319-9EC4-D9B87A282DC7}"/>
              </a:ext>
            </a:extLst>
          </p:cNvPr>
          <p:cNvPicPr>
            <a:picLocks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46100" y="1790700"/>
            <a:ext cx="7086600" cy="4432300"/>
          </a:xfrm>
          <a:prstGeom prst="rect">
            <a:avLst/>
          </a:prstGeom>
        </p:spPr>
      </p:pic>
      <p:sp>
        <p:nvSpPr>
          <p:cNvPr id="11" name="Hộp Văn bản 10">
            <a:extLst>
              <a:ext uri="{FF2B5EF4-FFF2-40B4-BE49-F238E27FC236}">
                <a16:creationId xmlns:a16="http://schemas.microsoft.com/office/drawing/2014/main" id="{23BD749D-3A07-AE19-7386-5D6E068D5CB0}"/>
              </a:ext>
            </a:extLst>
          </p:cNvPr>
          <p:cNvSpPr txBox="1"/>
          <p:nvPr/>
        </p:nvSpPr>
        <p:spPr>
          <a:xfrm>
            <a:off x="596900" y="6273800"/>
            <a:ext cx="6959600" cy="216085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pPr algn="r">
              <a:spcAft>
                <a:spcPts val="400"/>
              </a:spcAft>
            </a:pPr>
            <a:r>
              <a:rPr lang="vi-VN" sz="800">
                <a:solidFill>
                  <a:srgbClr val="657875"/>
                </a:solidFill>
                <a:latin typeface="Aptos" panose="020B0004020202020204" pitchFamily="34" charset="0"/>
              </a:rPr>
              <a:t>Giao diện thật · dữ liệu demo</a:t>
            </a:r>
          </a:p>
        </p:txBody>
      </p:sp>
      <p:sp>
        <p:nvSpPr>
          <p:cNvPr id="12" name="Hình chữ nhật: Góc Tròn 11">
            <a:extLst>
              <a:ext uri="{FF2B5EF4-FFF2-40B4-BE49-F238E27FC236}">
                <a16:creationId xmlns:a16="http://schemas.microsoft.com/office/drawing/2014/main" id="{6ECDC1FE-10AA-9990-0297-174BD15A95CC}"/>
              </a:ext>
            </a:extLst>
          </p:cNvPr>
          <p:cNvSpPr/>
          <p:nvPr/>
        </p:nvSpPr>
        <p:spPr>
          <a:xfrm>
            <a:off x="8077200" y="1943100"/>
            <a:ext cx="3479800" cy="1130300"/>
          </a:xfrm>
          <a:prstGeom prst="roundRect">
            <a:avLst/>
          </a:prstGeom>
          <a:solidFill>
            <a:srgbClr val="FFFFFF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vi-VN"/>
          </a:p>
        </p:txBody>
      </p:sp>
      <p:sp>
        <p:nvSpPr>
          <p:cNvPr id="13" name="Hình chữ nhật 12">
            <a:extLst>
              <a:ext uri="{FF2B5EF4-FFF2-40B4-BE49-F238E27FC236}">
                <a16:creationId xmlns:a16="http://schemas.microsoft.com/office/drawing/2014/main" id="{454A0CDD-4BBD-6025-29D8-0A7564369F9F}"/>
              </a:ext>
            </a:extLst>
          </p:cNvPr>
          <p:cNvSpPr/>
          <p:nvPr/>
        </p:nvSpPr>
        <p:spPr>
          <a:xfrm>
            <a:off x="8077200" y="1943100"/>
            <a:ext cx="63500" cy="1130300"/>
          </a:xfrm>
          <a:prstGeom prst="rect">
            <a:avLst/>
          </a:prstGeom>
          <a:solidFill>
            <a:srgbClr val="17685D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vi-VN"/>
          </a:p>
        </p:txBody>
      </p:sp>
      <p:sp>
        <p:nvSpPr>
          <p:cNvPr id="14" name="Hộp Văn bản 13">
            <a:extLst>
              <a:ext uri="{FF2B5EF4-FFF2-40B4-BE49-F238E27FC236}">
                <a16:creationId xmlns:a16="http://schemas.microsoft.com/office/drawing/2014/main" id="{381013F5-FF04-3F5A-116E-22FDB6D95BB0}"/>
              </a:ext>
            </a:extLst>
          </p:cNvPr>
          <p:cNvSpPr txBox="1"/>
          <p:nvPr/>
        </p:nvSpPr>
        <p:spPr>
          <a:xfrm>
            <a:off x="8267700" y="2082800"/>
            <a:ext cx="3136900" cy="216085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pPr>
              <a:spcAft>
                <a:spcPts val="400"/>
              </a:spcAft>
            </a:pPr>
            <a:r>
              <a:rPr lang="vi-VN" sz="1400" b="1">
                <a:solidFill>
                  <a:srgbClr val="153F3A"/>
                </a:solidFill>
                <a:latin typeface="Aptos" panose="020B0004020202020204" pitchFamily="34" charset="0"/>
              </a:rPr>
              <a:t>Nhập thông tin</a:t>
            </a:r>
          </a:p>
        </p:txBody>
      </p:sp>
      <p:sp>
        <p:nvSpPr>
          <p:cNvPr id="15" name="Hộp Văn bản 14">
            <a:extLst>
              <a:ext uri="{FF2B5EF4-FFF2-40B4-BE49-F238E27FC236}">
                <a16:creationId xmlns:a16="http://schemas.microsoft.com/office/drawing/2014/main" id="{8B2DA6F2-7E59-CB88-EF5D-27B62EC2791B}"/>
              </a:ext>
            </a:extLst>
          </p:cNvPr>
          <p:cNvSpPr txBox="1"/>
          <p:nvPr/>
        </p:nvSpPr>
        <p:spPr>
          <a:xfrm>
            <a:off x="8267700" y="2476500"/>
            <a:ext cx="3136900" cy="216085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pPr>
              <a:spcAft>
                <a:spcPts val="400"/>
              </a:spcAft>
            </a:pPr>
            <a:r>
              <a:rPr lang="vi-VN" sz="1100">
                <a:solidFill>
                  <a:srgbClr val="657875"/>
                </a:solidFill>
                <a:latin typeface="Aptos" panose="020B0004020202020204" pitchFamily="34" charset="0"/>
              </a:rPr>
              <a:t>Bệnh nhân, bác sĩ, dịch vụ, ngày, giờ và lý do khám.</a:t>
            </a:r>
          </a:p>
        </p:txBody>
      </p:sp>
      <p:sp>
        <p:nvSpPr>
          <p:cNvPr id="16" name="Hình chữ nhật: Góc Tròn 15">
            <a:extLst>
              <a:ext uri="{FF2B5EF4-FFF2-40B4-BE49-F238E27FC236}">
                <a16:creationId xmlns:a16="http://schemas.microsoft.com/office/drawing/2014/main" id="{FA96E886-2A4A-5D21-A4D0-5A638DF3268C}"/>
              </a:ext>
            </a:extLst>
          </p:cNvPr>
          <p:cNvSpPr/>
          <p:nvPr/>
        </p:nvSpPr>
        <p:spPr>
          <a:xfrm>
            <a:off x="8077200" y="3314700"/>
            <a:ext cx="3479800" cy="1130300"/>
          </a:xfrm>
          <a:prstGeom prst="roundRect">
            <a:avLst/>
          </a:prstGeom>
          <a:solidFill>
            <a:srgbClr val="FFFFFF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vi-VN"/>
          </a:p>
        </p:txBody>
      </p:sp>
      <p:sp>
        <p:nvSpPr>
          <p:cNvPr id="17" name="Hình chữ nhật 16">
            <a:extLst>
              <a:ext uri="{FF2B5EF4-FFF2-40B4-BE49-F238E27FC236}">
                <a16:creationId xmlns:a16="http://schemas.microsoft.com/office/drawing/2014/main" id="{22313DB0-F14F-130F-48A7-7A0308AAF553}"/>
              </a:ext>
            </a:extLst>
          </p:cNvPr>
          <p:cNvSpPr/>
          <p:nvPr/>
        </p:nvSpPr>
        <p:spPr>
          <a:xfrm>
            <a:off x="8077200" y="3314700"/>
            <a:ext cx="63500" cy="1130300"/>
          </a:xfrm>
          <a:prstGeom prst="rect">
            <a:avLst/>
          </a:prstGeom>
          <a:solidFill>
            <a:srgbClr val="D4A64A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vi-VN"/>
          </a:p>
        </p:txBody>
      </p:sp>
      <p:sp>
        <p:nvSpPr>
          <p:cNvPr id="18" name="Hộp Văn bản 17">
            <a:extLst>
              <a:ext uri="{FF2B5EF4-FFF2-40B4-BE49-F238E27FC236}">
                <a16:creationId xmlns:a16="http://schemas.microsoft.com/office/drawing/2014/main" id="{403E398A-3FF7-90C0-2164-52446A840D70}"/>
              </a:ext>
            </a:extLst>
          </p:cNvPr>
          <p:cNvSpPr txBox="1"/>
          <p:nvPr/>
        </p:nvSpPr>
        <p:spPr>
          <a:xfrm>
            <a:off x="8267700" y="3454400"/>
            <a:ext cx="3136900" cy="216085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pPr>
              <a:spcAft>
                <a:spcPts val="400"/>
              </a:spcAft>
            </a:pPr>
            <a:r>
              <a:rPr lang="vi-VN" sz="1400" b="1">
                <a:solidFill>
                  <a:srgbClr val="153F3A"/>
                </a:solidFill>
                <a:latin typeface="Aptos" panose="020B0004020202020204" pitchFamily="34" charset="0"/>
              </a:rPr>
              <a:t>Kiểm tra</a:t>
            </a:r>
          </a:p>
        </p:txBody>
      </p:sp>
      <p:sp>
        <p:nvSpPr>
          <p:cNvPr id="19" name="Hộp Văn bản 18">
            <a:extLst>
              <a:ext uri="{FF2B5EF4-FFF2-40B4-BE49-F238E27FC236}">
                <a16:creationId xmlns:a16="http://schemas.microsoft.com/office/drawing/2014/main" id="{3D88CDD3-F92D-2EEB-A9C1-3B60ABF5FA16}"/>
              </a:ext>
            </a:extLst>
          </p:cNvPr>
          <p:cNvSpPr txBox="1"/>
          <p:nvPr/>
        </p:nvSpPr>
        <p:spPr>
          <a:xfrm>
            <a:off x="8267700" y="3848100"/>
            <a:ext cx="3136900" cy="216085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pPr>
              <a:spcAft>
                <a:spcPts val="400"/>
              </a:spcAft>
            </a:pPr>
            <a:r>
              <a:rPr lang="vi-VN" sz="1100">
                <a:solidFill>
                  <a:srgbClr val="657875"/>
                </a:solidFill>
                <a:latin typeface="Aptos" panose="020B0004020202020204" pitchFamily="34" charset="0"/>
              </a:rPr>
              <a:t>Đúng ca làm, đủ thời lượng, không xung đột lịch.</a:t>
            </a:r>
          </a:p>
        </p:txBody>
      </p:sp>
      <p:sp>
        <p:nvSpPr>
          <p:cNvPr id="20" name="Hình chữ nhật: Góc Tròn 19">
            <a:extLst>
              <a:ext uri="{FF2B5EF4-FFF2-40B4-BE49-F238E27FC236}">
                <a16:creationId xmlns:a16="http://schemas.microsoft.com/office/drawing/2014/main" id="{546958B5-D1E3-307A-3FC6-E85E74CCB6C8}"/>
              </a:ext>
            </a:extLst>
          </p:cNvPr>
          <p:cNvSpPr/>
          <p:nvPr/>
        </p:nvSpPr>
        <p:spPr>
          <a:xfrm>
            <a:off x="8077200" y="4686300"/>
            <a:ext cx="3479800" cy="1130300"/>
          </a:xfrm>
          <a:prstGeom prst="roundRect">
            <a:avLst/>
          </a:prstGeom>
          <a:solidFill>
            <a:srgbClr val="FFFFFF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vi-VN"/>
          </a:p>
        </p:txBody>
      </p:sp>
      <p:sp>
        <p:nvSpPr>
          <p:cNvPr id="21" name="Hình chữ nhật 20">
            <a:extLst>
              <a:ext uri="{FF2B5EF4-FFF2-40B4-BE49-F238E27FC236}">
                <a16:creationId xmlns:a16="http://schemas.microsoft.com/office/drawing/2014/main" id="{240DFA25-D5CB-3201-00C8-97BCB002C0AA}"/>
              </a:ext>
            </a:extLst>
          </p:cNvPr>
          <p:cNvSpPr/>
          <p:nvPr/>
        </p:nvSpPr>
        <p:spPr>
          <a:xfrm>
            <a:off x="8077200" y="4686300"/>
            <a:ext cx="63500" cy="1130300"/>
          </a:xfrm>
          <a:prstGeom prst="rect">
            <a:avLst/>
          </a:prstGeom>
          <a:solidFill>
            <a:srgbClr val="17685D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vi-VN"/>
          </a:p>
        </p:txBody>
      </p:sp>
      <p:sp>
        <p:nvSpPr>
          <p:cNvPr id="22" name="Hộp Văn bản 21">
            <a:extLst>
              <a:ext uri="{FF2B5EF4-FFF2-40B4-BE49-F238E27FC236}">
                <a16:creationId xmlns:a16="http://schemas.microsoft.com/office/drawing/2014/main" id="{59D3AD43-07AF-1671-51E1-F3E702D34C03}"/>
              </a:ext>
            </a:extLst>
          </p:cNvPr>
          <p:cNvSpPr txBox="1"/>
          <p:nvPr/>
        </p:nvSpPr>
        <p:spPr>
          <a:xfrm>
            <a:off x="8267700" y="4826000"/>
            <a:ext cx="3136900" cy="216085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pPr>
              <a:spcAft>
                <a:spcPts val="400"/>
              </a:spcAft>
            </a:pPr>
            <a:r>
              <a:rPr lang="vi-VN" sz="1400" b="1">
                <a:solidFill>
                  <a:srgbClr val="153F3A"/>
                </a:solidFill>
                <a:latin typeface="Aptos" panose="020B0004020202020204" pitchFamily="34" charset="0"/>
              </a:rPr>
              <a:t>Kết quả</a:t>
            </a:r>
          </a:p>
        </p:txBody>
      </p:sp>
      <p:sp>
        <p:nvSpPr>
          <p:cNvPr id="23" name="Hộp Văn bản 22">
            <a:extLst>
              <a:ext uri="{FF2B5EF4-FFF2-40B4-BE49-F238E27FC236}">
                <a16:creationId xmlns:a16="http://schemas.microsoft.com/office/drawing/2014/main" id="{8DD49A85-11A3-CF8E-75A8-6B4120EDB9FA}"/>
              </a:ext>
            </a:extLst>
          </p:cNvPr>
          <p:cNvSpPr txBox="1"/>
          <p:nvPr/>
        </p:nvSpPr>
        <p:spPr>
          <a:xfrm>
            <a:off x="8267700" y="5219700"/>
            <a:ext cx="3136900" cy="216085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pPr>
              <a:spcAft>
                <a:spcPts val="400"/>
              </a:spcAft>
            </a:pPr>
            <a:r>
              <a:rPr lang="vi-VN" sz="1100">
                <a:solidFill>
                  <a:srgbClr val="657875"/>
                </a:solidFill>
                <a:latin typeface="Aptos" panose="020B0004020202020204" pitchFamily="34" charset="0"/>
              </a:rPr>
              <a:t>Chỉ báo thành công khi API tạo lịch.</a:t>
            </a:r>
          </a:p>
        </p:txBody>
      </p:sp>
    </p:spTree>
    <p:extLst>
      <p:ext uri="{BB962C8B-B14F-4D97-AF65-F5344CB8AC3E}">
        <p14:creationId xmlns:p14="http://schemas.microsoft.com/office/powerpoint/2010/main" val="3299574357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ộp Văn bản 1">
            <a:extLst>
              <a:ext uri="{FF2B5EF4-FFF2-40B4-BE49-F238E27FC236}">
                <a16:creationId xmlns:a16="http://schemas.microsoft.com/office/drawing/2014/main" id="{FEAA4A02-7A21-0144-1789-0009956570AB}"/>
              </a:ext>
            </a:extLst>
          </p:cNvPr>
          <p:cNvSpPr txBox="1"/>
          <p:nvPr/>
        </p:nvSpPr>
        <p:spPr>
          <a:xfrm>
            <a:off x="533400" y="254000"/>
            <a:ext cx="10795000" cy="216085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pPr>
              <a:spcAft>
                <a:spcPts val="400"/>
              </a:spcAft>
            </a:pPr>
            <a:r>
              <a:rPr lang="vi-VN" sz="900" b="1">
                <a:solidFill>
                  <a:srgbClr val="17685D"/>
                </a:solidFill>
                <a:latin typeface="Aptos" panose="020B0004020202020204" pitchFamily="34" charset="0"/>
              </a:rPr>
              <a:t>05 / KHÁM BỆNH</a:t>
            </a:r>
          </a:p>
        </p:txBody>
      </p:sp>
      <p:sp>
        <p:nvSpPr>
          <p:cNvPr id="3" name="Hộp Văn bản 2">
            <a:extLst>
              <a:ext uri="{FF2B5EF4-FFF2-40B4-BE49-F238E27FC236}">
                <a16:creationId xmlns:a16="http://schemas.microsoft.com/office/drawing/2014/main" id="{BB3B9668-FBAB-4B7F-13B1-3150AF724A27}"/>
              </a:ext>
            </a:extLst>
          </p:cNvPr>
          <p:cNvSpPr txBox="1"/>
          <p:nvPr/>
        </p:nvSpPr>
        <p:spPr>
          <a:xfrm>
            <a:off x="533400" y="571500"/>
            <a:ext cx="11125200" cy="216085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pPr>
              <a:spcAft>
                <a:spcPts val="400"/>
              </a:spcAft>
            </a:pPr>
            <a:r>
              <a:rPr lang="vi-VN" sz="2200" b="1">
                <a:solidFill>
                  <a:srgbClr val="153F3A"/>
                </a:solidFill>
                <a:latin typeface="Aptos" panose="020B0004020202020204" pitchFamily="34" charset="0"/>
              </a:rPr>
              <a:t>Hồ sơ bệnh án điện tử (EMR) gắn với lịch hẹn</a:t>
            </a:r>
          </a:p>
        </p:txBody>
      </p:sp>
      <p:sp>
        <p:nvSpPr>
          <p:cNvPr id="4" name="Hộp Văn bản 3">
            <a:extLst>
              <a:ext uri="{FF2B5EF4-FFF2-40B4-BE49-F238E27FC236}">
                <a16:creationId xmlns:a16="http://schemas.microsoft.com/office/drawing/2014/main" id="{AC6CC15D-D7ED-7C96-55AE-B333C14E18B0}"/>
              </a:ext>
            </a:extLst>
          </p:cNvPr>
          <p:cNvSpPr txBox="1"/>
          <p:nvPr/>
        </p:nvSpPr>
        <p:spPr>
          <a:xfrm>
            <a:off x="558800" y="1155700"/>
            <a:ext cx="10985500" cy="216085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pPr>
              <a:spcAft>
                <a:spcPts val="400"/>
              </a:spcAft>
            </a:pPr>
            <a:r>
              <a:rPr lang="vi-VN" sz="1100">
                <a:solidFill>
                  <a:srgbClr val="657875"/>
                </a:solidFill>
                <a:latin typeface="Aptos" panose="020B0004020202020204" pitchFamily="34" charset="0"/>
              </a:rPr>
              <a:t>Bác sĩ ghi nhận nội dung khám và dịch vụ được chỉ định.</a:t>
            </a:r>
          </a:p>
        </p:txBody>
      </p:sp>
      <p:sp>
        <p:nvSpPr>
          <p:cNvPr id="5" name="Hình chữ nhật 4">
            <a:extLst>
              <a:ext uri="{FF2B5EF4-FFF2-40B4-BE49-F238E27FC236}">
                <a16:creationId xmlns:a16="http://schemas.microsoft.com/office/drawing/2014/main" id="{180593E5-2106-FC5A-B4B7-9D58622562ED}"/>
              </a:ext>
            </a:extLst>
          </p:cNvPr>
          <p:cNvSpPr/>
          <p:nvPr/>
        </p:nvSpPr>
        <p:spPr>
          <a:xfrm>
            <a:off x="533400" y="6489700"/>
            <a:ext cx="11125200" cy="12700"/>
          </a:xfrm>
          <a:prstGeom prst="rect">
            <a:avLst/>
          </a:prstGeom>
          <a:solidFill>
            <a:srgbClr val="DCE4DE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vi-VN"/>
          </a:p>
        </p:txBody>
      </p:sp>
      <p:sp>
        <p:nvSpPr>
          <p:cNvPr id="6" name="Hộp Văn bản 5">
            <a:extLst>
              <a:ext uri="{FF2B5EF4-FFF2-40B4-BE49-F238E27FC236}">
                <a16:creationId xmlns:a16="http://schemas.microsoft.com/office/drawing/2014/main" id="{6D6BADBE-4788-431B-A29F-D6C337D78490}"/>
              </a:ext>
            </a:extLst>
          </p:cNvPr>
          <p:cNvSpPr txBox="1"/>
          <p:nvPr/>
        </p:nvSpPr>
        <p:spPr>
          <a:xfrm>
            <a:off x="546100" y="6565900"/>
            <a:ext cx="8890000" cy="216085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pPr>
              <a:spcAft>
                <a:spcPts val="400"/>
              </a:spcAft>
            </a:pPr>
            <a:r>
              <a:rPr lang="vi-VN" sz="800">
                <a:solidFill>
                  <a:srgbClr val="657875"/>
                </a:solidFill>
                <a:latin typeface="Aptos" panose="020B0004020202020204" pitchFamily="34" charset="0"/>
              </a:rPr>
              <a:t>DMS  •  Dental Management System</a:t>
            </a:r>
          </a:p>
        </p:txBody>
      </p:sp>
      <p:sp>
        <p:nvSpPr>
          <p:cNvPr id="7" name="Hộp Văn bản 6">
            <a:extLst>
              <a:ext uri="{FF2B5EF4-FFF2-40B4-BE49-F238E27FC236}">
                <a16:creationId xmlns:a16="http://schemas.microsoft.com/office/drawing/2014/main" id="{E079B9A7-8BCC-4AFE-A4B9-2E9D479A3ADE}"/>
              </a:ext>
            </a:extLst>
          </p:cNvPr>
          <p:cNvSpPr txBox="1"/>
          <p:nvPr/>
        </p:nvSpPr>
        <p:spPr>
          <a:xfrm>
            <a:off x="10883900" y="6553200"/>
            <a:ext cx="774700" cy="216085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pPr algn="r">
              <a:spcAft>
                <a:spcPts val="400"/>
              </a:spcAft>
            </a:pPr>
            <a:r>
              <a:rPr lang="vi-VN" sz="900">
                <a:solidFill>
                  <a:srgbClr val="657875"/>
                </a:solidFill>
                <a:latin typeface="Aptos" panose="020B0004020202020204" pitchFamily="34" charset="0"/>
              </a:rPr>
              <a:t>06 / 12</a:t>
            </a:r>
          </a:p>
        </p:txBody>
      </p:sp>
      <p:sp>
        <p:nvSpPr>
          <p:cNvPr id="8" name="Hình chữ nhật: Góc Tròn 7">
            <a:extLst>
              <a:ext uri="{FF2B5EF4-FFF2-40B4-BE49-F238E27FC236}">
                <a16:creationId xmlns:a16="http://schemas.microsoft.com/office/drawing/2014/main" id="{EB2F45D4-1BD3-C757-D246-1ADF21BEF11A}"/>
              </a:ext>
            </a:extLst>
          </p:cNvPr>
          <p:cNvSpPr/>
          <p:nvPr/>
        </p:nvSpPr>
        <p:spPr>
          <a:xfrm>
            <a:off x="495300" y="1739900"/>
            <a:ext cx="7188200" cy="4533900"/>
          </a:xfrm>
          <a:prstGeom prst="roundRect">
            <a:avLst/>
          </a:prstGeom>
          <a:solidFill>
            <a:srgbClr val="FFFFFF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vi-VN"/>
          </a:p>
        </p:txBody>
      </p:sp>
      <p:pic>
        <p:nvPicPr>
          <p:cNvPr id="10" name="Hình ảnh 9">
            <a:extLst>
              <a:ext uri="{FF2B5EF4-FFF2-40B4-BE49-F238E27FC236}">
                <a16:creationId xmlns:a16="http://schemas.microsoft.com/office/drawing/2014/main" id="{32E112DA-AD6F-3D03-8DA7-FF68AC525CE0}"/>
              </a:ext>
            </a:extLst>
          </p:cNvPr>
          <p:cNvPicPr>
            <a:picLocks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46100" y="1790700"/>
            <a:ext cx="7086600" cy="4432300"/>
          </a:xfrm>
          <a:prstGeom prst="rect">
            <a:avLst/>
          </a:prstGeom>
        </p:spPr>
      </p:pic>
      <p:sp>
        <p:nvSpPr>
          <p:cNvPr id="11" name="Hộp Văn bản 10">
            <a:extLst>
              <a:ext uri="{FF2B5EF4-FFF2-40B4-BE49-F238E27FC236}">
                <a16:creationId xmlns:a16="http://schemas.microsoft.com/office/drawing/2014/main" id="{1EA86FDC-1861-CCE2-9841-30B10E4D1AC1}"/>
              </a:ext>
            </a:extLst>
          </p:cNvPr>
          <p:cNvSpPr txBox="1"/>
          <p:nvPr/>
        </p:nvSpPr>
        <p:spPr>
          <a:xfrm>
            <a:off x="596900" y="6273800"/>
            <a:ext cx="6959600" cy="216085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pPr algn="r">
              <a:spcAft>
                <a:spcPts val="400"/>
              </a:spcAft>
            </a:pPr>
            <a:r>
              <a:rPr lang="vi-VN" sz="800">
                <a:solidFill>
                  <a:srgbClr val="657875"/>
                </a:solidFill>
                <a:latin typeface="Aptos" panose="020B0004020202020204" pitchFamily="34" charset="0"/>
              </a:rPr>
              <a:t>Giao diện EMR thật · hồ sơ demo</a:t>
            </a:r>
          </a:p>
        </p:txBody>
      </p:sp>
      <p:sp>
        <p:nvSpPr>
          <p:cNvPr id="12" name="Hình chữ nhật: Góc Tròn 11">
            <a:extLst>
              <a:ext uri="{FF2B5EF4-FFF2-40B4-BE49-F238E27FC236}">
                <a16:creationId xmlns:a16="http://schemas.microsoft.com/office/drawing/2014/main" id="{94654928-60F3-035F-1D65-AA50D75C1F50}"/>
              </a:ext>
            </a:extLst>
          </p:cNvPr>
          <p:cNvSpPr/>
          <p:nvPr/>
        </p:nvSpPr>
        <p:spPr>
          <a:xfrm>
            <a:off x="8077200" y="1943100"/>
            <a:ext cx="3479800" cy="1130300"/>
          </a:xfrm>
          <a:prstGeom prst="roundRect">
            <a:avLst/>
          </a:prstGeom>
          <a:solidFill>
            <a:srgbClr val="FFFFFF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vi-VN"/>
          </a:p>
        </p:txBody>
      </p:sp>
      <p:sp>
        <p:nvSpPr>
          <p:cNvPr id="13" name="Hình chữ nhật 12">
            <a:extLst>
              <a:ext uri="{FF2B5EF4-FFF2-40B4-BE49-F238E27FC236}">
                <a16:creationId xmlns:a16="http://schemas.microsoft.com/office/drawing/2014/main" id="{232FFF61-E949-2AD5-7F89-F0537ABD3F4C}"/>
              </a:ext>
            </a:extLst>
          </p:cNvPr>
          <p:cNvSpPr/>
          <p:nvPr/>
        </p:nvSpPr>
        <p:spPr>
          <a:xfrm>
            <a:off x="8077200" y="1943100"/>
            <a:ext cx="63500" cy="1130300"/>
          </a:xfrm>
          <a:prstGeom prst="rect">
            <a:avLst/>
          </a:prstGeom>
          <a:solidFill>
            <a:srgbClr val="17685D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vi-VN"/>
          </a:p>
        </p:txBody>
      </p:sp>
      <p:sp>
        <p:nvSpPr>
          <p:cNvPr id="14" name="Hộp Văn bản 13">
            <a:extLst>
              <a:ext uri="{FF2B5EF4-FFF2-40B4-BE49-F238E27FC236}">
                <a16:creationId xmlns:a16="http://schemas.microsoft.com/office/drawing/2014/main" id="{57EF3037-2E2B-ED34-9029-38277EA895AA}"/>
              </a:ext>
            </a:extLst>
          </p:cNvPr>
          <p:cNvSpPr txBox="1"/>
          <p:nvPr/>
        </p:nvSpPr>
        <p:spPr>
          <a:xfrm>
            <a:off x="8267700" y="2082800"/>
            <a:ext cx="3136900" cy="216085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pPr>
              <a:spcAft>
                <a:spcPts val="400"/>
              </a:spcAft>
            </a:pPr>
            <a:r>
              <a:rPr lang="vi-VN" sz="1400" b="1">
                <a:solidFill>
                  <a:srgbClr val="153F3A"/>
                </a:solidFill>
                <a:latin typeface="Aptos" panose="020B0004020202020204" pitchFamily="34" charset="0"/>
              </a:rPr>
              <a:t>Liên kết</a:t>
            </a:r>
          </a:p>
        </p:txBody>
      </p:sp>
      <p:sp>
        <p:nvSpPr>
          <p:cNvPr id="15" name="Hộp Văn bản 14">
            <a:extLst>
              <a:ext uri="{FF2B5EF4-FFF2-40B4-BE49-F238E27FC236}">
                <a16:creationId xmlns:a16="http://schemas.microsoft.com/office/drawing/2014/main" id="{965CC235-45E6-3855-1F7A-5173C8A6171E}"/>
              </a:ext>
            </a:extLst>
          </p:cNvPr>
          <p:cNvSpPr txBox="1"/>
          <p:nvPr/>
        </p:nvSpPr>
        <p:spPr>
          <a:xfrm>
            <a:off x="8267700" y="2476500"/>
            <a:ext cx="3136900" cy="216085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pPr>
              <a:spcAft>
                <a:spcPts val="400"/>
              </a:spcAft>
            </a:pPr>
            <a:r>
              <a:rPr lang="vi-VN" sz="1100">
                <a:solidFill>
                  <a:srgbClr val="657875"/>
                </a:solidFill>
                <a:latin typeface="Aptos" panose="020B0004020202020204" pitchFamily="34" charset="0"/>
              </a:rPr>
              <a:t>Mỗi EMR gắn một-một với lịch hẹn.</a:t>
            </a:r>
          </a:p>
        </p:txBody>
      </p:sp>
      <p:sp>
        <p:nvSpPr>
          <p:cNvPr id="16" name="Hình chữ nhật: Góc Tròn 15">
            <a:extLst>
              <a:ext uri="{FF2B5EF4-FFF2-40B4-BE49-F238E27FC236}">
                <a16:creationId xmlns:a16="http://schemas.microsoft.com/office/drawing/2014/main" id="{C53CD706-E3B6-1B79-F1B3-925988D13E9A}"/>
              </a:ext>
            </a:extLst>
          </p:cNvPr>
          <p:cNvSpPr/>
          <p:nvPr/>
        </p:nvSpPr>
        <p:spPr>
          <a:xfrm>
            <a:off x="8077200" y="3314700"/>
            <a:ext cx="3479800" cy="1130300"/>
          </a:xfrm>
          <a:prstGeom prst="roundRect">
            <a:avLst/>
          </a:prstGeom>
          <a:solidFill>
            <a:srgbClr val="FFFFFF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vi-VN"/>
          </a:p>
        </p:txBody>
      </p:sp>
      <p:sp>
        <p:nvSpPr>
          <p:cNvPr id="17" name="Hình chữ nhật 16">
            <a:extLst>
              <a:ext uri="{FF2B5EF4-FFF2-40B4-BE49-F238E27FC236}">
                <a16:creationId xmlns:a16="http://schemas.microsoft.com/office/drawing/2014/main" id="{6360D1F1-05D6-A5FD-01C3-A1D711A27A06}"/>
              </a:ext>
            </a:extLst>
          </p:cNvPr>
          <p:cNvSpPr/>
          <p:nvPr/>
        </p:nvSpPr>
        <p:spPr>
          <a:xfrm>
            <a:off x="8077200" y="3314700"/>
            <a:ext cx="63500" cy="1130300"/>
          </a:xfrm>
          <a:prstGeom prst="rect">
            <a:avLst/>
          </a:prstGeom>
          <a:solidFill>
            <a:srgbClr val="D4A64A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vi-VN"/>
          </a:p>
        </p:txBody>
      </p:sp>
      <p:sp>
        <p:nvSpPr>
          <p:cNvPr id="18" name="Hộp Văn bản 17">
            <a:extLst>
              <a:ext uri="{FF2B5EF4-FFF2-40B4-BE49-F238E27FC236}">
                <a16:creationId xmlns:a16="http://schemas.microsoft.com/office/drawing/2014/main" id="{DD87B7E7-EFAE-E3F2-8346-5F6140CCB6C6}"/>
              </a:ext>
            </a:extLst>
          </p:cNvPr>
          <p:cNvSpPr txBox="1"/>
          <p:nvPr/>
        </p:nvSpPr>
        <p:spPr>
          <a:xfrm>
            <a:off x="8267700" y="3454400"/>
            <a:ext cx="3136900" cy="216085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pPr>
              <a:spcAft>
                <a:spcPts val="400"/>
              </a:spcAft>
            </a:pPr>
            <a:r>
              <a:rPr lang="vi-VN" sz="1400" b="1">
                <a:solidFill>
                  <a:srgbClr val="153F3A"/>
                </a:solidFill>
                <a:latin typeface="Aptos" panose="020B0004020202020204" pitchFamily="34" charset="0"/>
              </a:rPr>
              <a:t>Ghi nhận</a:t>
            </a:r>
          </a:p>
        </p:txBody>
      </p:sp>
      <p:sp>
        <p:nvSpPr>
          <p:cNvPr id="19" name="Hộp Văn bản 18">
            <a:extLst>
              <a:ext uri="{FF2B5EF4-FFF2-40B4-BE49-F238E27FC236}">
                <a16:creationId xmlns:a16="http://schemas.microsoft.com/office/drawing/2014/main" id="{2AF9B50A-9132-8F66-DCD4-6ABE48BEAF0A}"/>
              </a:ext>
            </a:extLst>
          </p:cNvPr>
          <p:cNvSpPr txBox="1"/>
          <p:nvPr/>
        </p:nvSpPr>
        <p:spPr>
          <a:xfrm>
            <a:off x="8267700" y="3848100"/>
            <a:ext cx="3136900" cy="216085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pPr>
              <a:spcAft>
                <a:spcPts val="400"/>
              </a:spcAft>
            </a:pPr>
            <a:r>
              <a:rPr lang="vi-VN" sz="1100">
                <a:solidFill>
                  <a:srgbClr val="657875"/>
                </a:solidFill>
                <a:latin typeface="Aptos" panose="020B0004020202020204" pitchFamily="34" charset="0"/>
              </a:rPr>
              <a:t>Chẩn đoán, hướng điều trị, răng và dịch vụ.</a:t>
            </a:r>
          </a:p>
        </p:txBody>
      </p:sp>
      <p:sp>
        <p:nvSpPr>
          <p:cNvPr id="20" name="Hình chữ nhật: Góc Tròn 19">
            <a:extLst>
              <a:ext uri="{FF2B5EF4-FFF2-40B4-BE49-F238E27FC236}">
                <a16:creationId xmlns:a16="http://schemas.microsoft.com/office/drawing/2014/main" id="{E60D709B-C05F-CABF-1F38-64668A4C6108}"/>
              </a:ext>
            </a:extLst>
          </p:cNvPr>
          <p:cNvSpPr/>
          <p:nvPr/>
        </p:nvSpPr>
        <p:spPr>
          <a:xfrm>
            <a:off x="8077200" y="4686300"/>
            <a:ext cx="3479800" cy="1130300"/>
          </a:xfrm>
          <a:prstGeom prst="roundRect">
            <a:avLst/>
          </a:prstGeom>
          <a:solidFill>
            <a:srgbClr val="E7F1EC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vi-VN"/>
          </a:p>
        </p:txBody>
      </p:sp>
      <p:sp>
        <p:nvSpPr>
          <p:cNvPr id="21" name="Hình chữ nhật: Góc Tròn 20">
            <a:extLst>
              <a:ext uri="{FF2B5EF4-FFF2-40B4-BE49-F238E27FC236}">
                <a16:creationId xmlns:a16="http://schemas.microsoft.com/office/drawing/2014/main" id="{D6332773-AB48-75EB-06FC-29EAA56F1476}"/>
              </a:ext>
            </a:extLst>
          </p:cNvPr>
          <p:cNvSpPr/>
          <p:nvPr/>
        </p:nvSpPr>
        <p:spPr>
          <a:xfrm>
            <a:off x="8255000" y="4851400"/>
            <a:ext cx="2044700" cy="279400"/>
          </a:xfrm>
          <a:prstGeom prst="roundRect">
            <a:avLst/>
          </a:prstGeom>
          <a:solidFill>
            <a:srgbClr val="FFFFFF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vi-VN"/>
          </a:p>
        </p:txBody>
      </p:sp>
      <p:sp>
        <p:nvSpPr>
          <p:cNvPr id="22" name="Hộp Văn bản 21">
            <a:extLst>
              <a:ext uri="{FF2B5EF4-FFF2-40B4-BE49-F238E27FC236}">
                <a16:creationId xmlns:a16="http://schemas.microsoft.com/office/drawing/2014/main" id="{22B670F0-DE80-5E90-B48D-8D01FF58D311}"/>
              </a:ext>
            </a:extLst>
          </p:cNvPr>
          <p:cNvSpPr txBox="1"/>
          <p:nvPr/>
        </p:nvSpPr>
        <p:spPr>
          <a:xfrm>
            <a:off x="8331200" y="4889500"/>
            <a:ext cx="1892300" cy="216085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pPr algn="ctr">
              <a:spcAft>
                <a:spcPts val="400"/>
              </a:spcAft>
            </a:pPr>
            <a:r>
              <a:rPr lang="vi-VN" sz="900" b="1">
                <a:solidFill>
                  <a:srgbClr val="17685D"/>
                </a:solidFill>
                <a:latin typeface="Aptos" panose="020B0004020202020204" pitchFamily="34" charset="0"/>
              </a:rPr>
              <a:t>AI SUMMARY · ĐỀ XUẤT</a:t>
            </a:r>
          </a:p>
        </p:txBody>
      </p:sp>
      <p:sp>
        <p:nvSpPr>
          <p:cNvPr id="23" name="Hộp Văn bản 22">
            <a:extLst>
              <a:ext uri="{FF2B5EF4-FFF2-40B4-BE49-F238E27FC236}">
                <a16:creationId xmlns:a16="http://schemas.microsoft.com/office/drawing/2014/main" id="{3EC1DB1C-19B4-7AEF-42CE-A728358B589B}"/>
              </a:ext>
            </a:extLst>
          </p:cNvPr>
          <p:cNvSpPr txBox="1"/>
          <p:nvPr/>
        </p:nvSpPr>
        <p:spPr>
          <a:xfrm>
            <a:off x="8255000" y="5270500"/>
            <a:ext cx="3111500" cy="216085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pPr>
              <a:spcAft>
                <a:spcPts val="400"/>
              </a:spcAft>
            </a:pPr>
            <a:r>
              <a:rPr lang="vi-VN" sz="1100">
                <a:solidFill>
                  <a:srgbClr val="657875"/>
                </a:solidFill>
                <a:latin typeface="Aptos" panose="020B0004020202020204" pitchFamily="34" charset="0"/>
              </a:rPr>
              <a:t>AI tóm tắt EMR chưa được triển khai.</a:t>
            </a:r>
          </a:p>
        </p:txBody>
      </p:sp>
    </p:spTree>
    <p:extLst>
      <p:ext uri="{BB962C8B-B14F-4D97-AF65-F5344CB8AC3E}">
        <p14:creationId xmlns:p14="http://schemas.microsoft.com/office/powerpoint/2010/main" val="2292462234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ộp Văn bản 1">
            <a:extLst>
              <a:ext uri="{FF2B5EF4-FFF2-40B4-BE49-F238E27FC236}">
                <a16:creationId xmlns:a16="http://schemas.microsoft.com/office/drawing/2014/main" id="{05578F68-4C9E-A017-D428-7DBFE7CF88BA}"/>
              </a:ext>
            </a:extLst>
          </p:cNvPr>
          <p:cNvSpPr txBox="1"/>
          <p:nvPr/>
        </p:nvSpPr>
        <p:spPr>
          <a:xfrm>
            <a:off x="533400" y="254000"/>
            <a:ext cx="10795000" cy="216085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pPr>
              <a:spcAft>
                <a:spcPts val="400"/>
              </a:spcAft>
            </a:pPr>
            <a:r>
              <a:rPr lang="vi-VN" sz="900" b="1">
                <a:solidFill>
                  <a:srgbClr val="17685D"/>
                </a:solidFill>
                <a:latin typeface="Aptos" panose="020B0004020202020204" pitchFamily="34" charset="0"/>
              </a:rPr>
              <a:t>06 / THANH TOÁN</a:t>
            </a:r>
          </a:p>
        </p:txBody>
      </p:sp>
      <p:sp>
        <p:nvSpPr>
          <p:cNvPr id="3" name="Hộp Văn bản 2">
            <a:extLst>
              <a:ext uri="{FF2B5EF4-FFF2-40B4-BE49-F238E27FC236}">
                <a16:creationId xmlns:a16="http://schemas.microsoft.com/office/drawing/2014/main" id="{AE27749C-C077-480C-EFA0-0B0944FF7A12}"/>
              </a:ext>
            </a:extLst>
          </p:cNvPr>
          <p:cNvSpPr txBox="1"/>
          <p:nvPr/>
        </p:nvSpPr>
        <p:spPr>
          <a:xfrm>
            <a:off x="533400" y="571500"/>
            <a:ext cx="11125200" cy="216085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pPr>
              <a:spcAft>
                <a:spcPts val="400"/>
              </a:spcAft>
            </a:pPr>
            <a:r>
              <a:rPr lang="vi-VN" sz="2200" b="1">
                <a:solidFill>
                  <a:srgbClr val="153F3A"/>
                </a:solidFill>
                <a:latin typeface="Aptos" panose="020B0004020202020204" pitchFamily="34" charset="0"/>
              </a:rPr>
              <a:t>Tính tiền từ dịch vụ, lưu trạng thái giao dịch</a:t>
            </a:r>
          </a:p>
        </p:txBody>
      </p:sp>
      <p:sp>
        <p:nvSpPr>
          <p:cNvPr id="4" name="Hộp Văn bản 3">
            <a:extLst>
              <a:ext uri="{FF2B5EF4-FFF2-40B4-BE49-F238E27FC236}">
                <a16:creationId xmlns:a16="http://schemas.microsoft.com/office/drawing/2014/main" id="{00CD3496-3BDA-A816-3459-A380226198F1}"/>
              </a:ext>
            </a:extLst>
          </p:cNvPr>
          <p:cNvSpPr txBox="1"/>
          <p:nvPr/>
        </p:nvSpPr>
        <p:spPr>
          <a:xfrm>
            <a:off x="558800" y="1155700"/>
            <a:ext cx="10985500" cy="216085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pPr>
              <a:spcAft>
                <a:spcPts val="400"/>
              </a:spcAft>
            </a:pPr>
            <a:r>
              <a:rPr lang="vi-VN" sz="1100">
                <a:solidFill>
                  <a:srgbClr val="657875"/>
                </a:solidFill>
                <a:latin typeface="Aptos" panose="020B0004020202020204" pitchFamily="34" charset="0"/>
              </a:rPr>
              <a:t>Hóa đơn giữ đơn giá tại thời điểm phát hành; giao dịch có phương thức và trạng thái.</a:t>
            </a:r>
          </a:p>
        </p:txBody>
      </p:sp>
      <p:sp>
        <p:nvSpPr>
          <p:cNvPr id="5" name="Hình chữ nhật 4">
            <a:extLst>
              <a:ext uri="{FF2B5EF4-FFF2-40B4-BE49-F238E27FC236}">
                <a16:creationId xmlns:a16="http://schemas.microsoft.com/office/drawing/2014/main" id="{7E7E8D70-7D13-78CE-9AFA-A4CCD2B015A6}"/>
              </a:ext>
            </a:extLst>
          </p:cNvPr>
          <p:cNvSpPr/>
          <p:nvPr/>
        </p:nvSpPr>
        <p:spPr>
          <a:xfrm>
            <a:off x="533400" y="6489700"/>
            <a:ext cx="11125200" cy="12700"/>
          </a:xfrm>
          <a:prstGeom prst="rect">
            <a:avLst/>
          </a:prstGeom>
          <a:solidFill>
            <a:srgbClr val="DCE4DE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vi-VN"/>
          </a:p>
        </p:txBody>
      </p:sp>
      <p:sp>
        <p:nvSpPr>
          <p:cNvPr id="6" name="Hộp Văn bản 5">
            <a:extLst>
              <a:ext uri="{FF2B5EF4-FFF2-40B4-BE49-F238E27FC236}">
                <a16:creationId xmlns:a16="http://schemas.microsoft.com/office/drawing/2014/main" id="{F26C1D9C-8939-A6D0-8372-4312A86D2AF0}"/>
              </a:ext>
            </a:extLst>
          </p:cNvPr>
          <p:cNvSpPr txBox="1"/>
          <p:nvPr/>
        </p:nvSpPr>
        <p:spPr>
          <a:xfrm>
            <a:off x="546100" y="6565900"/>
            <a:ext cx="8890000" cy="216085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pPr>
              <a:spcAft>
                <a:spcPts val="400"/>
              </a:spcAft>
            </a:pPr>
            <a:r>
              <a:rPr lang="vi-VN" sz="800">
                <a:solidFill>
                  <a:srgbClr val="657875"/>
                </a:solidFill>
                <a:latin typeface="Aptos" panose="020B0004020202020204" pitchFamily="34" charset="0"/>
              </a:rPr>
              <a:t>DMS  •  Dental Management System</a:t>
            </a:r>
          </a:p>
        </p:txBody>
      </p:sp>
      <p:sp>
        <p:nvSpPr>
          <p:cNvPr id="7" name="Hộp Văn bản 6">
            <a:extLst>
              <a:ext uri="{FF2B5EF4-FFF2-40B4-BE49-F238E27FC236}">
                <a16:creationId xmlns:a16="http://schemas.microsoft.com/office/drawing/2014/main" id="{FBD0EA73-AF87-1674-011D-DA0704C5999A}"/>
              </a:ext>
            </a:extLst>
          </p:cNvPr>
          <p:cNvSpPr txBox="1"/>
          <p:nvPr/>
        </p:nvSpPr>
        <p:spPr>
          <a:xfrm>
            <a:off x="10883900" y="6553200"/>
            <a:ext cx="774700" cy="216085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pPr algn="r">
              <a:spcAft>
                <a:spcPts val="400"/>
              </a:spcAft>
            </a:pPr>
            <a:r>
              <a:rPr lang="vi-VN" sz="900">
                <a:solidFill>
                  <a:srgbClr val="657875"/>
                </a:solidFill>
                <a:latin typeface="Aptos" panose="020B0004020202020204" pitchFamily="34" charset="0"/>
              </a:rPr>
              <a:t>07 / 12</a:t>
            </a:r>
          </a:p>
        </p:txBody>
      </p:sp>
      <p:sp>
        <p:nvSpPr>
          <p:cNvPr id="8" name="Hình chữ nhật: Góc Tròn 7">
            <a:extLst>
              <a:ext uri="{FF2B5EF4-FFF2-40B4-BE49-F238E27FC236}">
                <a16:creationId xmlns:a16="http://schemas.microsoft.com/office/drawing/2014/main" id="{7F8752AD-5ADE-3A77-4506-1F43D6210DC0}"/>
              </a:ext>
            </a:extLst>
          </p:cNvPr>
          <p:cNvSpPr/>
          <p:nvPr/>
        </p:nvSpPr>
        <p:spPr>
          <a:xfrm>
            <a:off x="495300" y="1739900"/>
            <a:ext cx="7188200" cy="4533900"/>
          </a:xfrm>
          <a:prstGeom prst="roundRect">
            <a:avLst/>
          </a:prstGeom>
          <a:solidFill>
            <a:srgbClr val="FFFFFF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vi-VN"/>
          </a:p>
        </p:txBody>
      </p:sp>
      <p:pic>
        <p:nvPicPr>
          <p:cNvPr id="10" name="Hình ảnh 9">
            <a:extLst>
              <a:ext uri="{FF2B5EF4-FFF2-40B4-BE49-F238E27FC236}">
                <a16:creationId xmlns:a16="http://schemas.microsoft.com/office/drawing/2014/main" id="{8B3067E2-596D-0B36-62E2-C4627F761F16}"/>
              </a:ext>
            </a:extLst>
          </p:cNvPr>
          <p:cNvPicPr>
            <a:picLocks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46100" y="1790700"/>
            <a:ext cx="7086600" cy="4432300"/>
          </a:xfrm>
          <a:prstGeom prst="rect">
            <a:avLst/>
          </a:prstGeom>
        </p:spPr>
      </p:pic>
      <p:sp>
        <p:nvSpPr>
          <p:cNvPr id="11" name="Hộp Văn bản 10">
            <a:extLst>
              <a:ext uri="{FF2B5EF4-FFF2-40B4-BE49-F238E27FC236}">
                <a16:creationId xmlns:a16="http://schemas.microsoft.com/office/drawing/2014/main" id="{22007A60-A171-4E29-4D5A-7793645BE6BD}"/>
              </a:ext>
            </a:extLst>
          </p:cNvPr>
          <p:cNvSpPr txBox="1"/>
          <p:nvPr/>
        </p:nvSpPr>
        <p:spPr>
          <a:xfrm>
            <a:off x="596900" y="6273800"/>
            <a:ext cx="6959600" cy="216085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pPr algn="r">
              <a:spcAft>
                <a:spcPts val="400"/>
              </a:spcAft>
            </a:pPr>
            <a:r>
              <a:rPr lang="vi-VN" sz="800">
                <a:solidFill>
                  <a:srgbClr val="657875"/>
                </a:solidFill>
                <a:latin typeface="Aptos" panose="020B0004020202020204" pitchFamily="34" charset="0"/>
              </a:rPr>
              <a:t>Hộp thoại thật · hóa đơn demo</a:t>
            </a:r>
          </a:p>
        </p:txBody>
      </p:sp>
      <p:sp>
        <p:nvSpPr>
          <p:cNvPr id="12" name="Hình chữ nhật: Góc Tròn 11">
            <a:extLst>
              <a:ext uri="{FF2B5EF4-FFF2-40B4-BE49-F238E27FC236}">
                <a16:creationId xmlns:a16="http://schemas.microsoft.com/office/drawing/2014/main" id="{FC126E1F-C294-5227-F524-4C9FB2C12B1A}"/>
              </a:ext>
            </a:extLst>
          </p:cNvPr>
          <p:cNvSpPr/>
          <p:nvPr/>
        </p:nvSpPr>
        <p:spPr>
          <a:xfrm>
            <a:off x="8077200" y="1943100"/>
            <a:ext cx="3479800" cy="1130300"/>
          </a:xfrm>
          <a:prstGeom prst="roundRect">
            <a:avLst/>
          </a:prstGeom>
          <a:solidFill>
            <a:srgbClr val="FFFFFF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vi-VN"/>
          </a:p>
        </p:txBody>
      </p:sp>
      <p:sp>
        <p:nvSpPr>
          <p:cNvPr id="13" name="Hình chữ nhật 12">
            <a:extLst>
              <a:ext uri="{FF2B5EF4-FFF2-40B4-BE49-F238E27FC236}">
                <a16:creationId xmlns:a16="http://schemas.microsoft.com/office/drawing/2014/main" id="{2DCA60F3-70F9-BE85-BB69-4AA5F5099F54}"/>
              </a:ext>
            </a:extLst>
          </p:cNvPr>
          <p:cNvSpPr/>
          <p:nvPr/>
        </p:nvSpPr>
        <p:spPr>
          <a:xfrm>
            <a:off x="8077200" y="1943100"/>
            <a:ext cx="63500" cy="1130300"/>
          </a:xfrm>
          <a:prstGeom prst="rect">
            <a:avLst/>
          </a:prstGeom>
          <a:solidFill>
            <a:srgbClr val="17685D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vi-VN"/>
          </a:p>
        </p:txBody>
      </p:sp>
      <p:sp>
        <p:nvSpPr>
          <p:cNvPr id="14" name="Hộp Văn bản 13">
            <a:extLst>
              <a:ext uri="{FF2B5EF4-FFF2-40B4-BE49-F238E27FC236}">
                <a16:creationId xmlns:a16="http://schemas.microsoft.com/office/drawing/2014/main" id="{98FA2401-7790-B727-9D4E-B0BD7DC1589A}"/>
              </a:ext>
            </a:extLst>
          </p:cNvPr>
          <p:cNvSpPr txBox="1"/>
          <p:nvPr/>
        </p:nvSpPr>
        <p:spPr>
          <a:xfrm>
            <a:off x="8267700" y="2082800"/>
            <a:ext cx="3136900" cy="216085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pPr>
              <a:spcAft>
                <a:spcPts val="400"/>
              </a:spcAft>
            </a:pPr>
            <a:r>
              <a:rPr lang="vi-VN" sz="1400" b="1">
                <a:solidFill>
                  <a:srgbClr val="153F3A"/>
                </a:solidFill>
                <a:latin typeface="Aptos" panose="020B0004020202020204" pitchFamily="34" charset="0"/>
              </a:rPr>
              <a:t>Tiền mặt</a:t>
            </a:r>
          </a:p>
        </p:txBody>
      </p:sp>
      <p:sp>
        <p:nvSpPr>
          <p:cNvPr id="15" name="Hộp Văn bản 14">
            <a:extLst>
              <a:ext uri="{FF2B5EF4-FFF2-40B4-BE49-F238E27FC236}">
                <a16:creationId xmlns:a16="http://schemas.microsoft.com/office/drawing/2014/main" id="{9AFA6B5C-2FF9-54CF-9431-197490A66B76}"/>
              </a:ext>
            </a:extLst>
          </p:cNvPr>
          <p:cNvSpPr txBox="1"/>
          <p:nvPr/>
        </p:nvSpPr>
        <p:spPr>
          <a:xfrm>
            <a:off x="8267700" y="2476500"/>
            <a:ext cx="3136900" cy="216085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pPr>
              <a:spcAft>
                <a:spcPts val="400"/>
              </a:spcAft>
            </a:pPr>
            <a:r>
              <a:rPr lang="vi-VN" sz="1100">
                <a:solidFill>
                  <a:srgbClr val="657875"/>
                </a:solidFill>
                <a:latin typeface="Aptos" panose="020B0004020202020204" pitchFamily="34" charset="0"/>
              </a:rPr>
              <a:t>Xác nhận đủ số dư; ghi giao dịch COMPLETED.</a:t>
            </a:r>
          </a:p>
        </p:txBody>
      </p:sp>
      <p:sp>
        <p:nvSpPr>
          <p:cNvPr id="16" name="Hình chữ nhật: Góc Tròn 15">
            <a:extLst>
              <a:ext uri="{FF2B5EF4-FFF2-40B4-BE49-F238E27FC236}">
                <a16:creationId xmlns:a16="http://schemas.microsoft.com/office/drawing/2014/main" id="{5F69BABD-14D9-8614-AD7F-2CFC03BBE0FB}"/>
              </a:ext>
            </a:extLst>
          </p:cNvPr>
          <p:cNvSpPr/>
          <p:nvPr/>
        </p:nvSpPr>
        <p:spPr>
          <a:xfrm>
            <a:off x="8077200" y="3314700"/>
            <a:ext cx="3479800" cy="1130300"/>
          </a:xfrm>
          <a:prstGeom prst="roundRect">
            <a:avLst/>
          </a:prstGeom>
          <a:solidFill>
            <a:srgbClr val="FFFFFF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vi-VN"/>
          </a:p>
        </p:txBody>
      </p:sp>
      <p:sp>
        <p:nvSpPr>
          <p:cNvPr id="17" name="Hình chữ nhật 16">
            <a:extLst>
              <a:ext uri="{FF2B5EF4-FFF2-40B4-BE49-F238E27FC236}">
                <a16:creationId xmlns:a16="http://schemas.microsoft.com/office/drawing/2014/main" id="{A302FF46-4B37-F67A-C468-747D636BF5DF}"/>
              </a:ext>
            </a:extLst>
          </p:cNvPr>
          <p:cNvSpPr/>
          <p:nvPr/>
        </p:nvSpPr>
        <p:spPr>
          <a:xfrm>
            <a:off x="8077200" y="3314700"/>
            <a:ext cx="63500" cy="1130300"/>
          </a:xfrm>
          <a:prstGeom prst="rect">
            <a:avLst/>
          </a:prstGeom>
          <a:solidFill>
            <a:srgbClr val="D4A64A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vi-VN"/>
          </a:p>
        </p:txBody>
      </p:sp>
      <p:sp>
        <p:nvSpPr>
          <p:cNvPr id="18" name="Hộp Văn bản 17">
            <a:extLst>
              <a:ext uri="{FF2B5EF4-FFF2-40B4-BE49-F238E27FC236}">
                <a16:creationId xmlns:a16="http://schemas.microsoft.com/office/drawing/2014/main" id="{B21293E3-DED0-6C1C-116C-12966073966B}"/>
              </a:ext>
            </a:extLst>
          </p:cNvPr>
          <p:cNvSpPr txBox="1"/>
          <p:nvPr/>
        </p:nvSpPr>
        <p:spPr>
          <a:xfrm>
            <a:off x="8267700" y="3454400"/>
            <a:ext cx="3136900" cy="216085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pPr>
              <a:spcAft>
                <a:spcPts val="400"/>
              </a:spcAft>
            </a:pPr>
            <a:r>
              <a:rPr lang="vi-VN" sz="1400" b="1">
                <a:solidFill>
                  <a:srgbClr val="153F3A"/>
                </a:solidFill>
                <a:latin typeface="Aptos" panose="020B0004020202020204" pitchFamily="34" charset="0"/>
              </a:rPr>
              <a:t>QR</a:t>
            </a:r>
          </a:p>
        </p:txBody>
      </p:sp>
      <p:sp>
        <p:nvSpPr>
          <p:cNvPr id="19" name="Hộp Văn bản 18">
            <a:extLst>
              <a:ext uri="{FF2B5EF4-FFF2-40B4-BE49-F238E27FC236}">
                <a16:creationId xmlns:a16="http://schemas.microsoft.com/office/drawing/2014/main" id="{0A866536-46FF-FDDD-47E4-D8982E1F9A6E}"/>
              </a:ext>
            </a:extLst>
          </p:cNvPr>
          <p:cNvSpPr txBox="1"/>
          <p:nvPr/>
        </p:nvSpPr>
        <p:spPr>
          <a:xfrm>
            <a:off x="8267700" y="3848100"/>
            <a:ext cx="3136900" cy="216085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pPr>
              <a:spcAft>
                <a:spcPts val="400"/>
              </a:spcAft>
            </a:pPr>
            <a:r>
              <a:rPr lang="vi-VN" sz="1100">
                <a:solidFill>
                  <a:srgbClr val="657875"/>
                </a:solidFill>
                <a:latin typeface="Aptos" panose="020B0004020202020204" pitchFamily="34" charset="0"/>
              </a:rPr>
              <a:t>Tạo QR chỉ tạo giao dịch PENDING, chưa đồng nghĩa đã nhận tiền.</a:t>
            </a:r>
          </a:p>
        </p:txBody>
      </p:sp>
      <p:sp>
        <p:nvSpPr>
          <p:cNvPr id="20" name="Hình chữ nhật: Góc Tròn 19">
            <a:extLst>
              <a:ext uri="{FF2B5EF4-FFF2-40B4-BE49-F238E27FC236}">
                <a16:creationId xmlns:a16="http://schemas.microsoft.com/office/drawing/2014/main" id="{5EBE7E1B-0BD3-3A84-27D2-ABDDE44E139C}"/>
              </a:ext>
            </a:extLst>
          </p:cNvPr>
          <p:cNvSpPr/>
          <p:nvPr/>
        </p:nvSpPr>
        <p:spPr>
          <a:xfrm>
            <a:off x="8077200" y="4686300"/>
            <a:ext cx="3479800" cy="1130300"/>
          </a:xfrm>
          <a:prstGeom prst="roundRect">
            <a:avLst/>
          </a:prstGeom>
          <a:solidFill>
            <a:srgbClr val="FFFFFF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vi-VN"/>
          </a:p>
        </p:txBody>
      </p:sp>
      <p:sp>
        <p:nvSpPr>
          <p:cNvPr id="21" name="Hình chữ nhật 20">
            <a:extLst>
              <a:ext uri="{FF2B5EF4-FFF2-40B4-BE49-F238E27FC236}">
                <a16:creationId xmlns:a16="http://schemas.microsoft.com/office/drawing/2014/main" id="{3617EA6D-6D55-4D5E-6442-C9374D215D02}"/>
              </a:ext>
            </a:extLst>
          </p:cNvPr>
          <p:cNvSpPr/>
          <p:nvPr/>
        </p:nvSpPr>
        <p:spPr>
          <a:xfrm>
            <a:off x="8077200" y="4686300"/>
            <a:ext cx="63500" cy="1130300"/>
          </a:xfrm>
          <a:prstGeom prst="rect">
            <a:avLst/>
          </a:prstGeom>
          <a:solidFill>
            <a:srgbClr val="CF755F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vi-VN"/>
          </a:p>
        </p:txBody>
      </p:sp>
      <p:sp>
        <p:nvSpPr>
          <p:cNvPr id="22" name="Hộp Văn bản 21">
            <a:extLst>
              <a:ext uri="{FF2B5EF4-FFF2-40B4-BE49-F238E27FC236}">
                <a16:creationId xmlns:a16="http://schemas.microsoft.com/office/drawing/2014/main" id="{5D091BC2-FA5B-21B8-D9AF-87EB725BF093}"/>
              </a:ext>
            </a:extLst>
          </p:cNvPr>
          <p:cNvSpPr txBox="1"/>
          <p:nvPr/>
        </p:nvSpPr>
        <p:spPr>
          <a:xfrm>
            <a:off x="8267700" y="4826000"/>
            <a:ext cx="3136900" cy="216085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pPr>
              <a:spcAft>
                <a:spcPts val="400"/>
              </a:spcAft>
            </a:pPr>
            <a:r>
              <a:rPr lang="vi-VN" sz="1400" b="1">
                <a:solidFill>
                  <a:srgbClr val="153F3A"/>
                </a:solidFill>
                <a:latin typeface="Aptos" panose="020B0004020202020204" pitchFamily="34" charset="0"/>
              </a:rPr>
              <a:t>Đối soát</a:t>
            </a:r>
          </a:p>
        </p:txBody>
      </p:sp>
      <p:sp>
        <p:nvSpPr>
          <p:cNvPr id="23" name="Hộp Văn bản 22">
            <a:extLst>
              <a:ext uri="{FF2B5EF4-FFF2-40B4-BE49-F238E27FC236}">
                <a16:creationId xmlns:a16="http://schemas.microsoft.com/office/drawing/2014/main" id="{6DBFE669-0DDA-BE78-8A3D-737F8799B8B2}"/>
              </a:ext>
            </a:extLst>
          </p:cNvPr>
          <p:cNvSpPr txBox="1"/>
          <p:nvPr/>
        </p:nvSpPr>
        <p:spPr>
          <a:xfrm>
            <a:off x="8267700" y="5219700"/>
            <a:ext cx="3136900" cy="216085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pPr>
              <a:spcAft>
                <a:spcPts val="400"/>
              </a:spcAft>
            </a:pPr>
            <a:r>
              <a:rPr lang="vi-VN" sz="1100">
                <a:solidFill>
                  <a:srgbClr val="657875"/>
                </a:solidFill>
                <a:latin typeface="Aptos" panose="020B0004020202020204" pitchFamily="34" charset="0"/>
              </a:rPr>
              <a:t>Nhân viên khớp tiền + mã tham chiếu, lưu người xác minh.</a:t>
            </a:r>
          </a:p>
        </p:txBody>
      </p:sp>
    </p:spTree>
    <p:extLst>
      <p:ext uri="{BB962C8B-B14F-4D97-AF65-F5344CB8AC3E}">
        <p14:creationId xmlns:p14="http://schemas.microsoft.com/office/powerpoint/2010/main" val="3324848488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ộp Văn bản 1">
            <a:extLst>
              <a:ext uri="{FF2B5EF4-FFF2-40B4-BE49-F238E27FC236}">
                <a16:creationId xmlns:a16="http://schemas.microsoft.com/office/drawing/2014/main" id="{6C062F1B-A165-D3C1-0296-532E86E596BC}"/>
              </a:ext>
            </a:extLst>
          </p:cNvPr>
          <p:cNvSpPr txBox="1"/>
          <p:nvPr/>
        </p:nvSpPr>
        <p:spPr>
          <a:xfrm>
            <a:off x="533400" y="254000"/>
            <a:ext cx="10795000" cy="216085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pPr>
              <a:spcAft>
                <a:spcPts val="400"/>
              </a:spcAft>
            </a:pPr>
            <a:r>
              <a:rPr lang="vi-VN" sz="900" b="1">
                <a:solidFill>
                  <a:srgbClr val="17685D"/>
                </a:solidFill>
                <a:latin typeface="Aptos" panose="020B0004020202020204" pitchFamily="34" charset="0"/>
              </a:rPr>
              <a:t>07 / CHATBOT</a:t>
            </a:r>
          </a:p>
        </p:txBody>
      </p:sp>
      <p:sp>
        <p:nvSpPr>
          <p:cNvPr id="3" name="Hộp Văn bản 2">
            <a:extLst>
              <a:ext uri="{FF2B5EF4-FFF2-40B4-BE49-F238E27FC236}">
                <a16:creationId xmlns:a16="http://schemas.microsoft.com/office/drawing/2014/main" id="{92BB73D6-2F38-B2C7-76F0-2FDC3093C29A}"/>
              </a:ext>
            </a:extLst>
          </p:cNvPr>
          <p:cNvSpPr txBox="1"/>
          <p:nvPr/>
        </p:nvSpPr>
        <p:spPr>
          <a:xfrm>
            <a:off x="533400" y="571500"/>
            <a:ext cx="11125200" cy="216085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pPr>
              <a:spcAft>
                <a:spcPts val="400"/>
              </a:spcAft>
            </a:pPr>
            <a:r>
              <a:rPr lang="vi-VN" sz="2200" b="1">
                <a:solidFill>
                  <a:srgbClr val="153F3A"/>
                </a:solidFill>
                <a:latin typeface="Aptos" panose="020B0004020202020204" pitchFamily="34" charset="0"/>
              </a:rPr>
              <a:t>Tra cứu theo dữ liệu; không tự bịa câu trả lời</a:t>
            </a:r>
          </a:p>
        </p:txBody>
      </p:sp>
      <p:sp>
        <p:nvSpPr>
          <p:cNvPr id="4" name="Hộp Văn bản 3">
            <a:extLst>
              <a:ext uri="{FF2B5EF4-FFF2-40B4-BE49-F238E27FC236}">
                <a16:creationId xmlns:a16="http://schemas.microsoft.com/office/drawing/2014/main" id="{45569FEC-B6A9-45A6-9433-065ADE730BAF}"/>
              </a:ext>
            </a:extLst>
          </p:cNvPr>
          <p:cNvSpPr txBox="1"/>
          <p:nvPr/>
        </p:nvSpPr>
        <p:spPr>
          <a:xfrm>
            <a:off x="558800" y="1155700"/>
            <a:ext cx="10985500" cy="216085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pPr>
              <a:spcAft>
                <a:spcPts val="400"/>
              </a:spcAft>
            </a:pPr>
            <a:r>
              <a:rPr lang="vi-VN" sz="1100">
                <a:solidFill>
                  <a:srgbClr val="657875"/>
                </a:solidFill>
                <a:latin typeface="Aptos" panose="020B0004020202020204" pitchFamily="34" charset="0"/>
              </a:rPr>
              <a:t>Ví dụ thật: giá dịch vụ lấy từ danh mục đang hoạt động.</a:t>
            </a:r>
          </a:p>
        </p:txBody>
      </p:sp>
      <p:sp>
        <p:nvSpPr>
          <p:cNvPr id="5" name="Hình chữ nhật 4">
            <a:extLst>
              <a:ext uri="{FF2B5EF4-FFF2-40B4-BE49-F238E27FC236}">
                <a16:creationId xmlns:a16="http://schemas.microsoft.com/office/drawing/2014/main" id="{50350E8C-0F7D-3369-8822-C7EF106CC540}"/>
              </a:ext>
            </a:extLst>
          </p:cNvPr>
          <p:cNvSpPr/>
          <p:nvPr/>
        </p:nvSpPr>
        <p:spPr>
          <a:xfrm>
            <a:off x="533400" y="6489700"/>
            <a:ext cx="11125200" cy="12700"/>
          </a:xfrm>
          <a:prstGeom prst="rect">
            <a:avLst/>
          </a:prstGeom>
          <a:solidFill>
            <a:srgbClr val="DCE4DE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vi-VN"/>
          </a:p>
        </p:txBody>
      </p:sp>
      <p:sp>
        <p:nvSpPr>
          <p:cNvPr id="6" name="Hộp Văn bản 5">
            <a:extLst>
              <a:ext uri="{FF2B5EF4-FFF2-40B4-BE49-F238E27FC236}">
                <a16:creationId xmlns:a16="http://schemas.microsoft.com/office/drawing/2014/main" id="{05A74006-301B-3B56-8FC1-DB88E7CB13EE}"/>
              </a:ext>
            </a:extLst>
          </p:cNvPr>
          <p:cNvSpPr txBox="1"/>
          <p:nvPr/>
        </p:nvSpPr>
        <p:spPr>
          <a:xfrm>
            <a:off x="546100" y="6565900"/>
            <a:ext cx="8890000" cy="216085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pPr>
              <a:spcAft>
                <a:spcPts val="400"/>
              </a:spcAft>
            </a:pPr>
            <a:r>
              <a:rPr lang="vi-VN" sz="800">
                <a:solidFill>
                  <a:srgbClr val="657875"/>
                </a:solidFill>
                <a:latin typeface="Aptos" panose="020B0004020202020204" pitchFamily="34" charset="0"/>
              </a:rPr>
              <a:t>DMS  •  Dental Management System</a:t>
            </a:r>
          </a:p>
        </p:txBody>
      </p:sp>
      <p:sp>
        <p:nvSpPr>
          <p:cNvPr id="7" name="Hộp Văn bản 6">
            <a:extLst>
              <a:ext uri="{FF2B5EF4-FFF2-40B4-BE49-F238E27FC236}">
                <a16:creationId xmlns:a16="http://schemas.microsoft.com/office/drawing/2014/main" id="{19C9A7EB-9479-02D1-F5FD-52E9467720B1}"/>
              </a:ext>
            </a:extLst>
          </p:cNvPr>
          <p:cNvSpPr txBox="1"/>
          <p:nvPr/>
        </p:nvSpPr>
        <p:spPr>
          <a:xfrm>
            <a:off x="10883900" y="6553200"/>
            <a:ext cx="774700" cy="216085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pPr algn="r">
              <a:spcAft>
                <a:spcPts val="400"/>
              </a:spcAft>
            </a:pPr>
            <a:r>
              <a:rPr lang="vi-VN" sz="900">
                <a:solidFill>
                  <a:srgbClr val="657875"/>
                </a:solidFill>
                <a:latin typeface="Aptos" panose="020B0004020202020204" pitchFamily="34" charset="0"/>
              </a:rPr>
              <a:t>08 / 12</a:t>
            </a:r>
          </a:p>
        </p:txBody>
      </p:sp>
      <p:sp>
        <p:nvSpPr>
          <p:cNvPr id="8" name="Hình chữ nhật: Góc Tròn 7">
            <a:extLst>
              <a:ext uri="{FF2B5EF4-FFF2-40B4-BE49-F238E27FC236}">
                <a16:creationId xmlns:a16="http://schemas.microsoft.com/office/drawing/2014/main" id="{2AF22F2C-CE23-9F70-1BE4-4DCEF8756C68}"/>
              </a:ext>
            </a:extLst>
          </p:cNvPr>
          <p:cNvSpPr/>
          <p:nvPr/>
        </p:nvSpPr>
        <p:spPr>
          <a:xfrm>
            <a:off x="495300" y="1739900"/>
            <a:ext cx="7188200" cy="4533900"/>
          </a:xfrm>
          <a:prstGeom prst="roundRect">
            <a:avLst/>
          </a:prstGeom>
          <a:solidFill>
            <a:srgbClr val="FFFFFF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vi-VN"/>
          </a:p>
        </p:txBody>
      </p:sp>
      <p:pic>
        <p:nvPicPr>
          <p:cNvPr id="10" name="Hình ảnh 9">
            <a:extLst>
              <a:ext uri="{FF2B5EF4-FFF2-40B4-BE49-F238E27FC236}">
                <a16:creationId xmlns:a16="http://schemas.microsoft.com/office/drawing/2014/main" id="{D0CAEDF3-AF14-2313-702F-EDB7489902C0}"/>
              </a:ext>
            </a:extLst>
          </p:cNvPr>
          <p:cNvPicPr>
            <a:picLocks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46100" y="1790700"/>
            <a:ext cx="7086600" cy="4432300"/>
          </a:xfrm>
          <a:prstGeom prst="rect">
            <a:avLst/>
          </a:prstGeom>
        </p:spPr>
      </p:pic>
      <p:sp>
        <p:nvSpPr>
          <p:cNvPr id="11" name="Hộp Văn bản 10">
            <a:extLst>
              <a:ext uri="{FF2B5EF4-FFF2-40B4-BE49-F238E27FC236}">
                <a16:creationId xmlns:a16="http://schemas.microsoft.com/office/drawing/2014/main" id="{99CEC8DF-9081-1B76-2249-92CEFBBB5A0B}"/>
              </a:ext>
            </a:extLst>
          </p:cNvPr>
          <p:cNvSpPr txBox="1"/>
          <p:nvPr/>
        </p:nvSpPr>
        <p:spPr>
          <a:xfrm>
            <a:off x="596900" y="6273800"/>
            <a:ext cx="6959600" cy="216085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pPr algn="r">
              <a:spcAft>
                <a:spcPts val="400"/>
              </a:spcAft>
            </a:pPr>
            <a:r>
              <a:rPr lang="vi-VN" sz="800">
                <a:solidFill>
                  <a:srgbClr val="657875"/>
                </a:solidFill>
                <a:latin typeface="Aptos" panose="020B0004020202020204" pitchFamily="34" charset="0"/>
              </a:rPr>
              <a:t>Chatbot với dữ liệu demo · ảnh thật</a:t>
            </a:r>
          </a:p>
        </p:txBody>
      </p:sp>
      <p:sp>
        <p:nvSpPr>
          <p:cNvPr id="12" name="Hình chữ nhật: Góc Tròn 11">
            <a:extLst>
              <a:ext uri="{FF2B5EF4-FFF2-40B4-BE49-F238E27FC236}">
                <a16:creationId xmlns:a16="http://schemas.microsoft.com/office/drawing/2014/main" id="{5D8D8606-32B8-A1A8-1D4C-2434912864BE}"/>
              </a:ext>
            </a:extLst>
          </p:cNvPr>
          <p:cNvSpPr/>
          <p:nvPr/>
        </p:nvSpPr>
        <p:spPr>
          <a:xfrm>
            <a:off x="8077200" y="1943100"/>
            <a:ext cx="3479800" cy="3860800"/>
          </a:xfrm>
          <a:prstGeom prst="roundRect">
            <a:avLst/>
          </a:prstGeom>
          <a:solidFill>
            <a:srgbClr val="FFFFFF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vi-VN"/>
          </a:p>
        </p:txBody>
      </p:sp>
      <p:sp>
        <p:nvSpPr>
          <p:cNvPr id="13" name="Hình chữ nhật: Góc Tròn 12">
            <a:extLst>
              <a:ext uri="{FF2B5EF4-FFF2-40B4-BE49-F238E27FC236}">
                <a16:creationId xmlns:a16="http://schemas.microsoft.com/office/drawing/2014/main" id="{7E036364-3E21-25ED-EDD1-8152EA2F1844}"/>
              </a:ext>
            </a:extLst>
          </p:cNvPr>
          <p:cNvSpPr/>
          <p:nvPr/>
        </p:nvSpPr>
        <p:spPr>
          <a:xfrm>
            <a:off x="8280400" y="2159000"/>
            <a:ext cx="2984500" cy="279400"/>
          </a:xfrm>
          <a:prstGeom prst="roundRect">
            <a:avLst/>
          </a:prstGeom>
          <a:solidFill>
            <a:srgbClr val="E7F1EC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vi-VN"/>
          </a:p>
        </p:txBody>
      </p:sp>
      <p:sp>
        <p:nvSpPr>
          <p:cNvPr id="14" name="Hộp Văn bản 13">
            <a:extLst>
              <a:ext uri="{FF2B5EF4-FFF2-40B4-BE49-F238E27FC236}">
                <a16:creationId xmlns:a16="http://schemas.microsoft.com/office/drawing/2014/main" id="{8584F572-1BB9-489A-1763-E63EAB187E69}"/>
              </a:ext>
            </a:extLst>
          </p:cNvPr>
          <p:cNvSpPr txBox="1"/>
          <p:nvPr/>
        </p:nvSpPr>
        <p:spPr>
          <a:xfrm>
            <a:off x="8356600" y="2197100"/>
            <a:ext cx="2832100" cy="216085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pPr algn="ctr">
              <a:spcAft>
                <a:spcPts val="400"/>
              </a:spcAft>
            </a:pPr>
            <a:r>
              <a:rPr lang="vi-VN" sz="900" b="1">
                <a:solidFill>
                  <a:srgbClr val="17685D"/>
                </a:solidFill>
                <a:latin typeface="Aptos" panose="020B0004020202020204" pitchFamily="34" charset="0"/>
              </a:rPr>
              <a:t>THEO QUY TẮC · KHÔNG GỌI LLM</a:t>
            </a:r>
          </a:p>
        </p:txBody>
      </p:sp>
      <p:sp>
        <p:nvSpPr>
          <p:cNvPr id="15" name="Hộp Văn bản 14">
            <a:extLst>
              <a:ext uri="{FF2B5EF4-FFF2-40B4-BE49-F238E27FC236}">
                <a16:creationId xmlns:a16="http://schemas.microsoft.com/office/drawing/2014/main" id="{F85FF626-6923-5905-11AC-B9D36AF969B8}"/>
              </a:ext>
            </a:extLst>
          </p:cNvPr>
          <p:cNvSpPr txBox="1"/>
          <p:nvPr/>
        </p:nvSpPr>
        <p:spPr>
          <a:xfrm>
            <a:off x="8293100" y="2679700"/>
            <a:ext cx="3022600" cy="216085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pPr>
              <a:spcAft>
                <a:spcPts val="400"/>
              </a:spcAft>
            </a:pPr>
            <a:r>
              <a:rPr lang="vi-VN" sz="1200">
                <a:solidFill>
                  <a:srgbClr val="153F3A"/>
                </a:solidFill>
                <a:latin typeface="Aptos" panose="020B0004020202020204" pitchFamily="34" charset="0"/>
              </a:rPr>
              <a:t>HỖ TRỢ</a:t>
            </a:r>
          </a:p>
          <a:p>
            <a:pPr>
              <a:spcAft>
                <a:spcPts val="400"/>
              </a:spcAft>
            </a:pPr>
            <a:r>
              <a:rPr lang="vi-VN" sz="1200">
                <a:solidFill>
                  <a:srgbClr val="153F3A"/>
                </a:solidFill>
                <a:latin typeface="Aptos" panose="020B0004020202020204" pitchFamily="34" charset="0"/>
              </a:rPr>
              <a:t>• Tra giá dịch vụ hoạt động</a:t>
            </a:r>
          </a:p>
          <a:p>
            <a:pPr>
              <a:spcAft>
                <a:spcPts val="400"/>
              </a:spcAft>
            </a:pPr>
            <a:r>
              <a:rPr lang="vi-VN" sz="1200">
                <a:solidFill>
                  <a:srgbClr val="153F3A"/>
                </a:solidFill>
                <a:latin typeface="Aptos" panose="020B0004020202020204" pitchFamily="34" charset="0"/>
              </a:rPr>
              <a:t>• Gợi ý giờ theo lịch hiện có</a:t>
            </a:r>
          </a:p>
          <a:p>
            <a:pPr>
              <a:spcAft>
                <a:spcPts val="400"/>
              </a:spcAft>
            </a:pPr>
            <a:endParaRPr lang="vi-VN" sz="1200">
              <a:solidFill>
                <a:srgbClr val="153F3A"/>
              </a:solidFill>
              <a:latin typeface="Aptos" panose="020B0004020202020204" pitchFamily="34" charset="0"/>
            </a:endParaRPr>
          </a:p>
          <a:p>
            <a:pPr>
              <a:spcAft>
                <a:spcPts val="400"/>
              </a:spcAft>
            </a:pPr>
            <a:r>
              <a:rPr lang="vi-VN" sz="1200">
                <a:solidFill>
                  <a:srgbClr val="153F3A"/>
                </a:solidFill>
                <a:latin typeface="Aptos" panose="020B0004020202020204" pitchFamily="34" charset="0"/>
              </a:rPr>
              <a:t>GIỚI HẠN</a:t>
            </a:r>
          </a:p>
          <a:p>
            <a:pPr>
              <a:spcAft>
                <a:spcPts val="400"/>
              </a:spcAft>
            </a:pPr>
            <a:r>
              <a:rPr lang="vi-VN" sz="1200">
                <a:solidFill>
                  <a:srgbClr val="153F3A"/>
                </a:solidFill>
                <a:latin typeface="Aptos" panose="020B0004020202020204" pitchFamily="34" charset="0"/>
              </a:rPr>
              <a:t>• Không chẩn đoán / xem EMR</a:t>
            </a:r>
          </a:p>
          <a:p>
            <a:pPr>
              <a:spcAft>
                <a:spcPts val="400"/>
              </a:spcAft>
            </a:pPr>
            <a:r>
              <a:rPr lang="vi-VN" sz="1200">
                <a:solidFill>
                  <a:srgbClr val="153F3A"/>
                </a:solidFill>
                <a:latin typeface="Aptos" panose="020B0004020202020204" pitchFamily="34" charset="0"/>
              </a:rPr>
              <a:t>• Không đặt hoặc giữ lịch</a:t>
            </a:r>
          </a:p>
          <a:p>
            <a:pPr>
              <a:spcAft>
                <a:spcPts val="400"/>
              </a:spcAft>
            </a:pPr>
            <a:r>
              <a:rPr lang="vi-VN" sz="1200">
                <a:solidFill>
                  <a:srgbClr val="153F3A"/>
                </a:solidFill>
                <a:latin typeface="Aptos" panose="020B0004020202020204" pitchFamily="34" charset="0"/>
              </a:rPr>
              <a:t>• Câu hỏi khác → liên hệ lễ tân</a:t>
            </a:r>
          </a:p>
        </p:txBody>
      </p:sp>
    </p:spTree>
    <p:extLst>
      <p:ext uri="{BB962C8B-B14F-4D97-AF65-F5344CB8AC3E}">
        <p14:creationId xmlns:p14="http://schemas.microsoft.com/office/powerpoint/2010/main" val="494931434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ộp Văn bản 1">
            <a:extLst>
              <a:ext uri="{FF2B5EF4-FFF2-40B4-BE49-F238E27FC236}">
                <a16:creationId xmlns:a16="http://schemas.microsoft.com/office/drawing/2014/main" id="{ABAE882F-D827-D73D-F06F-DD0605636698}"/>
              </a:ext>
            </a:extLst>
          </p:cNvPr>
          <p:cNvSpPr txBox="1"/>
          <p:nvPr/>
        </p:nvSpPr>
        <p:spPr>
          <a:xfrm>
            <a:off x="533400" y="254000"/>
            <a:ext cx="10795000" cy="216085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pPr>
              <a:spcAft>
                <a:spcPts val="400"/>
              </a:spcAft>
            </a:pPr>
            <a:r>
              <a:rPr lang="vi-VN" sz="900" b="1">
                <a:solidFill>
                  <a:srgbClr val="17685D"/>
                </a:solidFill>
                <a:latin typeface="Aptos" panose="020B0004020202020204" pitchFamily="34" charset="0"/>
              </a:rPr>
              <a:t>08 / ĐỊNH HƯỚNG AI</a:t>
            </a:r>
          </a:p>
        </p:txBody>
      </p:sp>
      <p:sp>
        <p:nvSpPr>
          <p:cNvPr id="3" name="Hộp Văn bản 2">
            <a:extLst>
              <a:ext uri="{FF2B5EF4-FFF2-40B4-BE49-F238E27FC236}">
                <a16:creationId xmlns:a16="http://schemas.microsoft.com/office/drawing/2014/main" id="{56E6649D-AD32-A195-A086-E5155103A926}"/>
              </a:ext>
            </a:extLst>
          </p:cNvPr>
          <p:cNvSpPr txBox="1"/>
          <p:nvPr/>
        </p:nvSpPr>
        <p:spPr>
          <a:xfrm>
            <a:off x="533400" y="571500"/>
            <a:ext cx="11125200" cy="216085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pPr>
              <a:spcAft>
                <a:spcPts val="400"/>
              </a:spcAft>
            </a:pPr>
            <a:r>
              <a:rPr lang="vi-VN" sz="2500" b="1">
                <a:solidFill>
                  <a:srgbClr val="153F3A"/>
                </a:solidFill>
                <a:latin typeface="Aptos" panose="020B0004020202020204" pitchFamily="34" charset="0"/>
              </a:rPr>
              <a:t>Hai luồng AI là đề xuất, chưa triển khai</a:t>
            </a:r>
          </a:p>
        </p:txBody>
      </p:sp>
      <p:sp>
        <p:nvSpPr>
          <p:cNvPr id="4" name="Hộp Văn bản 3">
            <a:extLst>
              <a:ext uri="{FF2B5EF4-FFF2-40B4-BE49-F238E27FC236}">
                <a16:creationId xmlns:a16="http://schemas.microsoft.com/office/drawing/2014/main" id="{BDD381E3-FF52-5C16-AA3E-A601FBE55D1E}"/>
              </a:ext>
            </a:extLst>
          </p:cNvPr>
          <p:cNvSpPr txBox="1"/>
          <p:nvPr/>
        </p:nvSpPr>
        <p:spPr>
          <a:xfrm>
            <a:off x="558800" y="1155700"/>
            <a:ext cx="10985500" cy="216085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pPr>
              <a:spcAft>
                <a:spcPts val="400"/>
              </a:spcAft>
            </a:pPr>
            <a:r>
              <a:rPr lang="vi-VN" sz="1100">
                <a:solidFill>
                  <a:srgbClr val="657875"/>
                </a:solidFill>
                <a:latin typeface="Aptos" panose="020B0004020202020204" pitchFamily="34" charset="0"/>
              </a:rPr>
              <a:t>Chưa có API, dịch vụ AI, lịch chạy nền hay kênh nhắc trong source hiện tại.</a:t>
            </a:r>
          </a:p>
        </p:txBody>
      </p:sp>
      <p:sp>
        <p:nvSpPr>
          <p:cNvPr id="5" name="Hình chữ nhật 4">
            <a:extLst>
              <a:ext uri="{FF2B5EF4-FFF2-40B4-BE49-F238E27FC236}">
                <a16:creationId xmlns:a16="http://schemas.microsoft.com/office/drawing/2014/main" id="{9006E3C1-027E-06AF-5CF8-149406DAB752}"/>
              </a:ext>
            </a:extLst>
          </p:cNvPr>
          <p:cNvSpPr/>
          <p:nvPr/>
        </p:nvSpPr>
        <p:spPr>
          <a:xfrm>
            <a:off x="533400" y="6489700"/>
            <a:ext cx="11125200" cy="12700"/>
          </a:xfrm>
          <a:prstGeom prst="rect">
            <a:avLst/>
          </a:prstGeom>
          <a:solidFill>
            <a:srgbClr val="DCE4DE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vi-VN"/>
          </a:p>
        </p:txBody>
      </p:sp>
      <p:sp>
        <p:nvSpPr>
          <p:cNvPr id="6" name="Hộp Văn bản 5">
            <a:extLst>
              <a:ext uri="{FF2B5EF4-FFF2-40B4-BE49-F238E27FC236}">
                <a16:creationId xmlns:a16="http://schemas.microsoft.com/office/drawing/2014/main" id="{2AD74F20-DFAA-0E05-3235-E61D7C080AC1}"/>
              </a:ext>
            </a:extLst>
          </p:cNvPr>
          <p:cNvSpPr txBox="1"/>
          <p:nvPr/>
        </p:nvSpPr>
        <p:spPr>
          <a:xfrm>
            <a:off x="546100" y="6565900"/>
            <a:ext cx="8890000" cy="216085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pPr>
              <a:spcAft>
                <a:spcPts val="400"/>
              </a:spcAft>
            </a:pPr>
            <a:r>
              <a:rPr lang="vi-VN" sz="800">
                <a:solidFill>
                  <a:srgbClr val="657875"/>
                </a:solidFill>
                <a:latin typeface="Aptos" panose="020B0004020202020204" pitchFamily="34" charset="0"/>
              </a:rPr>
              <a:t>DMS  •  Dental Management System</a:t>
            </a:r>
          </a:p>
        </p:txBody>
      </p:sp>
      <p:sp>
        <p:nvSpPr>
          <p:cNvPr id="7" name="Hộp Văn bản 6">
            <a:extLst>
              <a:ext uri="{FF2B5EF4-FFF2-40B4-BE49-F238E27FC236}">
                <a16:creationId xmlns:a16="http://schemas.microsoft.com/office/drawing/2014/main" id="{095F3176-9726-0447-ACD1-20781E40DFD1}"/>
              </a:ext>
            </a:extLst>
          </p:cNvPr>
          <p:cNvSpPr txBox="1"/>
          <p:nvPr/>
        </p:nvSpPr>
        <p:spPr>
          <a:xfrm>
            <a:off x="10883900" y="6553200"/>
            <a:ext cx="774700" cy="216085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pPr algn="r">
              <a:spcAft>
                <a:spcPts val="400"/>
              </a:spcAft>
            </a:pPr>
            <a:r>
              <a:rPr lang="vi-VN" sz="900">
                <a:solidFill>
                  <a:srgbClr val="657875"/>
                </a:solidFill>
                <a:latin typeface="Aptos" panose="020B0004020202020204" pitchFamily="34" charset="0"/>
              </a:rPr>
              <a:t>09 / 12</a:t>
            </a:r>
          </a:p>
        </p:txBody>
      </p:sp>
      <p:sp>
        <p:nvSpPr>
          <p:cNvPr id="8" name="Hình chữ nhật: Góc Tròn 7">
            <a:extLst>
              <a:ext uri="{FF2B5EF4-FFF2-40B4-BE49-F238E27FC236}">
                <a16:creationId xmlns:a16="http://schemas.microsoft.com/office/drawing/2014/main" id="{1F591872-98F8-DFB2-FC95-5B8565D25826}"/>
              </a:ext>
            </a:extLst>
          </p:cNvPr>
          <p:cNvSpPr/>
          <p:nvPr/>
        </p:nvSpPr>
        <p:spPr>
          <a:xfrm>
            <a:off x="596900" y="1917700"/>
            <a:ext cx="5321300" cy="3746500"/>
          </a:xfrm>
          <a:prstGeom prst="roundRect">
            <a:avLst/>
          </a:prstGeom>
          <a:solidFill>
            <a:srgbClr val="FFFFFF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vi-VN"/>
          </a:p>
        </p:txBody>
      </p:sp>
      <p:sp>
        <p:nvSpPr>
          <p:cNvPr id="9" name="Hình chữ nhật: Góc Tròn 8">
            <a:extLst>
              <a:ext uri="{FF2B5EF4-FFF2-40B4-BE49-F238E27FC236}">
                <a16:creationId xmlns:a16="http://schemas.microsoft.com/office/drawing/2014/main" id="{55056ABF-A88F-3F91-F59D-C3C7707A4A0D}"/>
              </a:ext>
            </a:extLst>
          </p:cNvPr>
          <p:cNvSpPr/>
          <p:nvPr/>
        </p:nvSpPr>
        <p:spPr>
          <a:xfrm>
            <a:off x="838200" y="2133600"/>
            <a:ext cx="2362200" cy="279400"/>
          </a:xfrm>
          <a:prstGeom prst="roundRect">
            <a:avLst/>
          </a:prstGeom>
          <a:solidFill>
            <a:srgbClr val="E7F1EC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vi-VN"/>
          </a:p>
        </p:txBody>
      </p:sp>
      <p:sp>
        <p:nvSpPr>
          <p:cNvPr id="10" name="Hộp Văn bản 9">
            <a:extLst>
              <a:ext uri="{FF2B5EF4-FFF2-40B4-BE49-F238E27FC236}">
                <a16:creationId xmlns:a16="http://schemas.microsoft.com/office/drawing/2014/main" id="{5FCE0A5F-3110-4413-FC64-20D0283DE277}"/>
              </a:ext>
            </a:extLst>
          </p:cNvPr>
          <p:cNvSpPr txBox="1"/>
          <p:nvPr/>
        </p:nvSpPr>
        <p:spPr>
          <a:xfrm>
            <a:off x="914400" y="2171700"/>
            <a:ext cx="2209800" cy="216085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pPr algn="ctr">
              <a:spcAft>
                <a:spcPts val="400"/>
              </a:spcAft>
            </a:pPr>
            <a:r>
              <a:rPr lang="vi-VN" sz="900" b="1">
                <a:solidFill>
                  <a:srgbClr val="17685D"/>
                </a:solidFill>
                <a:latin typeface="Aptos" panose="020B0004020202020204" pitchFamily="34" charset="0"/>
              </a:rPr>
              <a:t>TÓM TẮT EMR · ĐỀ XUẤT</a:t>
            </a:r>
          </a:p>
        </p:txBody>
      </p:sp>
      <p:sp>
        <p:nvSpPr>
          <p:cNvPr id="11" name="Hộp Văn bản 10">
            <a:extLst>
              <a:ext uri="{FF2B5EF4-FFF2-40B4-BE49-F238E27FC236}">
                <a16:creationId xmlns:a16="http://schemas.microsoft.com/office/drawing/2014/main" id="{C1170FDE-D2D8-8DF6-CFAD-5F09D34E0255}"/>
              </a:ext>
            </a:extLst>
          </p:cNvPr>
          <p:cNvSpPr txBox="1"/>
          <p:nvPr/>
        </p:nvSpPr>
        <p:spPr>
          <a:xfrm>
            <a:off x="889000" y="2679700"/>
            <a:ext cx="4737100" cy="216085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pPr>
              <a:spcAft>
                <a:spcPts val="400"/>
              </a:spcAft>
            </a:pPr>
            <a:r>
              <a:rPr lang="vi-VN" sz="1200">
                <a:solidFill>
                  <a:srgbClr val="153F3A"/>
                </a:solidFill>
                <a:latin typeface="Aptos" panose="020B0004020202020204" pitchFamily="34" charset="0"/>
              </a:rPr>
              <a:t>Bác sĩ chọn hồ sơ</a:t>
            </a:r>
          </a:p>
          <a:p>
            <a:pPr>
              <a:spcAft>
                <a:spcPts val="400"/>
              </a:spcAft>
            </a:pPr>
            <a:r>
              <a:rPr lang="vi-VN" sz="1200">
                <a:solidFill>
                  <a:srgbClr val="153F3A"/>
                </a:solidFill>
                <a:latin typeface="Aptos" panose="020B0004020202020204" pitchFamily="34" charset="0"/>
              </a:rPr>
              <a:t>↓</a:t>
            </a:r>
          </a:p>
          <a:p>
            <a:pPr>
              <a:spcAft>
                <a:spcPts val="400"/>
              </a:spcAft>
            </a:pPr>
            <a:r>
              <a:rPr lang="vi-VN" sz="1200">
                <a:solidFill>
                  <a:srgbClr val="153F3A"/>
                </a:solidFill>
                <a:latin typeface="Aptos" panose="020B0004020202020204" pitchFamily="34" charset="0"/>
              </a:rPr>
              <a:t>API kiểm tra quyền, giảm thiểu dữ liệu</a:t>
            </a:r>
          </a:p>
          <a:p>
            <a:pPr>
              <a:spcAft>
                <a:spcPts val="400"/>
              </a:spcAft>
            </a:pPr>
            <a:r>
              <a:rPr lang="vi-VN" sz="1200">
                <a:solidFill>
                  <a:srgbClr val="153F3A"/>
                </a:solidFill>
                <a:latin typeface="Aptos" panose="020B0004020202020204" pitchFamily="34" charset="0"/>
              </a:rPr>
              <a:t>↓</a:t>
            </a:r>
          </a:p>
          <a:p>
            <a:pPr>
              <a:spcAft>
                <a:spcPts val="400"/>
              </a:spcAft>
            </a:pPr>
            <a:r>
              <a:rPr lang="vi-VN" sz="1200">
                <a:solidFill>
                  <a:srgbClr val="153F3A"/>
                </a:solidFill>
                <a:latin typeface="Aptos" panose="020B0004020202020204" pitchFamily="34" charset="0"/>
              </a:rPr>
              <a:t>AI tạo bản nháp</a:t>
            </a:r>
          </a:p>
          <a:p>
            <a:pPr>
              <a:spcAft>
                <a:spcPts val="400"/>
              </a:spcAft>
            </a:pPr>
            <a:r>
              <a:rPr lang="vi-VN" sz="1200">
                <a:solidFill>
                  <a:srgbClr val="153F3A"/>
                </a:solidFill>
                <a:latin typeface="Aptos" panose="020B0004020202020204" pitchFamily="34" charset="0"/>
              </a:rPr>
              <a:t>↓</a:t>
            </a:r>
          </a:p>
          <a:p>
            <a:pPr>
              <a:spcAft>
                <a:spcPts val="400"/>
              </a:spcAft>
            </a:pPr>
            <a:r>
              <a:rPr lang="vi-VN" sz="1200">
                <a:solidFill>
                  <a:srgbClr val="153F3A"/>
                </a:solidFill>
                <a:latin typeface="Aptos" panose="020B0004020202020204" pitchFamily="34" charset="0"/>
              </a:rPr>
              <a:t>Bác sĩ rà soát / chỉnh sửa</a:t>
            </a:r>
          </a:p>
          <a:p>
            <a:pPr>
              <a:spcAft>
                <a:spcPts val="400"/>
              </a:spcAft>
            </a:pPr>
            <a:r>
              <a:rPr lang="vi-VN" sz="1200">
                <a:solidFill>
                  <a:srgbClr val="153F3A"/>
                </a:solidFill>
                <a:latin typeface="Aptos" panose="020B0004020202020204" pitchFamily="34" charset="0"/>
              </a:rPr>
              <a:t>↓</a:t>
            </a:r>
          </a:p>
          <a:p>
            <a:pPr>
              <a:spcAft>
                <a:spcPts val="400"/>
              </a:spcAft>
            </a:pPr>
            <a:r>
              <a:rPr lang="vi-VN" sz="1200">
                <a:solidFill>
                  <a:srgbClr val="153F3A"/>
                </a:solidFill>
                <a:latin typeface="Aptos" panose="020B0004020202020204" pitchFamily="34" charset="0"/>
              </a:rPr>
              <a:t>Chỉ lưu khi được duyệt</a:t>
            </a:r>
          </a:p>
        </p:txBody>
      </p:sp>
      <p:sp>
        <p:nvSpPr>
          <p:cNvPr id="12" name="Hình chữ nhật: Góc Tròn 11">
            <a:extLst>
              <a:ext uri="{FF2B5EF4-FFF2-40B4-BE49-F238E27FC236}">
                <a16:creationId xmlns:a16="http://schemas.microsoft.com/office/drawing/2014/main" id="{522F906A-17FA-3C0F-66BF-FCE0A0B385B1}"/>
              </a:ext>
            </a:extLst>
          </p:cNvPr>
          <p:cNvSpPr/>
          <p:nvPr/>
        </p:nvSpPr>
        <p:spPr>
          <a:xfrm>
            <a:off x="6261100" y="1917700"/>
            <a:ext cx="5321300" cy="3746500"/>
          </a:xfrm>
          <a:prstGeom prst="roundRect">
            <a:avLst/>
          </a:prstGeom>
          <a:solidFill>
            <a:srgbClr val="FFFFFF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vi-VN"/>
          </a:p>
        </p:txBody>
      </p:sp>
      <p:sp>
        <p:nvSpPr>
          <p:cNvPr id="13" name="Hình chữ nhật: Góc Tròn 12">
            <a:extLst>
              <a:ext uri="{FF2B5EF4-FFF2-40B4-BE49-F238E27FC236}">
                <a16:creationId xmlns:a16="http://schemas.microsoft.com/office/drawing/2014/main" id="{B5D4186A-6BC2-3483-5C54-9FDE22FC0D4F}"/>
              </a:ext>
            </a:extLst>
          </p:cNvPr>
          <p:cNvSpPr/>
          <p:nvPr/>
        </p:nvSpPr>
        <p:spPr>
          <a:xfrm>
            <a:off x="6489700" y="2133600"/>
            <a:ext cx="2667000" cy="279400"/>
          </a:xfrm>
          <a:prstGeom prst="roundRect">
            <a:avLst/>
          </a:prstGeom>
          <a:solidFill>
            <a:srgbClr val="E7F1EC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vi-VN"/>
          </a:p>
        </p:txBody>
      </p:sp>
      <p:sp>
        <p:nvSpPr>
          <p:cNvPr id="14" name="Hộp Văn bản 13">
            <a:extLst>
              <a:ext uri="{FF2B5EF4-FFF2-40B4-BE49-F238E27FC236}">
                <a16:creationId xmlns:a16="http://schemas.microsoft.com/office/drawing/2014/main" id="{EDEFD24F-57E9-F5F5-6DE1-D0127DF3134E}"/>
              </a:ext>
            </a:extLst>
          </p:cNvPr>
          <p:cNvSpPr txBox="1"/>
          <p:nvPr/>
        </p:nvSpPr>
        <p:spPr>
          <a:xfrm>
            <a:off x="6565900" y="2171700"/>
            <a:ext cx="2514600" cy="216085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pPr algn="ctr">
              <a:spcAft>
                <a:spcPts val="400"/>
              </a:spcAft>
            </a:pPr>
            <a:r>
              <a:rPr lang="vi-VN" sz="900" b="1">
                <a:solidFill>
                  <a:srgbClr val="17685D"/>
                </a:solidFill>
                <a:latin typeface="Aptos" panose="020B0004020202020204" pitchFamily="34" charset="0"/>
              </a:rPr>
              <a:t>NHẮC TÁI KHÁM · ĐỀ XUẤT</a:t>
            </a:r>
          </a:p>
        </p:txBody>
      </p:sp>
      <p:sp>
        <p:nvSpPr>
          <p:cNvPr id="15" name="Hộp Văn bản 14">
            <a:extLst>
              <a:ext uri="{FF2B5EF4-FFF2-40B4-BE49-F238E27FC236}">
                <a16:creationId xmlns:a16="http://schemas.microsoft.com/office/drawing/2014/main" id="{586597C1-F34F-37B7-9FD9-3414491B0B74}"/>
              </a:ext>
            </a:extLst>
          </p:cNvPr>
          <p:cNvSpPr txBox="1"/>
          <p:nvPr/>
        </p:nvSpPr>
        <p:spPr>
          <a:xfrm>
            <a:off x="6553200" y="2679700"/>
            <a:ext cx="4737100" cy="216085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pPr>
              <a:spcAft>
                <a:spcPts val="400"/>
              </a:spcAft>
            </a:pPr>
            <a:r>
              <a:rPr lang="vi-VN" sz="1200">
                <a:solidFill>
                  <a:srgbClr val="153F3A"/>
                </a:solidFill>
                <a:latin typeface="Aptos" panose="020B0004020202020204" pitchFamily="34" charset="0"/>
              </a:rPr>
              <a:t>Xác nhận ngày + đồng thuận</a:t>
            </a:r>
          </a:p>
          <a:p>
            <a:pPr>
              <a:spcAft>
                <a:spcPts val="400"/>
              </a:spcAft>
            </a:pPr>
            <a:r>
              <a:rPr lang="vi-VN" sz="1200">
                <a:solidFill>
                  <a:srgbClr val="153F3A"/>
                </a:solidFill>
                <a:latin typeface="Aptos" panose="020B0004020202020204" pitchFamily="34" charset="0"/>
              </a:rPr>
              <a:t>↓</a:t>
            </a:r>
          </a:p>
          <a:p>
            <a:pPr>
              <a:spcAft>
                <a:spcPts val="400"/>
              </a:spcAft>
            </a:pPr>
            <a:r>
              <a:rPr lang="vi-VN" sz="1200">
                <a:solidFill>
                  <a:srgbClr val="153F3A"/>
                </a:solidFill>
                <a:latin typeface="Aptos" panose="020B0004020202020204" pitchFamily="34" charset="0"/>
              </a:rPr>
              <a:t>AI soạn nháp không chẩn đoán</a:t>
            </a:r>
          </a:p>
          <a:p>
            <a:pPr>
              <a:spcAft>
                <a:spcPts val="400"/>
              </a:spcAft>
            </a:pPr>
            <a:r>
              <a:rPr lang="vi-VN" sz="1200">
                <a:solidFill>
                  <a:srgbClr val="153F3A"/>
                </a:solidFill>
                <a:latin typeface="Aptos" panose="020B0004020202020204" pitchFamily="34" charset="0"/>
              </a:rPr>
              <a:t>↓</a:t>
            </a:r>
          </a:p>
          <a:p>
            <a:pPr>
              <a:spcAft>
                <a:spcPts val="400"/>
              </a:spcAft>
            </a:pPr>
            <a:r>
              <a:rPr lang="vi-VN" sz="1200">
                <a:solidFill>
                  <a:srgbClr val="153F3A"/>
                </a:solidFill>
                <a:latin typeface="Aptos" panose="020B0004020202020204" pitchFamily="34" charset="0"/>
              </a:rPr>
              <a:t>Nhân viên / bác sĩ duyệt</a:t>
            </a:r>
          </a:p>
          <a:p>
            <a:pPr>
              <a:spcAft>
                <a:spcPts val="400"/>
              </a:spcAft>
            </a:pPr>
            <a:r>
              <a:rPr lang="vi-VN" sz="1200">
                <a:solidFill>
                  <a:srgbClr val="153F3A"/>
                </a:solidFill>
                <a:latin typeface="Aptos" panose="020B0004020202020204" pitchFamily="34" charset="0"/>
              </a:rPr>
              <a:t>↓</a:t>
            </a:r>
          </a:p>
          <a:p>
            <a:pPr>
              <a:spcAft>
                <a:spcPts val="400"/>
              </a:spcAft>
            </a:pPr>
            <a:r>
              <a:rPr lang="vi-VN" sz="1200">
                <a:solidFill>
                  <a:srgbClr val="153F3A"/>
                </a:solidFill>
                <a:latin typeface="Aptos" panose="020B0004020202020204" pitchFamily="34" charset="0"/>
              </a:rPr>
              <a:t>Lưu lịch gửi + audit</a:t>
            </a:r>
          </a:p>
          <a:p>
            <a:pPr>
              <a:spcAft>
                <a:spcPts val="400"/>
              </a:spcAft>
            </a:pPr>
            <a:r>
              <a:rPr lang="vi-VN" sz="1200">
                <a:solidFill>
                  <a:srgbClr val="153F3A"/>
                </a:solidFill>
                <a:latin typeface="Aptos" panose="020B0004020202020204" pitchFamily="34" charset="0"/>
              </a:rPr>
              <a:t>↓</a:t>
            </a:r>
          </a:p>
          <a:p>
            <a:pPr>
              <a:spcAft>
                <a:spcPts val="400"/>
              </a:spcAft>
            </a:pPr>
            <a:r>
              <a:rPr lang="vi-VN" sz="1200">
                <a:solidFill>
                  <a:srgbClr val="153F3A"/>
                </a:solidFill>
                <a:latin typeface="Aptos" panose="020B0004020202020204" pitchFamily="34" charset="0"/>
              </a:rPr>
              <a:t>Job nền gửi, lưu kết quả</a:t>
            </a:r>
          </a:p>
        </p:txBody>
      </p:sp>
      <p:sp>
        <p:nvSpPr>
          <p:cNvPr id="16" name="Hình chữ nhật: Góc Tròn 15">
            <a:extLst>
              <a:ext uri="{FF2B5EF4-FFF2-40B4-BE49-F238E27FC236}">
                <a16:creationId xmlns:a16="http://schemas.microsoft.com/office/drawing/2014/main" id="{27F16E4B-148B-E105-FC26-6567F3B4FD5E}"/>
              </a:ext>
            </a:extLst>
          </p:cNvPr>
          <p:cNvSpPr/>
          <p:nvPr/>
        </p:nvSpPr>
        <p:spPr>
          <a:xfrm>
            <a:off x="4152900" y="5867400"/>
            <a:ext cx="3886200" cy="279400"/>
          </a:xfrm>
          <a:prstGeom prst="roundRect">
            <a:avLst/>
          </a:prstGeom>
          <a:solidFill>
            <a:srgbClr val="FFFFFF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vi-VN"/>
          </a:p>
        </p:txBody>
      </p:sp>
      <p:sp>
        <p:nvSpPr>
          <p:cNvPr id="17" name="Hộp Văn bản 16">
            <a:extLst>
              <a:ext uri="{FF2B5EF4-FFF2-40B4-BE49-F238E27FC236}">
                <a16:creationId xmlns:a16="http://schemas.microsoft.com/office/drawing/2014/main" id="{B2595FF1-10D9-FB27-DBC2-55FE94FAF35B}"/>
              </a:ext>
            </a:extLst>
          </p:cNvPr>
          <p:cNvSpPr txBox="1"/>
          <p:nvPr/>
        </p:nvSpPr>
        <p:spPr>
          <a:xfrm>
            <a:off x="4229100" y="5905500"/>
            <a:ext cx="3733800" cy="216085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pPr algn="ctr">
              <a:spcAft>
                <a:spcPts val="400"/>
              </a:spcAft>
            </a:pPr>
            <a:r>
              <a:rPr lang="vi-VN" sz="900" b="1">
                <a:solidFill>
                  <a:srgbClr val="CF755F"/>
                </a:solidFill>
                <a:latin typeface="Aptos" panose="020B0004020202020204" pitchFamily="34" charset="0"/>
              </a:rPr>
              <a:t>CHƯA CÓ API · DỊCH VỤ AI · LỊCH NỀN</a:t>
            </a:r>
          </a:p>
        </p:txBody>
      </p:sp>
    </p:spTree>
    <p:extLst>
      <p:ext uri="{BB962C8B-B14F-4D97-AF65-F5344CB8AC3E}">
        <p14:creationId xmlns:p14="http://schemas.microsoft.com/office/powerpoint/2010/main" val="797567938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ộp Văn bản 1">
            <a:extLst>
              <a:ext uri="{FF2B5EF4-FFF2-40B4-BE49-F238E27FC236}">
                <a16:creationId xmlns:a16="http://schemas.microsoft.com/office/drawing/2014/main" id="{1581934A-26D0-9DE1-E239-F19A294757CC}"/>
              </a:ext>
            </a:extLst>
          </p:cNvPr>
          <p:cNvSpPr txBox="1"/>
          <p:nvPr/>
        </p:nvSpPr>
        <p:spPr>
          <a:xfrm>
            <a:off x="533400" y="254000"/>
            <a:ext cx="10795000" cy="216085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pPr>
              <a:spcAft>
                <a:spcPts val="400"/>
              </a:spcAft>
            </a:pPr>
            <a:r>
              <a:rPr lang="vi-VN" sz="900" b="1">
                <a:solidFill>
                  <a:srgbClr val="17685D"/>
                </a:solidFill>
                <a:latin typeface="Aptos" panose="020B0004020202020204" pitchFamily="34" charset="0"/>
              </a:rPr>
              <a:t>09 / AN TOÀN</a:t>
            </a:r>
          </a:p>
        </p:txBody>
      </p:sp>
      <p:sp>
        <p:nvSpPr>
          <p:cNvPr id="3" name="Hộp Văn bản 2">
            <a:extLst>
              <a:ext uri="{FF2B5EF4-FFF2-40B4-BE49-F238E27FC236}">
                <a16:creationId xmlns:a16="http://schemas.microsoft.com/office/drawing/2014/main" id="{4C341DCF-3B74-E645-75DA-30A8B39B0E23}"/>
              </a:ext>
            </a:extLst>
          </p:cNvPr>
          <p:cNvSpPr txBox="1"/>
          <p:nvPr/>
        </p:nvSpPr>
        <p:spPr>
          <a:xfrm>
            <a:off x="533400" y="571500"/>
            <a:ext cx="11125200" cy="216085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pPr>
              <a:spcAft>
                <a:spcPts val="400"/>
              </a:spcAft>
            </a:pPr>
            <a:r>
              <a:rPr lang="vi-VN" sz="2500" b="1">
                <a:solidFill>
                  <a:srgbClr val="153F3A"/>
                </a:solidFill>
                <a:latin typeface="Aptos" panose="020B0004020202020204" pitchFamily="34" charset="0"/>
              </a:rPr>
              <a:t>AI hỗ trợ hành chính, không thay bác sĩ</a:t>
            </a:r>
          </a:p>
        </p:txBody>
      </p:sp>
      <p:sp>
        <p:nvSpPr>
          <p:cNvPr id="4" name="Hộp Văn bản 3">
            <a:extLst>
              <a:ext uri="{FF2B5EF4-FFF2-40B4-BE49-F238E27FC236}">
                <a16:creationId xmlns:a16="http://schemas.microsoft.com/office/drawing/2014/main" id="{7374B1DF-E997-247A-6574-10249B97FC6B}"/>
              </a:ext>
            </a:extLst>
          </p:cNvPr>
          <p:cNvSpPr txBox="1"/>
          <p:nvPr/>
        </p:nvSpPr>
        <p:spPr>
          <a:xfrm>
            <a:off x="558800" y="1155700"/>
            <a:ext cx="10985500" cy="216085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pPr>
              <a:spcAft>
                <a:spcPts val="400"/>
              </a:spcAft>
            </a:pPr>
            <a:r>
              <a:rPr lang="vi-VN" sz="1100">
                <a:solidFill>
                  <a:srgbClr val="657875"/>
                </a:solidFill>
                <a:latin typeface="Aptos" panose="020B0004020202020204" pitchFamily="34" charset="0"/>
              </a:rPr>
              <a:t>Phân biệt biện pháp hiện có với điều kiện cần có trước khi triển khai AI tương lai.</a:t>
            </a:r>
          </a:p>
        </p:txBody>
      </p:sp>
      <p:sp>
        <p:nvSpPr>
          <p:cNvPr id="5" name="Hình chữ nhật 4">
            <a:extLst>
              <a:ext uri="{FF2B5EF4-FFF2-40B4-BE49-F238E27FC236}">
                <a16:creationId xmlns:a16="http://schemas.microsoft.com/office/drawing/2014/main" id="{59E94A0E-F8B7-A487-E374-FB8E1C12D5FF}"/>
              </a:ext>
            </a:extLst>
          </p:cNvPr>
          <p:cNvSpPr/>
          <p:nvPr/>
        </p:nvSpPr>
        <p:spPr>
          <a:xfrm>
            <a:off x="533400" y="6489700"/>
            <a:ext cx="11125200" cy="12700"/>
          </a:xfrm>
          <a:prstGeom prst="rect">
            <a:avLst/>
          </a:prstGeom>
          <a:solidFill>
            <a:srgbClr val="DCE4DE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vi-VN"/>
          </a:p>
        </p:txBody>
      </p:sp>
      <p:sp>
        <p:nvSpPr>
          <p:cNvPr id="6" name="Hộp Văn bản 5">
            <a:extLst>
              <a:ext uri="{FF2B5EF4-FFF2-40B4-BE49-F238E27FC236}">
                <a16:creationId xmlns:a16="http://schemas.microsoft.com/office/drawing/2014/main" id="{60621C17-CCE0-C35B-FA1C-D649A15D9339}"/>
              </a:ext>
            </a:extLst>
          </p:cNvPr>
          <p:cNvSpPr txBox="1"/>
          <p:nvPr/>
        </p:nvSpPr>
        <p:spPr>
          <a:xfrm>
            <a:off x="546100" y="6565900"/>
            <a:ext cx="8890000" cy="216085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pPr>
              <a:spcAft>
                <a:spcPts val="400"/>
              </a:spcAft>
            </a:pPr>
            <a:r>
              <a:rPr lang="vi-VN" sz="800">
                <a:solidFill>
                  <a:srgbClr val="657875"/>
                </a:solidFill>
                <a:latin typeface="Aptos" panose="020B0004020202020204" pitchFamily="34" charset="0"/>
              </a:rPr>
              <a:t>DMS  •  Dental Management System</a:t>
            </a:r>
          </a:p>
        </p:txBody>
      </p:sp>
      <p:sp>
        <p:nvSpPr>
          <p:cNvPr id="7" name="Hộp Văn bản 6">
            <a:extLst>
              <a:ext uri="{FF2B5EF4-FFF2-40B4-BE49-F238E27FC236}">
                <a16:creationId xmlns:a16="http://schemas.microsoft.com/office/drawing/2014/main" id="{50B51D8B-DBEB-F72A-85AD-FF25FDC19C6B}"/>
              </a:ext>
            </a:extLst>
          </p:cNvPr>
          <p:cNvSpPr txBox="1"/>
          <p:nvPr/>
        </p:nvSpPr>
        <p:spPr>
          <a:xfrm>
            <a:off x="10883900" y="6553200"/>
            <a:ext cx="774700" cy="216085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pPr algn="r">
              <a:spcAft>
                <a:spcPts val="400"/>
              </a:spcAft>
            </a:pPr>
            <a:r>
              <a:rPr lang="vi-VN" sz="900">
                <a:solidFill>
                  <a:srgbClr val="657875"/>
                </a:solidFill>
                <a:latin typeface="Aptos" panose="020B0004020202020204" pitchFamily="34" charset="0"/>
              </a:rPr>
              <a:t>10 / 12</a:t>
            </a:r>
          </a:p>
        </p:txBody>
      </p:sp>
      <p:sp>
        <p:nvSpPr>
          <p:cNvPr id="8" name="Hình chữ nhật: Góc Tròn 7">
            <a:extLst>
              <a:ext uri="{FF2B5EF4-FFF2-40B4-BE49-F238E27FC236}">
                <a16:creationId xmlns:a16="http://schemas.microsoft.com/office/drawing/2014/main" id="{2EA3502F-03AC-2CF5-FB38-F493F87E25CB}"/>
              </a:ext>
            </a:extLst>
          </p:cNvPr>
          <p:cNvSpPr/>
          <p:nvPr/>
        </p:nvSpPr>
        <p:spPr>
          <a:xfrm>
            <a:off x="609600" y="1917700"/>
            <a:ext cx="5283200" cy="3860800"/>
          </a:xfrm>
          <a:prstGeom prst="roundRect">
            <a:avLst/>
          </a:prstGeom>
          <a:solidFill>
            <a:srgbClr val="E7F1EC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vi-VN"/>
          </a:p>
        </p:txBody>
      </p:sp>
      <p:sp>
        <p:nvSpPr>
          <p:cNvPr id="9" name="Hộp Văn bản 8">
            <a:extLst>
              <a:ext uri="{FF2B5EF4-FFF2-40B4-BE49-F238E27FC236}">
                <a16:creationId xmlns:a16="http://schemas.microsoft.com/office/drawing/2014/main" id="{EB0EFFA2-4B64-18F3-C513-B5CB17488FA6}"/>
              </a:ext>
            </a:extLst>
          </p:cNvPr>
          <p:cNvSpPr txBox="1"/>
          <p:nvPr/>
        </p:nvSpPr>
        <p:spPr>
          <a:xfrm>
            <a:off x="876300" y="2184400"/>
            <a:ext cx="4699000" cy="216085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pPr>
              <a:spcAft>
                <a:spcPts val="400"/>
              </a:spcAft>
            </a:pPr>
            <a:r>
              <a:rPr lang="vi-VN" sz="1400" b="1">
                <a:solidFill>
                  <a:srgbClr val="17685D"/>
                </a:solidFill>
                <a:latin typeface="Aptos" panose="020B0004020202020204" pitchFamily="34" charset="0"/>
              </a:rPr>
              <a:t>ĐANG CÓ</a:t>
            </a:r>
          </a:p>
        </p:txBody>
      </p:sp>
      <p:sp>
        <p:nvSpPr>
          <p:cNvPr id="10" name="Hộp Văn bản 9">
            <a:extLst>
              <a:ext uri="{FF2B5EF4-FFF2-40B4-BE49-F238E27FC236}">
                <a16:creationId xmlns:a16="http://schemas.microsoft.com/office/drawing/2014/main" id="{7D59E6EB-D5B2-C210-C684-D358EA44CC2F}"/>
              </a:ext>
            </a:extLst>
          </p:cNvPr>
          <p:cNvSpPr txBox="1"/>
          <p:nvPr/>
        </p:nvSpPr>
        <p:spPr>
          <a:xfrm>
            <a:off x="876300" y="2692400"/>
            <a:ext cx="4699000" cy="216085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pPr>
              <a:spcAft>
                <a:spcPts val="400"/>
              </a:spcAft>
            </a:pPr>
            <a:r>
              <a:rPr lang="vi-VN" sz="1300">
                <a:solidFill>
                  <a:srgbClr val="153F3A"/>
                </a:solidFill>
                <a:latin typeface="Aptos" panose="020B0004020202020204" pitchFamily="34" charset="0"/>
              </a:rPr>
              <a:t>• API nghiệp vụ phân quyền theo vai trò</a:t>
            </a:r>
          </a:p>
          <a:p>
            <a:pPr>
              <a:spcAft>
                <a:spcPts val="400"/>
              </a:spcAft>
            </a:pPr>
            <a:r>
              <a:rPr lang="vi-VN" sz="1300">
                <a:solidFill>
                  <a:srgbClr val="153F3A"/>
                </a:solidFill>
                <a:latin typeface="Aptos" panose="020B0004020202020204" pitchFamily="34" charset="0"/>
              </a:rPr>
              <a:t>• Chatbot không cần dữ liệu bệnh nhân</a:t>
            </a:r>
          </a:p>
          <a:p>
            <a:pPr>
              <a:spcAft>
                <a:spcPts val="400"/>
              </a:spcAft>
            </a:pPr>
            <a:r>
              <a:rPr lang="vi-VN" sz="1300">
                <a:solidFill>
                  <a:srgbClr val="153F3A"/>
                </a:solidFill>
                <a:latin typeface="Aptos" panose="020B0004020202020204" pitchFamily="34" charset="0"/>
              </a:rPr>
              <a:t>• Trả lời dựa trên danh mục / lịch</a:t>
            </a:r>
          </a:p>
          <a:p>
            <a:pPr>
              <a:spcAft>
                <a:spcPts val="400"/>
              </a:spcAft>
            </a:pPr>
            <a:r>
              <a:rPr lang="vi-VN" sz="1300">
                <a:solidFill>
                  <a:srgbClr val="153F3A"/>
                </a:solidFill>
                <a:latin typeface="Aptos" panose="020B0004020202020204" pitchFamily="34" charset="0"/>
              </a:rPr>
              <a:t>• Thiếu dữ liệu: báo rõ, hướng lễ tân</a:t>
            </a:r>
          </a:p>
          <a:p>
            <a:pPr>
              <a:spcAft>
                <a:spcPts val="400"/>
              </a:spcAft>
            </a:pPr>
            <a:r>
              <a:rPr lang="vi-VN" sz="1300">
                <a:solidFill>
                  <a:srgbClr val="153F3A"/>
                </a:solidFill>
                <a:latin typeface="Aptos" panose="020B0004020202020204" pitchFamily="34" charset="0"/>
              </a:rPr>
              <a:t>• QR chỉ cập nhật sau đối soát</a:t>
            </a:r>
          </a:p>
        </p:txBody>
      </p:sp>
      <p:sp>
        <p:nvSpPr>
          <p:cNvPr id="11" name="Hình chữ nhật: Góc Tròn 10">
            <a:extLst>
              <a:ext uri="{FF2B5EF4-FFF2-40B4-BE49-F238E27FC236}">
                <a16:creationId xmlns:a16="http://schemas.microsoft.com/office/drawing/2014/main" id="{FC70EDA6-12BF-3F4F-62DA-B9D7D1D76B67}"/>
              </a:ext>
            </a:extLst>
          </p:cNvPr>
          <p:cNvSpPr/>
          <p:nvPr/>
        </p:nvSpPr>
        <p:spPr>
          <a:xfrm>
            <a:off x="6299200" y="1917700"/>
            <a:ext cx="5283200" cy="3860800"/>
          </a:xfrm>
          <a:prstGeom prst="roundRect">
            <a:avLst/>
          </a:prstGeom>
          <a:solidFill>
            <a:srgbClr val="FFFFFF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vi-VN"/>
          </a:p>
        </p:txBody>
      </p:sp>
      <p:sp>
        <p:nvSpPr>
          <p:cNvPr id="12" name="Hộp Văn bản 11">
            <a:extLst>
              <a:ext uri="{FF2B5EF4-FFF2-40B4-BE49-F238E27FC236}">
                <a16:creationId xmlns:a16="http://schemas.microsoft.com/office/drawing/2014/main" id="{63FD49AB-69FC-2BE8-8957-2B4A502F7515}"/>
              </a:ext>
            </a:extLst>
          </p:cNvPr>
          <p:cNvSpPr txBox="1"/>
          <p:nvPr/>
        </p:nvSpPr>
        <p:spPr>
          <a:xfrm>
            <a:off x="6578600" y="2184400"/>
            <a:ext cx="4699000" cy="216085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pPr>
              <a:spcAft>
                <a:spcPts val="400"/>
              </a:spcAft>
            </a:pPr>
            <a:r>
              <a:rPr lang="vi-VN" sz="1400" b="1">
                <a:solidFill>
                  <a:srgbClr val="CF755F"/>
                </a:solidFill>
                <a:latin typeface="Aptos" panose="020B0004020202020204" pitchFamily="34" charset="0"/>
              </a:rPr>
              <a:t>TRƯỚC KHI BẬT AI</a:t>
            </a:r>
          </a:p>
        </p:txBody>
      </p:sp>
      <p:sp>
        <p:nvSpPr>
          <p:cNvPr id="13" name="Hộp Văn bản 12">
            <a:extLst>
              <a:ext uri="{FF2B5EF4-FFF2-40B4-BE49-F238E27FC236}">
                <a16:creationId xmlns:a16="http://schemas.microsoft.com/office/drawing/2014/main" id="{C3CD491D-5A6D-B05E-9D52-9D5E97654CC8}"/>
              </a:ext>
            </a:extLst>
          </p:cNvPr>
          <p:cNvSpPr txBox="1"/>
          <p:nvPr/>
        </p:nvSpPr>
        <p:spPr>
          <a:xfrm>
            <a:off x="6578600" y="2692400"/>
            <a:ext cx="4699000" cy="216085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pPr>
              <a:spcAft>
                <a:spcPts val="400"/>
              </a:spcAft>
            </a:pPr>
            <a:r>
              <a:rPr lang="vi-VN" sz="1300">
                <a:solidFill>
                  <a:srgbClr val="153F3A"/>
                </a:solidFill>
                <a:latin typeface="Aptos" panose="020B0004020202020204" pitchFamily="34" charset="0"/>
              </a:rPr>
              <a:t>• Duyệt quyền và sự đồng thuận</a:t>
            </a:r>
          </a:p>
          <a:p>
            <a:pPr>
              <a:spcAft>
                <a:spcPts val="400"/>
              </a:spcAft>
            </a:pPr>
            <a:r>
              <a:rPr lang="vi-VN" sz="1300">
                <a:solidFill>
                  <a:srgbClr val="153F3A"/>
                </a:solidFill>
                <a:latin typeface="Aptos" panose="020B0004020202020204" pitchFamily="34" charset="0"/>
              </a:rPr>
              <a:t>• Giảm thiểu dữ liệu gửi đi</a:t>
            </a:r>
          </a:p>
          <a:p>
            <a:pPr>
              <a:spcAft>
                <a:spcPts val="400"/>
              </a:spcAft>
            </a:pPr>
            <a:r>
              <a:rPr lang="vi-VN" sz="1300">
                <a:solidFill>
                  <a:srgbClr val="153F3A"/>
                </a:solidFill>
                <a:latin typeface="Aptos" panose="020B0004020202020204" pitchFamily="34" charset="0"/>
              </a:rPr>
              <a:t>• Bác sĩ / nhân viên duyệt bản nháp</a:t>
            </a:r>
          </a:p>
          <a:p>
            <a:pPr>
              <a:spcAft>
                <a:spcPts val="400"/>
              </a:spcAft>
            </a:pPr>
            <a:r>
              <a:rPr lang="vi-VN" sz="1300">
                <a:solidFill>
                  <a:srgbClr val="153F3A"/>
                </a:solidFill>
                <a:latin typeface="Aptos" panose="020B0004020202020204" pitchFamily="34" charset="0"/>
              </a:rPr>
              <a:t>• Lưu nguồn, phiên bản, nhật ký kiểm toán</a:t>
            </a:r>
          </a:p>
          <a:p>
            <a:pPr>
              <a:spcAft>
                <a:spcPts val="400"/>
              </a:spcAft>
            </a:pPr>
            <a:r>
              <a:rPr lang="vi-VN" sz="1300">
                <a:solidFill>
                  <a:srgbClr val="153F3A"/>
                </a:solidFill>
                <a:latin typeface="Aptos" panose="020B0004020202020204" pitchFamily="34" charset="0"/>
              </a:rPr>
              <a:t>• Lỗi: báo rõ, chuyển người phụ trách</a:t>
            </a:r>
          </a:p>
        </p:txBody>
      </p:sp>
      <p:sp>
        <p:nvSpPr>
          <p:cNvPr id="14" name="Hộp Văn bản 13">
            <a:extLst>
              <a:ext uri="{FF2B5EF4-FFF2-40B4-BE49-F238E27FC236}">
                <a16:creationId xmlns:a16="http://schemas.microsoft.com/office/drawing/2014/main" id="{E998A802-FFD8-45AB-781C-A5EF80CA97AB}"/>
              </a:ext>
            </a:extLst>
          </p:cNvPr>
          <p:cNvSpPr txBox="1"/>
          <p:nvPr/>
        </p:nvSpPr>
        <p:spPr>
          <a:xfrm>
            <a:off x="660400" y="5981700"/>
            <a:ext cx="10833100" cy="216085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pPr algn="ctr">
              <a:spcAft>
                <a:spcPts val="400"/>
              </a:spcAft>
            </a:pPr>
            <a:r>
              <a:rPr lang="vi-VN" sz="1000" b="1">
                <a:solidFill>
                  <a:srgbClr val="17685D"/>
                </a:solidFill>
                <a:latin typeface="Aptos" panose="020B0004020202020204" pitchFamily="34" charset="0"/>
              </a:rPr>
              <a:t>Hiện tại chưa gửi hồ sơ bệnh án tới nhà cung cấp AI.</a:t>
            </a:r>
          </a:p>
        </p:txBody>
      </p:sp>
    </p:spTree>
    <p:extLst>
      <p:ext uri="{BB962C8B-B14F-4D97-AF65-F5344CB8AC3E}">
        <p14:creationId xmlns:p14="http://schemas.microsoft.com/office/powerpoint/2010/main" val="2405668234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ộp Văn bản 1">
            <a:extLst>
              <a:ext uri="{FF2B5EF4-FFF2-40B4-BE49-F238E27FC236}">
                <a16:creationId xmlns:a16="http://schemas.microsoft.com/office/drawing/2014/main" id="{BAA3F7D6-C638-FDE5-4C3C-F51763BF75A8}"/>
              </a:ext>
            </a:extLst>
          </p:cNvPr>
          <p:cNvSpPr txBox="1"/>
          <p:nvPr/>
        </p:nvSpPr>
        <p:spPr>
          <a:xfrm>
            <a:off x="533400" y="254000"/>
            <a:ext cx="10795000" cy="216085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pPr>
              <a:spcAft>
                <a:spcPts val="400"/>
              </a:spcAft>
            </a:pPr>
            <a:r>
              <a:rPr lang="vi-VN" sz="900" b="1">
                <a:solidFill>
                  <a:srgbClr val="17685D"/>
                </a:solidFill>
                <a:latin typeface="Aptos" panose="020B0004020202020204" pitchFamily="34" charset="0"/>
              </a:rPr>
              <a:t>10 / DEMO</a:t>
            </a:r>
          </a:p>
        </p:txBody>
      </p:sp>
      <p:sp>
        <p:nvSpPr>
          <p:cNvPr id="3" name="Hộp Văn bản 2">
            <a:extLst>
              <a:ext uri="{FF2B5EF4-FFF2-40B4-BE49-F238E27FC236}">
                <a16:creationId xmlns:a16="http://schemas.microsoft.com/office/drawing/2014/main" id="{ED2642FC-E825-BA09-7BFF-9235AE6B70C7}"/>
              </a:ext>
            </a:extLst>
          </p:cNvPr>
          <p:cNvSpPr txBox="1"/>
          <p:nvPr/>
        </p:nvSpPr>
        <p:spPr>
          <a:xfrm>
            <a:off x="533400" y="571500"/>
            <a:ext cx="11125200" cy="216085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pPr>
              <a:spcAft>
                <a:spcPts val="400"/>
              </a:spcAft>
            </a:pPr>
            <a:r>
              <a:rPr lang="vi-VN" sz="2500" b="1">
                <a:solidFill>
                  <a:srgbClr val="153F3A"/>
                </a:solidFill>
                <a:latin typeface="Aptos" panose="020B0004020202020204" pitchFamily="34" charset="0"/>
              </a:rPr>
              <a:t>Một tình huống xuyên suốt hệ thống</a:t>
            </a:r>
          </a:p>
        </p:txBody>
      </p:sp>
      <p:sp>
        <p:nvSpPr>
          <p:cNvPr id="4" name="Hộp Văn bản 3">
            <a:extLst>
              <a:ext uri="{FF2B5EF4-FFF2-40B4-BE49-F238E27FC236}">
                <a16:creationId xmlns:a16="http://schemas.microsoft.com/office/drawing/2014/main" id="{C251E173-2E53-A21E-3486-A6DE4B0E8277}"/>
              </a:ext>
            </a:extLst>
          </p:cNvPr>
          <p:cNvSpPr txBox="1"/>
          <p:nvPr/>
        </p:nvSpPr>
        <p:spPr>
          <a:xfrm>
            <a:off x="558800" y="1155700"/>
            <a:ext cx="10985500" cy="216085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pPr>
              <a:spcAft>
                <a:spcPts val="400"/>
              </a:spcAft>
            </a:pPr>
            <a:r>
              <a:rPr lang="vi-VN" sz="1100">
                <a:solidFill>
                  <a:srgbClr val="657875"/>
                </a:solidFill>
                <a:latin typeface="Aptos" panose="020B0004020202020204" pitchFamily="34" charset="0"/>
              </a:rPr>
              <a:t>Kịch bản gợi ý 3 phút; dùng dữ liệu demo, không cần giao dịch ngân hàng thật.</a:t>
            </a:r>
          </a:p>
        </p:txBody>
      </p:sp>
      <p:sp>
        <p:nvSpPr>
          <p:cNvPr id="5" name="Hình chữ nhật 4">
            <a:extLst>
              <a:ext uri="{FF2B5EF4-FFF2-40B4-BE49-F238E27FC236}">
                <a16:creationId xmlns:a16="http://schemas.microsoft.com/office/drawing/2014/main" id="{5FC0C0BE-D157-49C3-D44B-C4EA33C5934C}"/>
              </a:ext>
            </a:extLst>
          </p:cNvPr>
          <p:cNvSpPr/>
          <p:nvPr/>
        </p:nvSpPr>
        <p:spPr>
          <a:xfrm>
            <a:off x="533400" y="6489700"/>
            <a:ext cx="11125200" cy="12700"/>
          </a:xfrm>
          <a:prstGeom prst="rect">
            <a:avLst/>
          </a:prstGeom>
          <a:solidFill>
            <a:srgbClr val="DCE4DE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vi-VN"/>
          </a:p>
        </p:txBody>
      </p:sp>
      <p:sp>
        <p:nvSpPr>
          <p:cNvPr id="6" name="Hộp Văn bản 5">
            <a:extLst>
              <a:ext uri="{FF2B5EF4-FFF2-40B4-BE49-F238E27FC236}">
                <a16:creationId xmlns:a16="http://schemas.microsoft.com/office/drawing/2014/main" id="{075C1357-39EC-BA77-9908-BE9E1E000EF3}"/>
              </a:ext>
            </a:extLst>
          </p:cNvPr>
          <p:cNvSpPr txBox="1"/>
          <p:nvPr/>
        </p:nvSpPr>
        <p:spPr>
          <a:xfrm>
            <a:off x="546100" y="6565900"/>
            <a:ext cx="8890000" cy="216085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pPr>
              <a:spcAft>
                <a:spcPts val="400"/>
              </a:spcAft>
            </a:pPr>
            <a:r>
              <a:rPr lang="vi-VN" sz="800">
                <a:solidFill>
                  <a:srgbClr val="657875"/>
                </a:solidFill>
                <a:latin typeface="Aptos" panose="020B0004020202020204" pitchFamily="34" charset="0"/>
              </a:rPr>
              <a:t>DMS  •  Dental Management System</a:t>
            </a:r>
          </a:p>
        </p:txBody>
      </p:sp>
      <p:sp>
        <p:nvSpPr>
          <p:cNvPr id="7" name="Hộp Văn bản 6">
            <a:extLst>
              <a:ext uri="{FF2B5EF4-FFF2-40B4-BE49-F238E27FC236}">
                <a16:creationId xmlns:a16="http://schemas.microsoft.com/office/drawing/2014/main" id="{729F5065-C8A7-98C9-ABB8-B07406123325}"/>
              </a:ext>
            </a:extLst>
          </p:cNvPr>
          <p:cNvSpPr txBox="1"/>
          <p:nvPr/>
        </p:nvSpPr>
        <p:spPr>
          <a:xfrm>
            <a:off x="10883900" y="6553200"/>
            <a:ext cx="774700" cy="216085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pPr algn="r">
              <a:spcAft>
                <a:spcPts val="400"/>
              </a:spcAft>
            </a:pPr>
            <a:r>
              <a:rPr lang="vi-VN" sz="900">
                <a:solidFill>
                  <a:srgbClr val="657875"/>
                </a:solidFill>
                <a:latin typeface="Aptos" panose="020B0004020202020204" pitchFamily="34" charset="0"/>
              </a:rPr>
              <a:t>11 / 12</a:t>
            </a:r>
          </a:p>
        </p:txBody>
      </p:sp>
      <p:sp>
        <p:nvSpPr>
          <p:cNvPr id="8" name="Hình chữ nhật: Góc Tròn 7">
            <a:extLst>
              <a:ext uri="{FF2B5EF4-FFF2-40B4-BE49-F238E27FC236}">
                <a16:creationId xmlns:a16="http://schemas.microsoft.com/office/drawing/2014/main" id="{ED870F4A-D7B4-9603-491C-E50AC15EF041}"/>
              </a:ext>
            </a:extLst>
          </p:cNvPr>
          <p:cNvSpPr/>
          <p:nvPr/>
        </p:nvSpPr>
        <p:spPr>
          <a:xfrm>
            <a:off x="596900" y="2197100"/>
            <a:ext cx="2527300" cy="2120900"/>
          </a:xfrm>
          <a:prstGeom prst="roundRect">
            <a:avLst/>
          </a:prstGeom>
          <a:solidFill>
            <a:srgbClr val="FFFFFF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vi-VN"/>
          </a:p>
        </p:txBody>
      </p:sp>
      <p:sp>
        <p:nvSpPr>
          <p:cNvPr id="9" name="Hộp Văn bản 8">
            <a:extLst>
              <a:ext uri="{FF2B5EF4-FFF2-40B4-BE49-F238E27FC236}">
                <a16:creationId xmlns:a16="http://schemas.microsoft.com/office/drawing/2014/main" id="{E2D0FB82-5B6E-0EF2-C05B-D131452DA31A}"/>
              </a:ext>
            </a:extLst>
          </p:cNvPr>
          <p:cNvSpPr txBox="1"/>
          <p:nvPr/>
        </p:nvSpPr>
        <p:spPr>
          <a:xfrm>
            <a:off x="812800" y="2425700"/>
            <a:ext cx="698500" cy="216085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pPr>
              <a:spcAft>
                <a:spcPts val="400"/>
              </a:spcAft>
            </a:pPr>
            <a:r>
              <a:rPr lang="vi-VN" sz="2100" b="1">
                <a:solidFill>
                  <a:srgbClr val="D4A64A"/>
                </a:solidFill>
                <a:latin typeface="Aptos" panose="020B0004020202020204" pitchFamily="34" charset="0"/>
              </a:rPr>
              <a:t>01</a:t>
            </a:r>
          </a:p>
        </p:txBody>
      </p:sp>
      <p:sp>
        <p:nvSpPr>
          <p:cNvPr id="10" name="Hộp Văn bản 9">
            <a:extLst>
              <a:ext uri="{FF2B5EF4-FFF2-40B4-BE49-F238E27FC236}">
                <a16:creationId xmlns:a16="http://schemas.microsoft.com/office/drawing/2014/main" id="{486E7F66-6F1D-9CE0-DBF3-996D14A1A741}"/>
              </a:ext>
            </a:extLst>
          </p:cNvPr>
          <p:cNvSpPr txBox="1"/>
          <p:nvPr/>
        </p:nvSpPr>
        <p:spPr>
          <a:xfrm>
            <a:off x="812800" y="2946400"/>
            <a:ext cx="2108200" cy="216085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pPr>
              <a:spcAft>
                <a:spcPts val="400"/>
              </a:spcAft>
            </a:pPr>
            <a:r>
              <a:rPr lang="vi-VN" sz="1100" b="1">
                <a:solidFill>
                  <a:srgbClr val="17685D"/>
                </a:solidFill>
                <a:latin typeface="Aptos" panose="020B0004020202020204" pitchFamily="34" charset="0"/>
              </a:rPr>
              <a:t>ĐẶT HẸN</a:t>
            </a:r>
          </a:p>
        </p:txBody>
      </p:sp>
      <p:sp>
        <p:nvSpPr>
          <p:cNvPr id="11" name="Hộp Văn bản 10">
            <a:extLst>
              <a:ext uri="{FF2B5EF4-FFF2-40B4-BE49-F238E27FC236}">
                <a16:creationId xmlns:a16="http://schemas.microsoft.com/office/drawing/2014/main" id="{EE84FB5E-09F0-2D7F-2E33-C7A5BD3C0EB8}"/>
              </a:ext>
            </a:extLst>
          </p:cNvPr>
          <p:cNvSpPr txBox="1"/>
          <p:nvPr/>
        </p:nvSpPr>
        <p:spPr>
          <a:xfrm>
            <a:off x="812800" y="3390900"/>
            <a:ext cx="2108200" cy="216085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pPr>
              <a:spcAft>
                <a:spcPts val="400"/>
              </a:spcAft>
            </a:pPr>
            <a:r>
              <a:rPr lang="vi-VN" sz="1100">
                <a:solidFill>
                  <a:srgbClr val="657875"/>
                </a:solidFill>
                <a:latin typeface="Aptos" panose="020B0004020202020204" pitchFamily="34" charset="0"/>
              </a:rPr>
              <a:t>Chọn bệnh nhân, dịch vụ, bác sĩ và giờ hợp lệ.</a:t>
            </a:r>
          </a:p>
        </p:txBody>
      </p:sp>
      <p:sp>
        <p:nvSpPr>
          <p:cNvPr id="12" name="Hình chữ nhật: Góc Tròn 11">
            <a:extLst>
              <a:ext uri="{FF2B5EF4-FFF2-40B4-BE49-F238E27FC236}">
                <a16:creationId xmlns:a16="http://schemas.microsoft.com/office/drawing/2014/main" id="{B2EB0664-BD98-FBC1-1A22-42F3FD2CB7C6}"/>
              </a:ext>
            </a:extLst>
          </p:cNvPr>
          <p:cNvSpPr/>
          <p:nvPr/>
        </p:nvSpPr>
        <p:spPr>
          <a:xfrm>
            <a:off x="3492500" y="2197100"/>
            <a:ext cx="2527300" cy="2120900"/>
          </a:xfrm>
          <a:prstGeom prst="roundRect">
            <a:avLst/>
          </a:prstGeom>
          <a:solidFill>
            <a:srgbClr val="FFFFFF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vi-VN"/>
          </a:p>
        </p:txBody>
      </p:sp>
      <p:sp>
        <p:nvSpPr>
          <p:cNvPr id="13" name="Hộp Văn bản 12">
            <a:extLst>
              <a:ext uri="{FF2B5EF4-FFF2-40B4-BE49-F238E27FC236}">
                <a16:creationId xmlns:a16="http://schemas.microsoft.com/office/drawing/2014/main" id="{25FB600A-C0B0-7B46-5200-630FE626DA44}"/>
              </a:ext>
            </a:extLst>
          </p:cNvPr>
          <p:cNvSpPr txBox="1"/>
          <p:nvPr/>
        </p:nvSpPr>
        <p:spPr>
          <a:xfrm>
            <a:off x="3708400" y="2425700"/>
            <a:ext cx="698500" cy="216085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pPr>
              <a:spcAft>
                <a:spcPts val="400"/>
              </a:spcAft>
            </a:pPr>
            <a:r>
              <a:rPr lang="vi-VN" sz="2100" b="1">
                <a:solidFill>
                  <a:srgbClr val="D4A64A"/>
                </a:solidFill>
                <a:latin typeface="Aptos" panose="020B0004020202020204" pitchFamily="34" charset="0"/>
              </a:rPr>
              <a:t>02</a:t>
            </a:r>
          </a:p>
        </p:txBody>
      </p:sp>
      <p:sp>
        <p:nvSpPr>
          <p:cNvPr id="14" name="Hộp Văn bản 13">
            <a:extLst>
              <a:ext uri="{FF2B5EF4-FFF2-40B4-BE49-F238E27FC236}">
                <a16:creationId xmlns:a16="http://schemas.microsoft.com/office/drawing/2014/main" id="{59048529-B25A-274D-9D2A-40E9B57C10C2}"/>
              </a:ext>
            </a:extLst>
          </p:cNvPr>
          <p:cNvSpPr txBox="1"/>
          <p:nvPr/>
        </p:nvSpPr>
        <p:spPr>
          <a:xfrm>
            <a:off x="3708400" y="2946400"/>
            <a:ext cx="2108200" cy="216085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pPr>
              <a:spcAft>
                <a:spcPts val="400"/>
              </a:spcAft>
            </a:pPr>
            <a:r>
              <a:rPr lang="vi-VN" sz="1100" b="1">
                <a:solidFill>
                  <a:srgbClr val="17685D"/>
                </a:solidFill>
                <a:latin typeface="Aptos" panose="020B0004020202020204" pitchFamily="34" charset="0"/>
              </a:rPr>
              <a:t>GHI EMR</a:t>
            </a:r>
          </a:p>
        </p:txBody>
      </p:sp>
      <p:sp>
        <p:nvSpPr>
          <p:cNvPr id="15" name="Hộp Văn bản 14">
            <a:extLst>
              <a:ext uri="{FF2B5EF4-FFF2-40B4-BE49-F238E27FC236}">
                <a16:creationId xmlns:a16="http://schemas.microsoft.com/office/drawing/2014/main" id="{26FA18A4-9105-0E5B-7491-D89A23E6116A}"/>
              </a:ext>
            </a:extLst>
          </p:cNvPr>
          <p:cNvSpPr txBox="1"/>
          <p:nvPr/>
        </p:nvSpPr>
        <p:spPr>
          <a:xfrm>
            <a:off x="3708400" y="3390900"/>
            <a:ext cx="2108200" cy="216085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pPr>
              <a:spcAft>
                <a:spcPts val="400"/>
              </a:spcAft>
            </a:pPr>
            <a:r>
              <a:rPr lang="vi-VN" sz="1100">
                <a:solidFill>
                  <a:srgbClr val="657875"/>
                </a:solidFill>
                <a:latin typeface="Aptos" panose="020B0004020202020204" pitchFamily="34" charset="0"/>
              </a:rPr>
              <a:t>Bác sĩ lưu ghi nhận khám và dịch vụ chỉ định.</a:t>
            </a:r>
          </a:p>
        </p:txBody>
      </p:sp>
      <p:sp>
        <p:nvSpPr>
          <p:cNvPr id="16" name="Hình chữ nhật: Góc Tròn 15">
            <a:extLst>
              <a:ext uri="{FF2B5EF4-FFF2-40B4-BE49-F238E27FC236}">
                <a16:creationId xmlns:a16="http://schemas.microsoft.com/office/drawing/2014/main" id="{1A6B6F5A-1D97-1C01-B2D8-30F1D9787A68}"/>
              </a:ext>
            </a:extLst>
          </p:cNvPr>
          <p:cNvSpPr/>
          <p:nvPr/>
        </p:nvSpPr>
        <p:spPr>
          <a:xfrm>
            <a:off x="6388100" y="2197100"/>
            <a:ext cx="2527300" cy="2120900"/>
          </a:xfrm>
          <a:prstGeom prst="roundRect">
            <a:avLst/>
          </a:prstGeom>
          <a:solidFill>
            <a:srgbClr val="FFFFFF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vi-VN"/>
          </a:p>
        </p:txBody>
      </p:sp>
      <p:sp>
        <p:nvSpPr>
          <p:cNvPr id="17" name="Hộp Văn bản 16">
            <a:extLst>
              <a:ext uri="{FF2B5EF4-FFF2-40B4-BE49-F238E27FC236}">
                <a16:creationId xmlns:a16="http://schemas.microsoft.com/office/drawing/2014/main" id="{EA031EA0-C940-39AE-ED8F-1561EA5E0974}"/>
              </a:ext>
            </a:extLst>
          </p:cNvPr>
          <p:cNvSpPr txBox="1"/>
          <p:nvPr/>
        </p:nvSpPr>
        <p:spPr>
          <a:xfrm>
            <a:off x="6604000" y="2425700"/>
            <a:ext cx="698500" cy="216085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pPr>
              <a:spcAft>
                <a:spcPts val="400"/>
              </a:spcAft>
            </a:pPr>
            <a:r>
              <a:rPr lang="vi-VN" sz="2100" b="1">
                <a:solidFill>
                  <a:srgbClr val="D4A64A"/>
                </a:solidFill>
                <a:latin typeface="Aptos" panose="020B0004020202020204" pitchFamily="34" charset="0"/>
              </a:rPr>
              <a:t>03</a:t>
            </a:r>
          </a:p>
        </p:txBody>
      </p:sp>
      <p:sp>
        <p:nvSpPr>
          <p:cNvPr id="18" name="Hộp Văn bản 17">
            <a:extLst>
              <a:ext uri="{FF2B5EF4-FFF2-40B4-BE49-F238E27FC236}">
                <a16:creationId xmlns:a16="http://schemas.microsoft.com/office/drawing/2014/main" id="{0E387F13-6F4C-572C-A865-42A4D0918987}"/>
              </a:ext>
            </a:extLst>
          </p:cNvPr>
          <p:cNvSpPr txBox="1"/>
          <p:nvPr/>
        </p:nvSpPr>
        <p:spPr>
          <a:xfrm>
            <a:off x="6604000" y="2946400"/>
            <a:ext cx="2108200" cy="216085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pPr>
              <a:spcAft>
                <a:spcPts val="400"/>
              </a:spcAft>
            </a:pPr>
            <a:r>
              <a:rPr lang="vi-VN" sz="1100" b="1">
                <a:solidFill>
                  <a:srgbClr val="17685D"/>
                </a:solidFill>
                <a:latin typeface="Aptos" panose="020B0004020202020204" pitchFamily="34" charset="0"/>
              </a:rPr>
              <a:t>THANH TOÁN</a:t>
            </a:r>
          </a:p>
        </p:txBody>
      </p:sp>
      <p:sp>
        <p:nvSpPr>
          <p:cNvPr id="19" name="Hộp Văn bản 18">
            <a:extLst>
              <a:ext uri="{FF2B5EF4-FFF2-40B4-BE49-F238E27FC236}">
                <a16:creationId xmlns:a16="http://schemas.microsoft.com/office/drawing/2014/main" id="{D4E67BE7-D265-5E91-05F9-C6971FA427A7}"/>
              </a:ext>
            </a:extLst>
          </p:cNvPr>
          <p:cNvSpPr txBox="1"/>
          <p:nvPr/>
        </p:nvSpPr>
        <p:spPr>
          <a:xfrm>
            <a:off x="6604000" y="3390900"/>
            <a:ext cx="2108200" cy="216085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pPr>
              <a:spcAft>
                <a:spcPts val="400"/>
              </a:spcAft>
            </a:pPr>
            <a:r>
              <a:rPr lang="vi-VN" sz="1100">
                <a:solidFill>
                  <a:srgbClr val="657875"/>
                </a:solidFill>
                <a:latin typeface="Aptos" panose="020B0004020202020204" pitchFamily="34" charset="0"/>
              </a:rPr>
              <a:t>Mở hóa đơn; minh họa hộp thoại tiền mặt.</a:t>
            </a:r>
          </a:p>
        </p:txBody>
      </p:sp>
      <p:sp>
        <p:nvSpPr>
          <p:cNvPr id="20" name="Hình chữ nhật: Góc Tròn 19">
            <a:extLst>
              <a:ext uri="{FF2B5EF4-FFF2-40B4-BE49-F238E27FC236}">
                <a16:creationId xmlns:a16="http://schemas.microsoft.com/office/drawing/2014/main" id="{D016D544-4CE1-B973-F6D4-5C3B458B483B}"/>
              </a:ext>
            </a:extLst>
          </p:cNvPr>
          <p:cNvSpPr/>
          <p:nvPr/>
        </p:nvSpPr>
        <p:spPr>
          <a:xfrm>
            <a:off x="9283700" y="2197100"/>
            <a:ext cx="2527300" cy="2120900"/>
          </a:xfrm>
          <a:prstGeom prst="roundRect">
            <a:avLst/>
          </a:prstGeom>
          <a:solidFill>
            <a:srgbClr val="FFFFFF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vi-VN"/>
          </a:p>
        </p:txBody>
      </p:sp>
      <p:sp>
        <p:nvSpPr>
          <p:cNvPr id="21" name="Hộp Văn bản 20">
            <a:extLst>
              <a:ext uri="{FF2B5EF4-FFF2-40B4-BE49-F238E27FC236}">
                <a16:creationId xmlns:a16="http://schemas.microsoft.com/office/drawing/2014/main" id="{EAEED4BA-A479-0377-F1BC-3FFD5DAB2AA0}"/>
              </a:ext>
            </a:extLst>
          </p:cNvPr>
          <p:cNvSpPr txBox="1"/>
          <p:nvPr/>
        </p:nvSpPr>
        <p:spPr>
          <a:xfrm>
            <a:off x="9499600" y="2425700"/>
            <a:ext cx="698500" cy="216085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pPr>
              <a:spcAft>
                <a:spcPts val="400"/>
              </a:spcAft>
            </a:pPr>
            <a:r>
              <a:rPr lang="vi-VN" sz="2100" b="1">
                <a:solidFill>
                  <a:srgbClr val="D4A64A"/>
                </a:solidFill>
                <a:latin typeface="Aptos" panose="020B0004020202020204" pitchFamily="34" charset="0"/>
              </a:rPr>
              <a:t>04</a:t>
            </a:r>
          </a:p>
        </p:txBody>
      </p:sp>
      <p:sp>
        <p:nvSpPr>
          <p:cNvPr id="22" name="Hộp Văn bản 21">
            <a:extLst>
              <a:ext uri="{FF2B5EF4-FFF2-40B4-BE49-F238E27FC236}">
                <a16:creationId xmlns:a16="http://schemas.microsoft.com/office/drawing/2014/main" id="{BA86DEA4-BDD3-BEE2-764F-7B55B2D8E8DF}"/>
              </a:ext>
            </a:extLst>
          </p:cNvPr>
          <p:cNvSpPr txBox="1"/>
          <p:nvPr/>
        </p:nvSpPr>
        <p:spPr>
          <a:xfrm>
            <a:off x="9499600" y="2946400"/>
            <a:ext cx="2108200" cy="216085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pPr>
              <a:spcAft>
                <a:spcPts val="400"/>
              </a:spcAft>
            </a:pPr>
            <a:r>
              <a:rPr lang="vi-VN" sz="1100" b="1">
                <a:solidFill>
                  <a:srgbClr val="17685D"/>
                </a:solidFill>
                <a:latin typeface="Aptos" panose="020B0004020202020204" pitchFamily="34" charset="0"/>
              </a:rPr>
              <a:t>CHATBOT</a:t>
            </a:r>
          </a:p>
        </p:txBody>
      </p:sp>
      <p:sp>
        <p:nvSpPr>
          <p:cNvPr id="23" name="Hộp Văn bản 22">
            <a:extLst>
              <a:ext uri="{FF2B5EF4-FFF2-40B4-BE49-F238E27FC236}">
                <a16:creationId xmlns:a16="http://schemas.microsoft.com/office/drawing/2014/main" id="{DB4048BE-05AE-3B8A-8DF4-03465529CFA3}"/>
              </a:ext>
            </a:extLst>
          </p:cNvPr>
          <p:cNvSpPr txBox="1"/>
          <p:nvPr/>
        </p:nvSpPr>
        <p:spPr>
          <a:xfrm>
            <a:off x="9499600" y="3390900"/>
            <a:ext cx="2108200" cy="216085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pPr>
              <a:spcAft>
                <a:spcPts val="400"/>
              </a:spcAft>
            </a:pPr>
            <a:r>
              <a:rPr lang="vi-VN" sz="1100">
                <a:solidFill>
                  <a:srgbClr val="657875"/>
                </a:solidFill>
                <a:latin typeface="Aptos" panose="020B0004020202020204" pitchFamily="34" charset="0"/>
              </a:rPr>
              <a:t>Tra giá và nêu rõ giới hạn tư vấn.</a:t>
            </a:r>
          </a:p>
        </p:txBody>
      </p:sp>
      <p:sp>
        <p:nvSpPr>
          <p:cNvPr id="24" name="Hộp Văn bản 23">
            <a:extLst>
              <a:ext uri="{FF2B5EF4-FFF2-40B4-BE49-F238E27FC236}">
                <a16:creationId xmlns:a16="http://schemas.microsoft.com/office/drawing/2014/main" id="{325989F9-6053-2B67-4353-F4FE49C63303}"/>
              </a:ext>
            </a:extLst>
          </p:cNvPr>
          <p:cNvSpPr txBox="1"/>
          <p:nvPr/>
        </p:nvSpPr>
        <p:spPr>
          <a:xfrm>
            <a:off x="698500" y="4775200"/>
            <a:ext cx="10782300" cy="216085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pPr algn="ctr">
              <a:spcAft>
                <a:spcPts val="400"/>
              </a:spcAft>
            </a:pPr>
            <a:r>
              <a:rPr lang="vi-VN" sz="1400" b="1">
                <a:solidFill>
                  <a:srgbClr val="153F3A"/>
                </a:solidFill>
                <a:latin typeface="Aptos" panose="020B0004020202020204" pitchFamily="34" charset="0"/>
              </a:rPr>
              <a:t>Không trình diễn AI tóm tắt EMR hoặc gửi nhắc tái khám như chức năng đã có. Trình bày đó là đề xuất ở trang 9.</a:t>
            </a:r>
          </a:p>
        </p:txBody>
      </p:sp>
    </p:spTree>
    <p:extLst>
      <p:ext uri="{BB962C8B-B14F-4D97-AF65-F5344CB8AC3E}">
        <p14:creationId xmlns:p14="http://schemas.microsoft.com/office/powerpoint/2010/main" val="2218500644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ộp Văn bản 1">
            <a:extLst>
              <a:ext uri="{FF2B5EF4-FFF2-40B4-BE49-F238E27FC236}">
                <a16:creationId xmlns:a16="http://schemas.microsoft.com/office/drawing/2014/main" id="{E08ECD8F-CDC9-DF4D-A345-1508D590A1D8}"/>
              </a:ext>
            </a:extLst>
          </p:cNvPr>
          <p:cNvSpPr txBox="1"/>
          <p:nvPr/>
        </p:nvSpPr>
        <p:spPr>
          <a:xfrm>
            <a:off x="533400" y="254000"/>
            <a:ext cx="10795000" cy="216085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pPr>
              <a:spcAft>
                <a:spcPts val="400"/>
              </a:spcAft>
            </a:pPr>
            <a:r>
              <a:rPr lang="vi-VN" sz="900" b="1">
                <a:solidFill>
                  <a:srgbClr val="17685D"/>
                </a:solidFill>
                <a:latin typeface="Aptos" panose="020B0004020202020204" pitchFamily="34" charset="0"/>
              </a:rPr>
              <a:t>11 / CHẠY THỬ</a:t>
            </a:r>
          </a:p>
        </p:txBody>
      </p:sp>
      <p:sp>
        <p:nvSpPr>
          <p:cNvPr id="3" name="Hộp Văn bản 2">
            <a:extLst>
              <a:ext uri="{FF2B5EF4-FFF2-40B4-BE49-F238E27FC236}">
                <a16:creationId xmlns:a16="http://schemas.microsoft.com/office/drawing/2014/main" id="{0443DC04-AC63-CC77-0810-1DAD44FB495D}"/>
              </a:ext>
            </a:extLst>
          </p:cNvPr>
          <p:cNvSpPr txBox="1"/>
          <p:nvPr/>
        </p:nvSpPr>
        <p:spPr>
          <a:xfrm>
            <a:off x="533400" y="571500"/>
            <a:ext cx="11125200" cy="216085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pPr>
              <a:spcAft>
                <a:spcPts val="400"/>
              </a:spcAft>
            </a:pPr>
            <a:r>
              <a:rPr lang="vi-VN" sz="2200" b="1">
                <a:solidFill>
                  <a:srgbClr val="153F3A"/>
                </a:solidFill>
                <a:latin typeface="Aptos" panose="020B0004020202020204" pitchFamily="34" charset="0"/>
              </a:rPr>
              <a:t>Kịch bản trình bày 10 phút — nhóm chốt người nói</a:t>
            </a:r>
          </a:p>
        </p:txBody>
      </p:sp>
      <p:sp>
        <p:nvSpPr>
          <p:cNvPr id="4" name="Hộp Văn bản 3">
            <a:extLst>
              <a:ext uri="{FF2B5EF4-FFF2-40B4-BE49-F238E27FC236}">
                <a16:creationId xmlns:a16="http://schemas.microsoft.com/office/drawing/2014/main" id="{619098BA-4C01-71A6-6D9A-05FD87407571}"/>
              </a:ext>
            </a:extLst>
          </p:cNvPr>
          <p:cNvSpPr txBox="1"/>
          <p:nvPr/>
        </p:nvSpPr>
        <p:spPr>
          <a:xfrm>
            <a:off x="558800" y="1155700"/>
            <a:ext cx="10985500" cy="216085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pPr>
              <a:spcAft>
                <a:spcPts val="400"/>
              </a:spcAft>
            </a:pPr>
            <a:r>
              <a:rPr lang="vi-VN" sz="1100">
                <a:solidFill>
                  <a:srgbClr val="657875"/>
                </a:solidFill>
                <a:latin typeface="Aptos" panose="020B0004020202020204" pitchFamily="34" charset="0"/>
              </a:rPr>
              <a:t>Phân vai gợi ý; thay bằng tên thành viên sau khi thống nhất.</a:t>
            </a:r>
          </a:p>
        </p:txBody>
      </p:sp>
      <p:sp>
        <p:nvSpPr>
          <p:cNvPr id="5" name="Hình chữ nhật 4">
            <a:extLst>
              <a:ext uri="{FF2B5EF4-FFF2-40B4-BE49-F238E27FC236}">
                <a16:creationId xmlns:a16="http://schemas.microsoft.com/office/drawing/2014/main" id="{4BD8EC6F-5FB4-69CB-5747-D97B106679D6}"/>
              </a:ext>
            </a:extLst>
          </p:cNvPr>
          <p:cNvSpPr/>
          <p:nvPr/>
        </p:nvSpPr>
        <p:spPr>
          <a:xfrm>
            <a:off x="533400" y="6489700"/>
            <a:ext cx="11125200" cy="12700"/>
          </a:xfrm>
          <a:prstGeom prst="rect">
            <a:avLst/>
          </a:prstGeom>
          <a:solidFill>
            <a:srgbClr val="DCE4DE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vi-VN"/>
          </a:p>
        </p:txBody>
      </p:sp>
      <p:sp>
        <p:nvSpPr>
          <p:cNvPr id="6" name="Hộp Văn bản 5">
            <a:extLst>
              <a:ext uri="{FF2B5EF4-FFF2-40B4-BE49-F238E27FC236}">
                <a16:creationId xmlns:a16="http://schemas.microsoft.com/office/drawing/2014/main" id="{18EB47C1-91A8-E2C1-AC9E-41887804DD4F}"/>
              </a:ext>
            </a:extLst>
          </p:cNvPr>
          <p:cNvSpPr txBox="1"/>
          <p:nvPr/>
        </p:nvSpPr>
        <p:spPr>
          <a:xfrm>
            <a:off x="546100" y="6565900"/>
            <a:ext cx="8890000" cy="216085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pPr>
              <a:spcAft>
                <a:spcPts val="400"/>
              </a:spcAft>
            </a:pPr>
            <a:r>
              <a:rPr lang="vi-VN" sz="800">
                <a:solidFill>
                  <a:srgbClr val="657875"/>
                </a:solidFill>
                <a:latin typeface="Aptos" panose="020B0004020202020204" pitchFamily="34" charset="0"/>
              </a:rPr>
              <a:t>DMS  •  Dental Management System</a:t>
            </a:r>
          </a:p>
        </p:txBody>
      </p:sp>
      <p:sp>
        <p:nvSpPr>
          <p:cNvPr id="7" name="Hộp Văn bản 6">
            <a:extLst>
              <a:ext uri="{FF2B5EF4-FFF2-40B4-BE49-F238E27FC236}">
                <a16:creationId xmlns:a16="http://schemas.microsoft.com/office/drawing/2014/main" id="{6ABD89BD-F078-CB7B-33D7-8AD40A9A8B24}"/>
              </a:ext>
            </a:extLst>
          </p:cNvPr>
          <p:cNvSpPr txBox="1"/>
          <p:nvPr/>
        </p:nvSpPr>
        <p:spPr>
          <a:xfrm>
            <a:off x="10883900" y="6553200"/>
            <a:ext cx="774700" cy="216085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pPr algn="r">
              <a:spcAft>
                <a:spcPts val="400"/>
              </a:spcAft>
            </a:pPr>
            <a:r>
              <a:rPr lang="vi-VN" sz="900">
                <a:solidFill>
                  <a:srgbClr val="657875"/>
                </a:solidFill>
                <a:latin typeface="Aptos" panose="020B0004020202020204" pitchFamily="34" charset="0"/>
              </a:rPr>
              <a:t>12 / 12</a:t>
            </a:r>
          </a:p>
        </p:txBody>
      </p:sp>
      <p:sp>
        <p:nvSpPr>
          <p:cNvPr id="8" name="Hình chữ nhật: Góc Tròn 7">
            <a:extLst>
              <a:ext uri="{FF2B5EF4-FFF2-40B4-BE49-F238E27FC236}">
                <a16:creationId xmlns:a16="http://schemas.microsoft.com/office/drawing/2014/main" id="{71D11AD5-56A7-BBE4-5287-CB93A00F35A0}"/>
              </a:ext>
            </a:extLst>
          </p:cNvPr>
          <p:cNvSpPr/>
          <p:nvPr/>
        </p:nvSpPr>
        <p:spPr>
          <a:xfrm>
            <a:off x="622300" y="2006600"/>
            <a:ext cx="3390900" cy="2209800"/>
          </a:xfrm>
          <a:prstGeom prst="roundRect">
            <a:avLst/>
          </a:prstGeom>
          <a:solidFill>
            <a:srgbClr val="FFFFFF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vi-VN"/>
          </a:p>
        </p:txBody>
      </p:sp>
      <p:sp>
        <p:nvSpPr>
          <p:cNvPr id="9" name="Hình chữ nhật 8">
            <a:extLst>
              <a:ext uri="{FF2B5EF4-FFF2-40B4-BE49-F238E27FC236}">
                <a16:creationId xmlns:a16="http://schemas.microsoft.com/office/drawing/2014/main" id="{FCB25BE5-D872-29B5-7CDB-C053A62AAA24}"/>
              </a:ext>
            </a:extLst>
          </p:cNvPr>
          <p:cNvSpPr/>
          <p:nvPr/>
        </p:nvSpPr>
        <p:spPr>
          <a:xfrm>
            <a:off x="622300" y="2006600"/>
            <a:ext cx="63500" cy="2209800"/>
          </a:xfrm>
          <a:prstGeom prst="rect">
            <a:avLst/>
          </a:prstGeom>
          <a:solidFill>
            <a:srgbClr val="17685D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vi-VN"/>
          </a:p>
        </p:txBody>
      </p:sp>
      <p:sp>
        <p:nvSpPr>
          <p:cNvPr id="10" name="Hộp Văn bản 9">
            <a:extLst>
              <a:ext uri="{FF2B5EF4-FFF2-40B4-BE49-F238E27FC236}">
                <a16:creationId xmlns:a16="http://schemas.microsoft.com/office/drawing/2014/main" id="{C55ED838-B38F-29D5-9AE8-5E09C56ABA0C}"/>
              </a:ext>
            </a:extLst>
          </p:cNvPr>
          <p:cNvSpPr txBox="1"/>
          <p:nvPr/>
        </p:nvSpPr>
        <p:spPr>
          <a:xfrm>
            <a:off x="812800" y="2146300"/>
            <a:ext cx="3048000" cy="216085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pPr>
              <a:spcAft>
                <a:spcPts val="400"/>
              </a:spcAft>
            </a:pPr>
            <a:r>
              <a:rPr lang="en-US" sz="1400" b="1">
                <a:solidFill>
                  <a:srgbClr val="153F3A"/>
                </a:solidFill>
                <a:latin typeface="Aptos" panose="020B0004020202020204" pitchFamily="34" charset="0"/>
              </a:rPr>
              <a:t>THÀNH VIÊN A · 3 PHÚT</a:t>
            </a:r>
            <a:endParaRPr lang="vi-VN" sz="1400" b="1">
              <a:solidFill>
                <a:srgbClr val="153F3A"/>
              </a:solidFill>
              <a:latin typeface="Aptos" panose="020B0004020202020204" pitchFamily="34" charset="0"/>
            </a:endParaRPr>
          </a:p>
        </p:txBody>
      </p:sp>
      <p:sp>
        <p:nvSpPr>
          <p:cNvPr id="11" name="Hộp Văn bản 10">
            <a:extLst>
              <a:ext uri="{FF2B5EF4-FFF2-40B4-BE49-F238E27FC236}">
                <a16:creationId xmlns:a16="http://schemas.microsoft.com/office/drawing/2014/main" id="{2EBC8A48-4F25-7F75-8782-4453974A0425}"/>
              </a:ext>
            </a:extLst>
          </p:cNvPr>
          <p:cNvSpPr txBox="1"/>
          <p:nvPr/>
        </p:nvSpPr>
        <p:spPr>
          <a:xfrm>
            <a:off x="812800" y="2540000"/>
            <a:ext cx="3048000" cy="216085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pPr>
              <a:spcAft>
                <a:spcPts val="400"/>
              </a:spcAft>
            </a:pPr>
            <a:r>
              <a:rPr lang="vi-VN" sz="1100">
                <a:solidFill>
                  <a:srgbClr val="657875"/>
                </a:solidFill>
                <a:latin typeface="Aptos" panose="020B0004020202020204" pitchFamily="34" charset="0"/>
              </a:rPr>
              <a:t>Bài toán, mục tiêu, phạm vi, kiến trúc (trang 1–4). Người trình bày: ________</a:t>
            </a:r>
          </a:p>
        </p:txBody>
      </p:sp>
      <p:sp>
        <p:nvSpPr>
          <p:cNvPr id="12" name="Hình chữ nhật: Góc Tròn 11">
            <a:extLst>
              <a:ext uri="{FF2B5EF4-FFF2-40B4-BE49-F238E27FC236}">
                <a16:creationId xmlns:a16="http://schemas.microsoft.com/office/drawing/2014/main" id="{F973D9EA-194F-F994-3AEB-316B8336F599}"/>
              </a:ext>
            </a:extLst>
          </p:cNvPr>
          <p:cNvSpPr/>
          <p:nvPr/>
        </p:nvSpPr>
        <p:spPr>
          <a:xfrm>
            <a:off x="4394200" y="2006600"/>
            <a:ext cx="3390900" cy="2209800"/>
          </a:xfrm>
          <a:prstGeom prst="roundRect">
            <a:avLst/>
          </a:prstGeom>
          <a:solidFill>
            <a:srgbClr val="FFFFFF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vi-VN"/>
          </a:p>
        </p:txBody>
      </p:sp>
      <p:sp>
        <p:nvSpPr>
          <p:cNvPr id="13" name="Hình chữ nhật 12">
            <a:extLst>
              <a:ext uri="{FF2B5EF4-FFF2-40B4-BE49-F238E27FC236}">
                <a16:creationId xmlns:a16="http://schemas.microsoft.com/office/drawing/2014/main" id="{C105DC19-8980-DEB7-66C8-9E1FE506955F}"/>
              </a:ext>
            </a:extLst>
          </p:cNvPr>
          <p:cNvSpPr/>
          <p:nvPr/>
        </p:nvSpPr>
        <p:spPr>
          <a:xfrm>
            <a:off x="4394200" y="2006600"/>
            <a:ext cx="63500" cy="2209800"/>
          </a:xfrm>
          <a:prstGeom prst="rect">
            <a:avLst/>
          </a:prstGeom>
          <a:solidFill>
            <a:srgbClr val="D4A64A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vi-VN"/>
          </a:p>
        </p:txBody>
      </p:sp>
      <p:sp>
        <p:nvSpPr>
          <p:cNvPr id="14" name="Hộp Văn bản 13">
            <a:extLst>
              <a:ext uri="{FF2B5EF4-FFF2-40B4-BE49-F238E27FC236}">
                <a16:creationId xmlns:a16="http://schemas.microsoft.com/office/drawing/2014/main" id="{589E3F36-3A6E-DBFF-9A30-F8F2B8EB3102}"/>
              </a:ext>
            </a:extLst>
          </p:cNvPr>
          <p:cNvSpPr txBox="1"/>
          <p:nvPr/>
        </p:nvSpPr>
        <p:spPr>
          <a:xfrm>
            <a:off x="4584700" y="2146300"/>
            <a:ext cx="3048000" cy="216085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pPr>
              <a:spcAft>
                <a:spcPts val="400"/>
              </a:spcAft>
            </a:pPr>
            <a:r>
              <a:rPr lang="vi-VN" sz="1400" b="1">
                <a:solidFill>
                  <a:srgbClr val="153F3A"/>
                </a:solidFill>
                <a:latin typeface="Aptos" panose="020B0004020202020204" pitchFamily="34" charset="0"/>
              </a:rPr>
              <a:t>THÀNH VIÊN B · 3 PHÚT</a:t>
            </a:r>
          </a:p>
        </p:txBody>
      </p:sp>
      <p:sp>
        <p:nvSpPr>
          <p:cNvPr id="15" name="Hộp Văn bản 14">
            <a:extLst>
              <a:ext uri="{FF2B5EF4-FFF2-40B4-BE49-F238E27FC236}">
                <a16:creationId xmlns:a16="http://schemas.microsoft.com/office/drawing/2014/main" id="{45EB6A04-07EF-8032-1D50-8A852B1628B0}"/>
              </a:ext>
            </a:extLst>
          </p:cNvPr>
          <p:cNvSpPr txBox="1"/>
          <p:nvPr/>
        </p:nvSpPr>
        <p:spPr>
          <a:xfrm>
            <a:off x="4584700" y="2540000"/>
            <a:ext cx="3048000" cy="216085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pPr>
              <a:spcAft>
                <a:spcPts val="400"/>
              </a:spcAft>
            </a:pPr>
            <a:r>
              <a:rPr lang="vi-VN" sz="1100">
                <a:solidFill>
                  <a:srgbClr val="657875"/>
                </a:solidFill>
                <a:latin typeface="Aptos" panose="020B0004020202020204" pitchFamily="34" charset="0"/>
              </a:rPr>
              <a:t>Đặt lịch, khám, EMR; dẫn demo (trang 5–6, 11). Người trình bày: ________</a:t>
            </a:r>
          </a:p>
        </p:txBody>
      </p:sp>
      <p:sp>
        <p:nvSpPr>
          <p:cNvPr id="16" name="Hình chữ nhật: Góc Tròn 15">
            <a:extLst>
              <a:ext uri="{FF2B5EF4-FFF2-40B4-BE49-F238E27FC236}">
                <a16:creationId xmlns:a16="http://schemas.microsoft.com/office/drawing/2014/main" id="{6D2795DF-D500-0B47-583A-52758524F1B6}"/>
              </a:ext>
            </a:extLst>
          </p:cNvPr>
          <p:cNvSpPr/>
          <p:nvPr/>
        </p:nvSpPr>
        <p:spPr>
          <a:xfrm>
            <a:off x="8166100" y="2006600"/>
            <a:ext cx="3390900" cy="2209800"/>
          </a:xfrm>
          <a:prstGeom prst="roundRect">
            <a:avLst/>
          </a:prstGeom>
          <a:solidFill>
            <a:srgbClr val="FFFFFF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vi-VN"/>
          </a:p>
        </p:txBody>
      </p:sp>
      <p:sp>
        <p:nvSpPr>
          <p:cNvPr id="17" name="Hình chữ nhật 16">
            <a:extLst>
              <a:ext uri="{FF2B5EF4-FFF2-40B4-BE49-F238E27FC236}">
                <a16:creationId xmlns:a16="http://schemas.microsoft.com/office/drawing/2014/main" id="{E0BF5DAA-2D71-B1D4-BCEC-DDDF87874E37}"/>
              </a:ext>
            </a:extLst>
          </p:cNvPr>
          <p:cNvSpPr/>
          <p:nvPr/>
        </p:nvSpPr>
        <p:spPr>
          <a:xfrm>
            <a:off x="8166100" y="2006600"/>
            <a:ext cx="63500" cy="2209800"/>
          </a:xfrm>
          <a:prstGeom prst="rect">
            <a:avLst/>
          </a:prstGeom>
          <a:solidFill>
            <a:srgbClr val="CF755F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vi-VN"/>
          </a:p>
        </p:txBody>
      </p:sp>
      <p:sp>
        <p:nvSpPr>
          <p:cNvPr id="18" name="Hộp Văn bản 17">
            <a:extLst>
              <a:ext uri="{FF2B5EF4-FFF2-40B4-BE49-F238E27FC236}">
                <a16:creationId xmlns:a16="http://schemas.microsoft.com/office/drawing/2014/main" id="{B2FB44B0-DB6F-5337-A851-6467F9BF2514}"/>
              </a:ext>
            </a:extLst>
          </p:cNvPr>
          <p:cNvSpPr txBox="1"/>
          <p:nvPr/>
        </p:nvSpPr>
        <p:spPr>
          <a:xfrm>
            <a:off x="8356600" y="2146300"/>
            <a:ext cx="3048000" cy="216085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pPr>
              <a:spcAft>
                <a:spcPts val="400"/>
              </a:spcAft>
            </a:pPr>
            <a:r>
              <a:rPr lang="vi-VN" sz="1400" b="1">
                <a:solidFill>
                  <a:srgbClr val="153F3A"/>
                </a:solidFill>
                <a:latin typeface="Aptos" panose="020B0004020202020204" pitchFamily="34" charset="0"/>
              </a:rPr>
              <a:t>THÀNH VIÊN C · 4 PHÚT</a:t>
            </a:r>
          </a:p>
        </p:txBody>
      </p:sp>
      <p:sp>
        <p:nvSpPr>
          <p:cNvPr id="19" name="Hộp Văn bản 18">
            <a:extLst>
              <a:ext uri="{FF2B5EF4-FFF2-40B4-BE49-F238E27FC236}">
                <a16:creationId xmlns:a16="http://schemas.microsoft.com/office/drawing/2014/main" id="{E6FDE969-0D21-8CBD-8438-FC902EE57E3F}"/>
              </a:ext>
            </a:extLst>
          </p:cNvPr>
          <p:cNvSpPr txBox="1"/>
          <p:nvPr/>
        </p:nvSpPr>
        <p:spPr>
          <a:xfrm>
            <a:off x="8356600" y="2540000"/>
            <a:ext cx="3048000" cy="216085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pPr>
              <a:spcAft>
                <a:spcPts val="400"/>
              </a:spcAft>
            </a:pPr>
            <a:r>
              <a:rPr lang="vi-VN" sz="1100">
                <a:solidFill>
                  <a:srgbClr val="657875"/>
                </a:solidFill>
                <a:latin typeface="Aptos" panose="020B0004020202020204" pitchFamily="34" charset="0"/>
              </a:rPr>
              <a:t>Thanh toán, chatbot, an toàn AI (trang 7–10, 12). Người trình bày: ________</a:t>
            </a:r>
          </a:p>
        </p:txBody>
      </p:sp>
      <p:sp>
        <p:nvSpPr>
          <p:cNvPr id="20" name="Hình chữ nhật: Góc Tròn 19">
            <a:extLst>
              <a:ext uri="{FF2B5EF4-FFF2-40B4-BE49-F238E27FC236}">
                <a16:creationId xmlns:a16="http://schemas.microsoft.com/office/drawing/2014/main" id="{FBF6D1B4-904B-F156-C3AA-575C11B42608}"/>
              </a:ext>
            </a:extLst>
          </p:cNvPr>
          <p:cNvSpPr/>
          <p:nvPr/>
        </p:nvSpPr>
        <p:spPr>
          <a:xfrm>
            <a:off x="647700" y="4597400"/>
            <a:ext cx="10896600" cy="1193800"/>
          </a:xfrm>
          <a:prstGeom prst="roundRect">
            <a:avLst/>
          </a:prstGeom>
          <a:solidFill>
            <a:srgbClr val="102D2B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vi-VN"/>
          </a:p>
        </p:txBody>
      </p:sp>
      <p:sp>
        <p:nvSpPr>
          <p:cNvPr id="21" name="Hộp Văn bản 20">
            <a:extLst>
              <a:ext uri="{FF2B5EF4-FFF2-40B4-BE49-F238E27FC236}">
                <a16:creationId xmlns:a16="http://schemas.microsoft.com/office/drawing/2014/main" id="{A358925D-F5C8-B530-95A2-5695E2BEED77}"/>
              </a:ext>
            </a:extLst>
          </p:cNvPr>
          <p:cNvSpPr txBox="1"/>
          <p:nvPr/>
        </p:nvSpPr>
        <p:spPr>
          <a:xfrm>
            <a:off x="939800" y="4876800"/>
            <a:ext cx="10312400" cy="216085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pPr algn="ctr">
              <a:spcAft>
                <a:spcPts val="400"/>
              </a:spcAft>
            </a:pPr>
            <a:r>
              <a:rPr lang="vi-VN" sz="1300">
                <a:solidFill>
                  <a:srgbClr val="FFFFFF"/>
                </a:solidFill>
                <a:latin typeface="Aptos" panose="020B0004020202020204" pitchFamily="34" charset="0"/>
              </a:rPr>
              <a:t>Tập dượt: 1 phút chuyển cảnh + 3 phút demo + 6 phút nội dung. Rà chính tả, thuật ngữ, hình ảnh, cỡ chữ và thời lượng.</a:t>
            </a:r>
          </a:p>
        </p:txBody>
      </p:sp>
    </p:spTree>
    <p:extLst>
      <p:ext uri="{BB962C8B-B14F-4D97-AF65-F5344CB8AC3E}">
        <p14:creationId xmlns:p14="http://schemas.microsoft.com/office/powerpoint/2010/main" val="1180511712"/>
      </p:ext>
    </p:extLst>
  </p:cSld>
  <p:clrMapOvr>
    <a:masterClrMapping/>
  </p:clrMapOvr>
</p:sld>
</file>

<file path=ppt/theme/theme1.xml><?xml version="1.0" encoding="utf-8"?>
<a:theme xmlns:a="http://schemas.openxmlformats.org/drawingml/2006/main" name="Chủ đề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1374</Words>
  <Application>Microsoft Office PowerPoint</Application>
  <PresentationFormat>Tùy chỉnh</PresentationFormat>
  <Paragraphs>187</Paragraphs>
  <Slides>12</Slides>
  <Notes>0</Notes>
  <HiddenSlides>0</HiddenSlides>
  <MMClips>0</MMClips>
  <ScaleCrop>false</ScaleCrop>
  <HeadingPairs>
    <vt:vector size="6" baseType="variant">
      <vt:variant>
        <vt:lpstr>Phông được Dùng</vt:lpstr>
      </vt:variant>
      <vt:variant>
        <vt:i4>3</vt:i4>
      </vt:variant>
      <vt:variant>
        <vt:lpstr>Chủ đề</vt:lpstr>
      </vt:variant>
      <vt:variant>
        <vt:i4>1</vt:i4>
      </vt:variant>
      <vt:variant>
        <vt:lpstr>Tiêu đề Bản chiếu</vt:lpstr>
      </vt:variant>
      <vt:variant>
        <vt:i4>12</vt:i4>
      </vt:variant>
    </vt:vector>
  </HeadingPairs>
  <TitlesOfParts>
    <vt:vector size="16" baseType="lpstr">
      <vt:lpstr>Aptos</vt:lpstr>
      <vt:lpstr>Arial</vt:lpstr>
      <vt:lpstr>Times New Roman</vt:lpstr>
      <vt:lpstr>Chủ đề Office</vt:lpstr>
      <vt:lpstr>Bản trình bày PowerPoint</vt:lpstr>
      <vt:lpstr>Bản trình bày PowerPoint</vt:lpstr>
      <vt:lpstr>Bản trình bày PowerPoint</vt:lpstr>
      <vt:lpstr>Bản trình bày PowerPoint</vt:lpstr>
      <vt:lpstr>Bản trình bày PowerPoint</vt:lpstr>
      <vt:lpstr>Bản trình bày PowerPoint</vt:lpstr>
      <vt:lpstr>Bản trình bày PowerPoint</vt:lpstr>
      <vt:lpstr>Bản trình bày PowerPoint</vt:lpstr>
      <vt:lpstr>Bản trình bày PowerPoint</vt:lpstr>
      <vt:lpstr>Bản trình bày PowerPoint</vt:lpstr>
      <vt:lpstr>Bản trình bày PowerPoint</vt:lpstr>
      <vt:lpstr>Bản trình bày PowerPoint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Ngân Đỗ</dc:creator>
  <cp:lastModifiedBy>Ngân Đỗ</cp:lastModifiedBy>
  <cp:revision>1</cp:revision>
  <dcterms:created xsi:type="dcterms:W3CDTF">2026-10-18T01:57:21Z</dcterms:created>
  <dcterms:modified xsi:type="dcterms:W3CDTF">2026-10-18T01:57:21Z</dcterms:modified>
</cp:coreProperties>
</file>